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814" r:id="rId3"/>
    <p:sldId id="257" r:id="rId4"/>
    <p:sldId id="792" r:id="rId5"/>
    <p:sldId id="799" r:id="rId6"/>
    <p:sldId id="797" r:id="rId7"/>
    <p:sldId id="804" r:id="rId8"/>
    <p:sldId id="805" r:id="rId9"/>
    <p:sldId id="806" r:id="rId10"/>
    <p:sldId id="807" r:id="rId11"/>
    <p:sldId id="815" r:id="rId12"/>
    <p:sldId id="794" r:id="rId13"/>
    <p:sldId id="811" r:id="rId14"/>
    <p:sldId id="812" r:id="rId15"/>
    <p:sldId id="816" r:id="rId16"/>
    <p:sldId id="80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75789" autoAdjust="0"/>
  </p:normalViewPr>
  <p:slideViewPr>
    <p:cSldViewPr snapToGrid="0">
      <p:cViewPr>
        <p:scale>
          <a:sx n="88" d="100"/>
          <a:sy n="88" d="100"/>
        </p:scale>
        <p:origin x="194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750A6D-9466-4598-A8E3-3E0CEE55932E}"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CA"/>
        </a:p>
      </dgm:t>
    </dgm:pt>
    <dgm:pt modelId="{ED670A2E-79EA-4FBF-BDF8-113315CC58BA}">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Encoder</a:t>
          </a:r>
        </a:p>
      </dgm:t>
    </dgm:pt>
    <dgm:pt modelId="{9F2009A5-359D-4E07-A1CD-88BAAF3B17FC}" type="parTrans" cxnId="{C2DA8623-7BC7-4A5A-996A-F11B8B530786}">
      <dgm:prSet/>
      <dgm:spPr/>
      <dgm:t>
        <a:bodyPr/>
        <a:lstStyle/>
        <a:p>
          <a:endParaRPr lang="en-CA"/>
        </a:p>
      </dgm:t>
    </dgm:pt>
    <dgm:pt modelId="{7283E133-2284-4F52-ABC2-109FD220B599}" type="sibTrans" cxnId="{C2DA8623-7BC7-4A5A-996A-F11B8B530786}">
      <dgm:prSet/>
      <dgm:spPr/>
      <dgm:t>
        <a:bodyPr/>
        <a:lstStyle/>
        <a:p>
          <a:endParaRPr lang="en-CA"/>
        </a:p>
      </dgm:t>
    </dgm:pt>
    <dgm:pt modelId="{3064F750-DF05-47BC-88FC-564FD3FDCA03}">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Attention Mechanism</a:t>
          </a:r>
        </a:p>
      </dgm:t>
    </dgm:pt>
    <dgm:pt modelId="{5C835457-8299-4324-B18E-62A0097299CD}" type="parTrans" cxnId="{381863E9-118B-4C2A-AAB1-CA187A7D577E}">
      <dgm:prSet/>
      <dgm:spPr/>
      <dgm:t>
        <a:bodyPr/>
        <a:lstStyle/>
        <a:p>
          <a:endParaRPr lang="en-CA"/>
        </a:p>
      </dgm:t>
    </dgm:pt>
    <dgm:pt modelId="{486DB131-D132-4EC0-935C-F25597B2B1E5}" type="sibTrans" cxnId="{381863E9-118B-4C2A-AAB1-CA187A7D577E}">
      <dgm:prSet/>
      <dgm:spPr/>
      <dgm:t>
        <a:bodyPr/>
        <a:lstStyle/>
        <a:p>
          <a:endParaRPr lang="en-CA"/>
        </a:p>
      </dgm:t>
    </dgm:pt>
    <dgm:pt modelId="{19F82ED7-FC5A-446C-821F-380AACFFAFB0}">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Decoder</a:t>
          </a:r>
        </a:p>
      </dgm:t>
    </dgm:pt>
    <dgm:pt modelId="{E139D06A-57AD-4B7B-8174-3697A0A1D865}" type="parTrans" cxnId="{C06A086B-B821-4C41-B978-50B6C33BEF2C}">
      <dgm:prSet/>
      <dgm:spPr/>
      <dgm:t>
        <a:bodyPr/>
        <a:lstStyle/>
        <a:p>
          <a:endParaRPr lang="en-CA"/>
        </a:p>
      </dgm:t>
    </dgm:pt>
    <dgm:pt modelId="{E44CFFE4-A5FE-4CA3-9F29-02F6A58BB3C7}" type="sibTrans" cxnId="{C06A086B-B821-4C41-B978-50B6C33BEF2C}">
      <dgm:prSet/>
      <dgm:spPr/>
      <dgm:t>
        <a:bodyPr/>
        <a:lstStyle/>
        <a:p>
          <a:endParaRPr lang="en-CA"/>
        </a:p>
      </dgm:t>
    </dgm:pt>
    <dgm:pt modelId="{F319FAF5-74C9-49D6-AFBF-919871B72796}">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Input Text</a:t>
          </a:r>
        </a:p>
      </dgm:t>
    </dgm:pt>
    <dgm:pt modelId="{BA54E438-A3CE-4863-A71B-BC677E96C447}" type="parTrans" cxnId="{CB700A01-71A6-47DE-8008-729938613BF7}">
      <dgm:prSet/>
      <dgm:spPr/>
      <dgm:t>
        <a:bodyPr/>
        <a:lstStyle/>
        <a:p>
          <a:endParaRPr lang="en-CA"/>
        </a:p>
      </dgm:t>
    </dgm:pt>
    <dgm:pt modelId="{7680B39E-2ED0-4017-8E46-5AB3E447F6BC}" type="sibTrans" cxnId="{CB700A01-71A6-47DE-8008-729938613BF7}">
      <dgm:prSet/>
      <dgm:spPr/>
      <dgm:t>
        <a:bodyPr/>
        <a:lstStyle/>
        <a:p>
          <a:endParaRPr lang="en-CA"/>
        </a:p>
      </dgm:t>
    </dgm:pt>
    <dgm:pt modelId="{D9CFC6B3-D38B-4D24-83FA-574FD773E966}">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Tokenizer</a:t>
          </a:r>
        </a:p>
      </dgm:t>
    </dgm:pt>
    <dgm:pt modelId="{DDEE5551-189C-43E8-9B4C-C72A7BCB4B7A}" type="parTrans" cxnId="{FB91EC67-012B-497A-99A8-315CA057FD55}">
      <dgm:prSet/>
      <dgm:spPr/>
      <dgm:t>
        <a:bodyPr/>
        <a:lstStyle/>
        <a:p>
          <a:endParaRPr lang="en-CA"/>
        </a:p>
      </dgm:t>
    </dgm:pt>
    <dgm:pt modelId="{295B2E0C-52CD-42CB-9745-650A53BEA789}" type="sibTrans" cxnId="{FB91EC67-012B-497A-99A8-315CA057FD55}">
      <dgm:prSet/>
      <dgm:spPr/>
      <dgm:t>
        <a:bodyPr/>
        <a:lstStyle/>
        <a:p>
          <a:endParaRPr lang="en-CA"/>
        </a:p>
      </dgm:t>
    </dgm:pt>
    <dgm:pt modelId="{897F93D3-58A9-4FC4-ACD9-A7392AF15BF9}">
      <dgm:prSet phldrT="[Text]" phldr="0"/>
      <dgm:spPr>
        <a:solidFill>
          <a:schemeClr val="accent5">
            <a:lumMod val="50000"/>
          </a:schemeClr>
        </a:solidFill>
      </dgm:spPr>
      <dgm:t>
        <a:bodyPr/>
        <a:lstStyle/>
        <a:p>
          <a:r>
            <a:rPr lang="en-CA" dirty="0">
              <a:latin typeface="Arial" panose="020B0604020202020204" pitchFamily="34" charset="0"/>
              <a:cs typeface="Arial" panose="020B0604020202020204" pitchFamily="34" charset="0"/>
            </a:rPr>
            <a:t>Output Text</a:t>
          </a:r>
        </a:p>
      </dgm:t>
    </dgm:pt>
    <dgm:pt modelId="{AF740F95-33E1-4B71-9414-C3BA32105694}" type="parTrans" cxnId="{2BD68B41-870E-43B4-91B9-E1E3B4AAC212}">
      <dgm:prSet/>
      <dgm:spPr/>
      <dgm:t>
        <a:bodyPr/>
        <a:lstStyle/>
        <a:p>
          <a:endParaRPr lang="en-CA"/>
        </a:p>
      </dgm:t>
    </dgm:pt>
    <dgm:pt modelId="{3C93EFEE-FF91-4161-ABB9-8A6F869ADFFC}" type="sibTrans" cxnId="{2BD68B41-870E-43B4-91B9-E1E3B4AAC212}">
      <dgm:prSet/>
      <dgm:spPr/>
      <dgm:t>
        <a:bodyPr/>
        <a:lstStyle/>
        <a:p>
          <a:endParaRPr lang="en-CA"/>
        </a:p>
      </dgm:t>
    </dgm:pt>
    <dgm:pt modelId="{8ACE9A9C-A857-4E5C-81B6-F1E69AF3221D}">
      <dgm:prSet phldrT="[Text]" phldr="0" custT="1"/>
      <dgm:spPr>
        <a:solidFill>
          <a:schemeClr val="accent5">
            <a:lumMod val="50000"/>
          </a:schemeClr>
        </a:solidFill>
      </dgm:spPr>
      <dgm:t>
        <a:bodyPr/>
        <a:lstStyle/>
        <a:p>
          <a:r>
            <a:rPr lang="en-CA" sz="1250" dirty="0">
              <a:latin typeface="Arial" panose="020B0604020202020204" pitchFamily="34" charset="0"/>
              <a:cs typeface="Arial" panose="020B0604020202020204" pitchFamily="34" charset="0"/>
            </a:rPr>
            <a:t>Embedding</a:t>
          </a:r>
        </a:p>
      </dgm:t>
    </dgm:pt>
    <dgm:pt modelId="{8A1980B0-A4CB-4A12-9653-7659E29818B4}" type="parTrans" cxnId="{690099AE-7BE0-45D6-8277-58D3198947AA}">
      <dgm:prSet/>
      <dgm:spPr/>
      <dgm:t>
        <a:bodyPr/>
        <a:lstStyle/>
        <a:p>
          <a:endParaRPr lang="en-CA"/>
        </a:p>
      </dgm:t>
    </dgm:pt>
    <dgm:pt modelId="{BBB7465D-4E1E-4C00-8BF7-DB84F3D14CB4}" type="sibTrans" cxnId="{690099AE-7BE0-45D6-8277-58D3198947AA}">
      <dgm:prSet/>
      <dgm:spPr/>
      <dgm:t>
        <a:bodyPr/>
        <a:lstStyle/>
        <a:p>
          <a:endParaRPr lang="en-CA"/>
        </a:p>
      </dgm:t>
    </dgm:pt>
    <dgm:pt modelId="{CC79CE50-0BF7-4067-A3DA-6354C6E6D9A7}" type="pres">
      <dgm:prSet presAssocID="{90750A6D-9466-4598-A8E3-3E0CEE55932E}" presName="cycle" presStyleCnt="0">
        <dgm:presLayoutVars>
          <dgm:dir/>
          <dgm:resizeHandles val="exact"/>
        </dgm:presLayoutVars>
      </dgm:prSet>
      <dgm:spPr/>
    </dgm:pt>
    <dgm:pt modelId="{13ED0999-77BB-41DB-8847-7C15B9364A4D}" type="pres">
      <dgm:prSet presAssocID="{ED670A2E-79EA-4FBF-BDF8-113315CC58BA}" presName="node" presStyleLbl="node1" presStyleIdx="0" presStyleCnt="7">
        <dgm:presLayoutVars>
          <dgm:bulletEnabled val="1"/>
        </dgm:presLayoutVars>
      </dgm:prSet>
      <dgm:spPr/>
    </dgm:pt>
    <dgm:pt modelId="{CB6A52BD-61C2-4036-B1EC-5D9C84EAD454}" type="pres">
      <dgm:prSet presAssocID="{7283E133-2284-4F52-ABC2-109FD220B599}" presName="sibTrans" presStyleLbl="sibTrans2D1" presStyleIdx="0" presStyleCnt="7"/>
      <dgm:spPr/>
    </dgm:pt>
    <dgm:pt modelId="{4D1ED344-077F-4610-B8E0-DDCDFA3C51CB}" type="pres">
      <dgm:prSet presAssocID="{7283E133-2284-4F52-ABC2-109FD220B599}" presName="connectorText" presStyleLbl="sibTrans2D1" presStyleIdx="0" presStyleCnt="7"/>
      <dgm:spPr/>
    </dgm:pt>
    <dgm:pt modelId="{25553BCF-DB36-4BD9-B3FF-C072C0149182}" type="pres">
      <dgm:prSet presAssocID="{3064F750-DF05-47BC-88FC-564FD3FDCA03}" presName="node" presStyleLbl="node1" presStyleIdx="1" presStyleCnt="7">
        <dgm:presLayoutVars>
          <dgm:bulletEnabled val="1"/>
        </dgm:presLayoutVars>
      </dgm:prSet>
      <dgm:spPr/>
    </dgm:pt>
    <dgm:pt modelId="{681FCF9B-7C3B-4D23-91F0-4F982FF48340}" type="pres">
      <dgm:prSet presAssocID="{486DB131-D132-4EC0-935C-F25597B2B1E5}" presName="sibTrans" presStyleLbl="sibTrans2D1" presStyleIdx="1" presStyleCnt="7"/>
      <dgm:spPr/>
    </dgm:pt>
    <dgm:pt modelId="{7346C51A-4217-4C6F-B45C-7FBE56026947}" type="pres">
      <dgm:prSet presAssocID="{486DB131-D132-4EC0-935C-F25597B2B1E5}" presName="connectorText" presStyleLbl="sibTrans2D1" presStyleIdx="1" presStyleCnt="7"/>
      <dgm:spPr/>
    </dgm:pt>
    <dgm:pt modelId="{1755981F-CEEE-45FD-A08A-9A9050FF8367}" type="pres">
      <dgm:prSet presAssocID="{19F82ED7-FC5A-446C-821F-380AACFFAFB0}" presName="node" presStyleLbl="node1" presStyleIdx="2" presStyleCnt="7">
        <dgm:presLayoutVars>
          <dgm:bulletEnabled val="1"/>
        </dgm:presLayoutVars>
      </dgm:prSet>
      <dgm:spPr/>
    </dgm:pt>
    <dgm:pt modelId="{43860167-D4B4-4443-A94E-7CFA453974E5}" type="pres">
      <dgm:prSet presAssocID="{E44CFFE4-A5FE-4CA3-9F29-02F6A58BB3C7}" presName="sibTrans" presStyleLbl="sibTrans2D1" presStyleIdx="2" presStyleCnt="7"/>
      <dgm:spPr/>
    </dgm:pt>
    <dgm:pt modelId="{BE8FC739-5C57-4227-A852-230206FE3762}" type="pres">
      <dgm:prSet presAssocID="{E44CFFE4-A5FE-4CA3-9F29-02F6A58BB3C7}" presName="connectorText" presStyleLbl="sibTrans2D1" presStyleIdx="2" presStyleCnt="7"/>
      <dgm:spPr/>
    </dgm:pt>
    <dgm:pt modelId="{491F8FA3-6872-4F71-9BEB-B469798761EA}" type="pres">
      <dgm:prSet presAssocID="{897F93D3-58A9-4FC4-ACD9-A7392AF15BF9}" presName="node" presStyleLbl="node1" presStyleIdx="3" presStyleCnt="7">
        <dgm:presLayoutVars>
          <dgm:bulletEnabled val="1"/>
        </dgm:presLayoutVars>
      </dgm:prSet>
      <dgm:spPr/>
    </dgm:pt>
    <dgm:pt modelId="{B8AAB8DC-843F-425F-95D4-D95FDAF88DA1}" type="pres">
      <dgm:prSet presAssocID="{3C93EFEE-FF91-4161-ABB9-8A6F869ADFFC}" presName="sibTrans" presStyleLbl="sibTrans2D1" presStyleIdx="3" presStyleCnt="7" custLinFactY="-200000" custLinFactNeighborX="-2830" custLinFactNeighborY="-237875"/>
      <dgm:spPr/>
    </dgm:pt>
    <dgm:pt modelId="{9283E204-E132-4003-956F-16A298766F8B}" type="pres">
      <dgm:prSet presAssocID="{3C93EFEE-FF91-4161-ABB9-8A6F869ADFFC}" presName="connectorText" presStyleLbl="sibTrans2D1" presStyleIdx="3" presStyleCnt="7"/>
      <dgm:spPr/>
    </dgm:pt>
    <dgm:pt modelId="{C61B5A1E-8A36-4DA9-B16D-7310C196D689}" type="pres">
      <dgm:prSet presAssocID="{F319FAF5-74C9-49D6-AFBF-919871B72796}" presName="node" presStyleLbl="node1" presStyleIdx="4" presStyleCnt="7">
        <dgm:presLayoutVars>
          <dgm:bulletEnabled val="1"/>
        </dgm:presLayoutVars>
      </dgm:prSet>
      <dgm:spPr/>
    </dgm:pt>
    <dgm:pt modelId="{E65EBC0A-4303-4028-AB9F-494FDBE10DCC}" type="pres">
      <dgm:prSet presAssocID="{7680B39E-2ED0-4017-8E46-5AB3E447F6BC}" presName="sibTrans" presStyleLbl="sibTrans2D1" presStyleIdx="4" presStyleCnt="7"/>
      <dgm:spPr/>
    </dgm:pt>
    <dgm:pt modelId="{F4D8DDD6-8CFB-4EFD-A13B-15D376D809F8}" type="pres">
      <dgm:prSet presAssocID="{7680B39E-2ED0-4017-8E46-5AB3E447F6BC}" presName="connectorText" presStyleLbl="sibTrans2D1" presStyleIdx="4" presStyleCnt="7"/>
      <dgm:spPr/>
    </dgm:pt>
    <dgm:pt modelId="{ED1B630F-D973-4F9E-879D-237C3BC2C0D7}" type="pres">
      <dgm:prSet presAssocID="{D9CFC6B3-D38B-4D24-83FA-574FD773E966}" presName="node" presStyleLbl="node1" presStyleIdx="5" presStyleCnt="7">
        <dgm:presLayoutVars>
          <dgm:bulletEnabled val="1"/>
        </dgm:presLayoutVars>
      </dgm:prSet>
      <dgm:spPr/>
    </dgm:pt>
    <dgm:pt modelId="{24881F61-1848-4277-819E-3B161179F6A1}" type="pres">
      <dgm:prSet presAssocID="{295B2E0C-52CD-42CB-9745-650A53BEA789}" presName="sibTrans" presStyleLbl="sibTrans2D1" presStyleIdx="5" presStyleCnt="7"/>
      <dgm:spPr/>
    </dgm:pt>
    <dgm:pt modelId="{AF349397-5681-4DC5-A620-EA5AD96ACDAF}" type="pres">
      <dgm:prSet presAssocID="{295B2E0C-52CD-42CB-9745-650A53BEA789}" presName="connectorText" presStyleLbl="sibTrans2D1" presStyleIdx="5" presStyleCnt="7"/>
      <dgm:spPr/>
    </dgm:pt>
    <dgm:pt modelId="{8BAFF748-3C24-44CA-91AA-461FE706E580}" type="pres">
      <dgm:prSet presAssocID="{8ACE9A9C-A857-4E5C-81B6-F1E69AF3221D}" presName="node" presStyleLbl="node1" presStyleIdx="6" presStyleCnt="7">
        <dgm:presLayoutVars>
          <dgm:bulletEnabled val="1"/>
        </dgm:presLayoutVars>
      </dgm:prSet>
      <dgm:spPr/>
    </dgm:pt>
    <dgm:pt modelId="{B225589D-1B4C-4766-AEA4-350BBC6DB548}" type="pres">
      <dgm:prSet presAssocID="{BBB7465D-4E1E-4C00-8BF7-DB84F3D14CB4}" presName="sibTrans" presStyleLbl="sibTrans2D1" presStyleIdx="6" presStyleCnt="7"/>
      <dgm:spPr/>
    </dgm:pt>
    <dgm:pt modelId="{A5995151-D689-45FB-8F76-B54035B93C97}" type="pres">
      <dgm:prSet presAssocID="{BBB7465D-4E1E-4C00-8BF7-DB84F3D14CB4}" presName="connectorText" presStyleLbl="sibTrans2D1" presStyleIdx="6" presStyleCnt="7"/>
      <dgm:spPr/>
    </dgm:pt>
  </dgm:ptLst>
  <dgm:cxnLst>
    <dgm:cxn modelId="{CB700A01-71A6-47DE-8008-729938613BF7}" srcId="{90750A6D-9466-4598-A8E3-3E0CEE55932E}" destId="{F319FAF5-74C9-49D6-AFBF-919871B72796}" srcOrd="4" destOrd="0" parTransId="{BA54E438-A3CE-4863-A71B-BC677E96C447}" sibTransId="{7680B39E-2ED0-4017-8E46-5AB3E447F6BC}"/>
    <dgm:cxn modelId="{F77D0F04-5649-4D72-99ED-FD661831A030}" type="presOf" srcId="{295B2E0C-52CD-42CB-9745-650A53BEA789}" destId="{24881F61-1848-4277-819E-3B161179F6A1}" srcOrd="0" destOrd="0" presId="urn:microsoft.com/office/officeart/2005/8/layout/cycle2"/>
    <dgm:cxn modelId="{22909C09-EF28-4CB5-8A1F-5190B123FAAA}" type="presOf" srcId="{8ACE9A9C-A857-4E5C-81B6-F1E69AF3221D}" destId="{8BAFF748-3C24-44CA-91AA-461FE706E580}" srcOrd="0" destOrd="0" presId="urn:microsoft.com/office/officeart/2005/8/layout/cycle2"/>
    <dgm:cxn modelId="{66E9F80A-8077-45CF-8BF4-733130082469}" type="presOf" srcId="{486DB131-D132-4EC0-935C-F25597B2B1E5}" destId="{7346C51A-4217-4C6F-B45C-7FBE56026947}" srcOrd="1" destOrd="0" presId="urn:microsoft.com/office/officeart/2005/8/layout/cycle2"/>
    <dgm:cxn modelId="{0EC4A611-4053-4A0A-94FD-6E6BF38C2264}" type="presOf" srcId="{ED670A2E-79EA-4FBF-BDF8-113315CC58BA}" destId="{13ED0999-77BB-41DB-8847-7C15B9364A4D}" srcOrd="0" destOrd="0" presId="urn:microsoft.com/office/officeart/2005/8/layout/cycle2"/>
    <dgm:cxn modelId="{C10E1820-031C-415A-9D19-B83494CBDF32}" type="presOf" srcId="{3064F750-DF05-47BC-88FC-564FD3FDCA03}" destId="{25553BCF-DB36-4BD9-B3FF-C072C0149182}" srcOrd="0" destOrd="0" presId="urn:microsoft.com/office/officeart/2005/8/layout/cycle2"/>
    <dgm:cxn modelId="{C2DA8623-7BC7-4A5A-996A-F11B8B530786}" srcId="{90750A6D-9466-4598-A8E3-3E0CEE55932E}" destId="{ED670A2E-79EA-4FBF-BDF8-113315CC58BA}" srcOrd="0" destOrd="0" parTransId="{9F2009A5-359D-4E07-A1CD-88BAAF3B17FC}" sibTransId="{7283E133-2284-4F52-ABC2-109FD220B599}"/>
    <dgm:cxn modelId="{943F0E25-B15E-45E5-9C4F-86EB7C5E1968}" type="presOf" srcId="{486DB131-D132-4EC0-935C-F25597B2B1E5}" destId="{681FCF9B-7C3B-4D23-91F0-4F982FF48340}" srcOrd="0" destOrd="0" presId="urn:microsoft.com/office/officeart/2005/8/layout/cycle2"/>
    <dgm:cxn modelId="{03FACA34-1E73-4405-9854-01979D910015}" type="presOf" srcId="{7283E133-2284-4F52-ABC2-109FD220B599}" destId="{CB6A52BD-61C2-4036-B1EC-5D9C84EAD454}" srcOrd="0" destOrd="0" presId="urn:microsoft.com/office/officeart/2005/8/layout/cycle2"/>
    <dgm:cxn modelId="{A77AE43A-A1BF-450A-93FE-05F0B9DDF63D}" type="presOf" srcId="{BBB7465D-4E1E-4C00-8BF7-DB84F3D14CB4}" destId="{B225589D-1B4C-4766-AEA4-350BBC6DB548}" srcOrd="0" destOrd="0" presId="urn:microsoft.com/office/officeart/2005/8/layout/cycle2"/>
    <dgm:cxn modelId="{74812E3B-6F59-4227-BFF2-D5CA092E236E}" type="presOf" srcId="{BBB7465D-4E1E-4C00-8BF7-DB84F3D14CB4}" destId="{A5995151-D689-45FB-8F76-B54035B93C97}" srcOrd="1" destOrd="0" presId="urn:microsoft.com/office/officeart/2005/8/layout/cycle2"/>
    <dgm:cxn modelId="{2BD68B41-870E-43B4-91B9-E1E3B4AAC212}" srcId="{90750A6D-9466-4598-A8E3-3E0CEE55932E}" destId="{897F93D3-58A9-4FC4-ACD9-A7392AF15BF9}" srcOrd="3" destOrd="0" parTransId="{AF740F95-33E1-4B71-9414-C3BA32105694}" sibTransId="{3C93EFEE-FF91-4161-ABB9-8A6F869ADFFC}"/>
    <dgm:cxn modelId="{196B924E-4600-494B-BD48-C180F6830EBB}" type="presOf" srcId="{3C93EFEE-FF91-4161-ABB9-8A6F869ADFFC}" destId="{B8AAB8DC-843F-425F-95D4-D95FDAF88DA1}" srcOrd="0" destOrd="0" presId="urn:microsoft.com/office/officeart/2005/8/layout/cycle2"/>
    <dgm:cxn modelId="{1494DA60-3226-40E6-91B5-AD3A960E89EF}" type="presOf" srcId="{7283E133-2284-4F52-ABC2-109FD220B599}" destId="{4D1ED344-077F-4610-B8E0-DDCDFA3C51CB}" srcOrd="1" destOrd="0" presId="urn:microsoft.com/office/officeart/2005/8/layout/cycle2"/>
    <dgm:cxn modelId="{FB91EC67-012B-497A-99A8-315CA057FD55}" srcId="{90750A6D-9466-4598-A8E3-3E0CEE55932E}" destId="{D9CFC6B3-D38B-4D24-83FA-574FD773E966}" srcOrd="5" destOrd="0" parTransId="{DDEE5551-189C-43E8-9B4C-C72A7BCB4B7A}" sibTransId="{295B2E0C-52CD-42CB-9745-650A53BEA789}"/>
    <dgm:cxn modelId="{4F06D768-13F1-4921-ADD3-CAD1CF0CFC34}" type="presOf" srcId="{7680B39E-2ED0-4017-8E46-5AB3E447F6BC}" destId="{E65EBC0A-4303-4028-AB9F-494FDBE10DCC}" srcOrd="0" destOrd="0" presId="urn:microsoft.com/office/officeart/2005/8/layout/cycle2"/>
    <dgm:cxn modelId="{C06A086B-B821-4C41-B978-50B6C33BEF2C}" srcId="{90750A6D-9466-4598-A8E3-3E0CEE55932E}" destId="{19F82ED7-FC5A-446C-821F-380AACFFAFB0}" srcOrd="2" destOrd="0" parTransId="{E139D06A-57AD-4B7B-8174-3697A0A1D865}" sibTransId="{E44CFFE4-A5FE-4CA3-9F29-02F6A58BB3C7}"/>
    <dgm:cxn modelId="{1AA47E70-8083-4150-AC8C-E563B75578A9}" type="presOf" srcId="{19F82ED7-FC5A-446C-821F-380AACFFAFB0}" destId="{1755981F-CEEE-45FD-A08A-9A9050FF8367}" srcOrd="0" destOrd="0" presId="urn:microsoft.com/office/officeart/2005/8/layout/cycle2"/>
    <dgm:cxn modelId="{3DFEA175-5A03-4626-AA85-5966C29F09BF}" type="presOf" srcId="{295B2E0C-52CD-42CB-9745-650A53BEA789}" destId="{AF349397-5681-4DC5-A620-EA5AD96ACDAF}" srcOrd="1" destOrd="0" presId="urn:microsoft.com/office/officeart/2005/8/layout/cycle2"/>
    <dgm:cxn modelId="{B5E1447D-48A0-43FE-86D1-A69D3A3801A3}" type="presOf" srcId="{F319FAF5-74C9-49D6-AFBF-919871B72796}" destId="{C61B5A1E-8A36-4DA9-B16D-7310C196D689}" srcOrd="0" destOrd="0" presId="urn:microsoft.com/office/officeart/2005/8/layout/cycle2"/>
    <dgm:cxn modelId="{1D140187-DAB6-46D3-AF6B-CB1418ED711E}" type="presOf" srcId="{897F93D3-58A9-4FC4-ACD9-A7392AF15BF9}" destId="{491F8FA3-6872-4F71-9BEB-B469798761EA}" srcOrd="0" destOrd="0" presId="urn:microsoft.com/office/officeart/2005/8/layout/cycle2"/>
    <dgm:cxn modelId="{19CC79AC-4CCD-47EB-B99F-6370030F8B2B}" type="presOf" srcId="{90750A6D-9466-4598-A8E3-3E0CEE55932E}" destId="{CC79CE50-0BF7-4067-A3DA-6354C6E6D9A7}" srcOrd="0" destOrd="0" presId="urn:microsoft.com/office/officeart/2005/8/layout/cycle2"/>
    <dgm:cxn modelId="{690099AE-7BE0-45D6-8277-58D3198947AA}" srcId="{90750A6D-9466-4598-A8E3-3E0CEE55932E}" destId="{8ACE9A9C-A857-4E5C-81B6-F1E69AF3221D}" srcOrd="6" destOrd="0" parTransId="{8A1980B0-A4CB-4A12-9653-7659E29818B4}" sibTransId="{BBB7465D-4E1E-4C00-8BF7-DB84F3D14CB4}"/>
    <dgm:cxn modelId="{DD6165B7-2867-436B-9153-2A024CAE53C3}" type="presOf" srcId="{7680B39E-2ED0-4017-8E46-5AB3E447F6BC}" destId="{F4D8DDD6-8CFB-4EFD-A13B-15D376D809F8}" srcOrd="1" destOrd="0" presId="urn:microsoft.com/office/officeart/2005/8/layout/cycle2"/>
    <dgm:cxn modelId="{066B55CE-9508-4493-9B8D-E0F08CC8E8FA}" type="presOf" srcId="{E44CFFE4-A5FE-4CA3-9F29-02F6A58BB3C7}" destId="{BE8FC739-5C57-4227-A852-230206FE3762}" srcOrd="1" destOrd="0" presId="urn:microsoft.com/office/officeart/2005/8/layout/cycle2"/>
    <dgm:cxn modelId="{0D0EEECF-E835-4C19-8A86-63A5F11712F7}" type="presOf" srcId="{D9CFC6B3-D38B-4D24-83FA-574FD773E966}" destId="{ED1B630F-D973-4F9E-879D-237C3BC2C0D7}" srcOrd="0" destOrd="0" presId="urn:microsoft.com/office/officeart/2005/8/layout/cycle2"/>
    <dgm:cxn modelId="{23D329D3-ED70-4383-95A3-7E12A512AFE2}" type="presOf" srcId="{E44CFFE4-A5FE-4CA3-9F29-02F6A58BB3C7}" destId="{43860167-D4B4-4443-A94E-7CFA453974E5}" srcOrd="0" destOrd="0" presId="urn:microsoft.com/office/officeart/2005/8/layout/cycle2"/>
    <dgm:cxn modelId="{381863E9-118B-4C2A-AAB1-CA187A7D577E}" srcId="{90750A6D-9466-4598-A8E3-3E0CEE55932E}" destId="{3064F750-DF05-47BC-88FC-564FD3FDCA03}" srcOrd="1" destOrd="0" parTransId="{5C835457-8299-4324-B18E-62A0097299CD}" sibTransId="{486DB131-D132-4EC0-935C-F25597B2B1E5}"/>
    <dgm:cxn modelId="{9A5E00F4-4F05-426B-90D7-F896FF77B910}" type="presOf" srcId="{3C93EFEE-FF91-4161-ABB9-8A6F869ADFFC}" destId="{9283E204-E132-4003-956F-16A298766F8B}" srcOrd="1" destOrd="0" presId="urn:microsoft.com/office/officeart/2005/8/layout/cycle2"/>
    <dgm:cxn modelId="{5149B208-0D24-4CAA-9A46-339F5D8919FC}" type="presParOf" srcId="{CC79CE50-0BF7-4067-A3DA-6354C6E6D9A7}" destId="{13ED0999-77BB-41DB-8847-7C15B9364A4D}" srcOrd="0" destOrd="0" presId="urn:microsoft.com/office/officeart/2005/8/layout/cycle2"/>
    <dgm:cxn modelId="{CC1447F4-4803-4A90-8C5B-8ACBF43D8D6F}" type="presParOf" srcId="{CC79CE50-0BF7-4067-A3DA-6354C6E6D9A7}" destId="{CB6A52BD-61C2-4036-B1EC-5D9C84EAD454}" srcOrd="1" destOrd="0" presId="urn:microsoft.com/office/officeart/2005/8/layout/cycle2"/>
    <dgm:cxn modelId="{BE8FDFE8-8B3E-49EF-BB7D-54C5883AA4A2}" type="presParOf" srcId="{CB6A52BD-61C2-4036-B1EC-5D9C84EAD454}" destId="{4D1ED344-077F-4610-B8E0-DDCDFA3C51CB}" srcOrd="0" destOrd="0" presId="urn:microsoft.com/office/officeart/2005/8/layout/cycle2"/>
    <dgm:cxn modelId="{7A0126FD-189C-47F4-900A-EB456BB7A51B}" type="presParOf" srcId="{CC79CE50-0BF7-4067-A3DA-6354C6E6D9A7}" destId="{25553BCF-DB36-4BD9-B3FF-C072C0149182}" srcOrd="2" destOrd="0" presId="urn:microsoft.com/office/officeart/2005/8/layout/cycle2"/>
    <dgm:cxn modelId="{34B3D921-9426-418D-88AB-BE06E47ED972}" type="presParOf" srcId="{CC79CE50-0BF7-4067-A3DA-6354C6E6D9A7}" destId="{681FCF9B-7C3B-4D23-91F0-4F982FF48340}" srcOrd="3" destOrd="0" presId="urn:microsoft.com/office/officeart/2005/8/layout/cycle2"/>
    <dgm:cxn modelId="{1DAAE9F2-9022-4532-BFC6-CC6268248EC0}" type="presParOf" srcId="{681FCF9B-7C3B-4D23-91F0-4F982FF48340}" destId="{7346C51A-4217-4C6F-B45C-7FBE56026947}" srcOrd="0" destOrd="0" presId="urn:microsoft.com/office/officeart/2005/8/layout/cycle2"/>
    <dgm:cxn modelId="{66094BA5-A492-4F0E-820D-952F0B464B53}" type="presParOf" srcId="{CC79CE50-0BF7-4067-A3DA-6354C6E6D9A7}" destId="{1755981F-CEEE-45FD-A08A-9A9050FF8367}" srcOrd="4" destOrd="0" presId="urn:microsoft.com/office/officeart/2005/8/layout/cycle2"/>
    <dgm:cxn modelId="{30BFCF7C-3902-48BE-B496-254CDDD15F5B}" type="presParOf" srcId="{CC79CE50-0BF7-4067-A3DA-6354C6E6D9A7}" destId="{43860167-D4B4-4443-A94E-7CFA453974E5}" srcOrd="5" destOrd="0" presId="urn:microsoft.com/office/officeart/2005/8/layout/cycle2"/>
    <dgm:cxn modelId="{4ED3E4A5-A0BC-4972-B8BE-11563D8BF164}" type="presParOf" srcId="{43860167-D4B4-4443-A94E-7CFA453974E5}" destId="{BE8FC739-5C57-4227-A852-230206FE3762}" srcOrd="0" destOrd="0" presId="urn:microsoft.com/office/officeart/2005/8/layout/cycle2"/>
    <dgm:cxn modelId="{F6ECAC4A-A3BC-475E-AD02-787FA632BC64}" type="presParOf" srcId="{CC79CE50-0BF7-4067-A3DA-6354C6E6D9A7}" destId="{491F8FA3-6872-4F71-9BEB-B469798761EA}" srcOrd="6" destOrd="0" presId="urn:microsoft.com/office/officeart/2005/8/layout/cycle2"/>
    <dgm:cxn modelId="{3DC47EE1-B18C-4807-971A-7BF0C27D7CCF}" type="presParOf" srcId="{CC79CE50-0BF7-4067-A3DA-6354C6E6D9A7}" destId="{B8AAB8DC-843F-425F-95D4-D95FDAF88DA1}" srcOrd="7" destOrd="0" presId="urn:microsoft.com/office/officeart/2005/8/layout/cycle2"/>
    <dgm:cxn modelId="{31CF6691-8118-439A-8D7F-CF425677497F}" type="presParOf" srcId="{B8AAB8DC-843F-425F-95D4-D95FDAF88DA1}" destId="{9283E204-E132-4003-956F-16A298766F8B}" srcOrd="0" destOrd="0" presId="urn:microsoft.com/office/officeart/2005/8/layout/cycle2"/>
    <dgm:cxn modelId="{B2CB1569-C705-4EBB-A0E6-3E512B3D710D}" type="presParOf" srcId="{CC79CE50-0BF7-4067-A3DA-6354C6E6D9A7}" destId="{C61B5A1E-8A36-4DA9-B16D-7310C196D689}" srcOrd="8" destOrd="0" presId="urn:microsoft.com/office/officeart/2005/8/layout/cycle2"/>
    <dgm:cxn modelId="{FA1AC04F-C3E3-42A1-9C9C-D9DF1CBB3E94}" type="presParOf" srcId="{CC79CE50-0BF7-4067-A3DA-6354C6E6D9A7}" destId="{E65EBC0A-4303-4028-AB9F-494FDBE10DCC}" srcOrd="9" destOrd="0" presId="urn:microsoft.com/office/officeart/2005/8/layout/cycle2"/>
    <dgm:cxn modelId="{77484007-DE1A-4FE2-BE60-B8037050760E}" type="presParOf" srcId="{E65EBC0A-4303-4028-AB9F-494FDBE10DCC}" destId="{F4D8DDD6-8CFB-4EFD-A13B-15D376D809F8}" srcOrd="0" destOrd="0" presId="urn:microsoft.com/office/officeart/2005/8/layout/cycle2"/>
    <dgm:cxn modelId="{BA32878A-F9C4-4CC5-B6AA-7DA207F417DB}" type="presParOf" srcId="{CC79CE50-0BF7-4067-A3DA-6354C6E6D9A7}" destId="{ED1B630F-D973-4F9E-879D-237C3BC2C0D7}" srcOrd="10" destOrd="0" presId="urn:microsoft.com/office/officeart/2005/8/layout/cycle2"/>
    <dgm:cxn modelId="{78D60797-37F1-4AC3-A174-D9A7D10EBBD0}" type="presParOf" srcId="{CC79CE50-0BF7-4067-A3DA-6354C6E6D9A7}" destId="{24881F61-1848-4277-819E-3B161179F6A1}" srcOrd="11" destOrd="0" presId="urn:microsoft.com/office/officeart/2005/8/layout/cycle2"/>
    <dgm:cxn modelId="{E03EFB13-C1B2-4206-AB9F-E3F3DA5736FD}" type="presParOf" srcId="{24881F61-1848-4277-819E-3B161179F6A1}" destId="{AF349397-5681-4DC5-A620-EA5AD96ACDAF}" srcOrd="0" destOrd="0" presId="urn:microsoft.com/office/officeart/2005/8/layout/cycle2"/>
    <dgm:cxn modelId="{F5938132-967D-477E-A36C-CE7C5EF5F33E}" type="presParOf" srcId="{CC79CE50-0BF7-4067-A3DA-6354C6E6D9A7}" destId="{8BAFF748-3C24-44CA-91AA-461FE706E580}" srcOrd="12" destOrd="0" presId="urn:microsoft.com/office/officeart/2005/8/layout/cycle2"/>
    <dgm:cxn modelId="{95CD6F60-71A3-4D0F-AB36-6077600A94A5}" type="presParOf" srcId="{CC79CE50-0BF7-4067-A3DA-6354C6E6D9A7}" destId="{B225589D-1B4C-4766-AEA4-350BBC6DB548}" srcOrd="13" destOrd="0" presId="urn:microsoft.com/office/officeart/2005/8/layout/cycle2"/>
    <dgm:cxn modelId="{8881461F-C4E4-4BDF-8301-D242312C279C}" type="presParOf" srcId="{B225589D-1B4C-4766-AEA4-350BBC6DB548}" destId="{A5995151-D689-45FB-8F76-B54035B93C97}"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EBFC8B-84EE-4C7E-A844-7DBD625630E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CA"/>
        </a:p>
      </dgm:t>
    </dgm:pt>
    <dgm:pt modelId="{88C2CA2E-FD8D-4C76-B372-5B04DB957188}">
      <dgm:prSet phldrT="[Text]"/>
      <dgm:spPr>
        <a:solidFill>
          <a:schemeClr val="accent2"/>
        </a:solidFill>
        <a:ln>
          <a:solidFill>
            <a:schemeClr val="accent2"/>
          </a:solidFill>
        </a:ln>
      </dgm:spPr>
      <dgm:t>
        <a:bodyPr/>
        <a:lstStyle/>
        <a:p>
          <a:pPr algn="r">
            <a:buNone/>
          </a:pPr>
          <a:r>
            <a:rPr lang="en-CA" b="1" dirty="0">
              <a:latin typeface="Arial" panose="020B0604020202020204" pitchFamily="34" charset="0"/>
              <a:cs typeface="Arial" panose="020B0604020202020204" pitchFamily="34" charset="0"/>
            </a:rPr>
            <a:t>Clinical Practice</a:t>
          </a:r>
          <a:endParaRPr lang="en-CA" dirty="0">
            <a:latin typeface="Arial" panose="020B0604020202020204" pitchFamily="34" charset="0"/>
            <a:cs typeface="Arial" panose="020B0604020202020204" pitchFamily="34" charset="0"/>
          </a:endParaRPr>
        </a:p>
      </dgm:t>
    </dgm:pt>
    <dgm:pt modelId="{6325A12A-D194-4398-9315-ED6E8BCD71E1}" type="parTrans" cxnId="{2961B880-97A5-4370-9B1E-DD7C991EFB71}">
      <dgm:prSet/>
      <dgm:spPr/>
      <dgm:t>
        <a:bodyPr/>
        <a:lstStyle/>
        <a:p>
          <a:endParaRPr lang="en-CA"/>
        </a:p>
      </dgm:t>
    </dgm:pt>
    <dgm:pt modelId="{F7FA4998-CFD7-4F3B-9A79-6A07BAA1A255}" type="sibTrans" cxnId="{2961B880-97A5-4370-9B1E-DD7C991EFB71}">
      <dgm:prSet/>
      <dgm:spPr/>
      <dgm:t>
        <a:bodyPr/>
        <a:lstStyle/>
        <a:p>
          <a:endParaRPr lang="en-CA"/>
        </a:p>
      </dgm:t>
    </dgm:pt>
    <dgm:pt modelId="{6E7985E0-A9FA-4942-AFD5-2C18886D68FC}">
      <dgm:prSet phldrT="[Text]"/>
      <dgm:spPr>
        <a:solidFill>
          <a:schemeClr val="accent2">
            <a:lumMod val="60000"/>
            <a:lumOff val="40000"/>
            <a:alpha val="90000"/>
          </a:schemeClr>
        </a:solidFill>
        <a:ln>
          <a:solidFill>
            <a:schemeClr val="accent2">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Medical Question Answering</a:t>
          </a:r>
        </a:p>
      </dgm:t>
    </dgm:pt>
    <dgm:pt modelId="{CD4453D9-1C93-4897-9703-AB9BDB3A070C}" type="parTrans" cxnId="{6B3662FD-9DEE-4AE1-8FBC-BB97526C7096}">
      <dgm:prSet/>
      <dgm:spPr/>
      <dgm:t>
        <a:bodyPr/>
        <a:lstStyle/>
        <a:p>
          <a:endParaRPr lang="en-CA"/>
        </a:p>
      </dgm:t>
    </dgm:pt>
    <dgm:pt modelId="{44C678C0-C5E6-4758-840B-765BDDAB63CE}" type="sibTrans" cxnId="{6B3662FD-9DEE-4AE1-8FBC-BB97526C7096}">
      <dgm:prSet/>
      <dgm:spPr/>
      <dgm:t>
        <a:bodyPr/>
        <a:lstStyle/>
        <a:p>
          <a:endParaRPr lang="en-CA"/>
        </a:p>
      </dgm:t>
    </dgm:pt>
    <dgm:pt modelId="{14479DD4-5E0C-41E1-82AB-4DD101CEBCF5}">
      <dgm:prSet phldrT="[Text]"/>
      <dgm:spPr>
        <a:solidFill>
          <a:schemeClr val="accent3"/>
        </a:solidFill>
        <a:ln>
          <a:solidFill>
            <a:schemeClr val="accent3"/>
          </a:solidFill>
        </a:ln>
      </dgm:spPr>
      <dgm:t>
        <a:bodyPr/>
        <a:lstStyle/>
        <a:p>
          <a:pPr algn="r">
            <a:buNone/>
          </a:pPr>
          <a:r>
            <a:rPr lang="en-CA" b="1" dirty="0">
              <a:latin typeface="Arial" panose="020B0604020202020204" pitchFamily="34" charset="0"/>
              <a:cs typeface="Arial" panose="020B0604020202020204" pitchFamily="34" charset="0"/>
            </a:rPr>
            <a:t>Medical Education</a:t>
          </a:r>
          <a:endParaRPr lang="en-CA" dirty="0">
            <a:latin typeface="Arial" panose="020B0604020202020204" pitchFamily="34" charset="0"/>
            <a:cs typeface="Arial" panose="020B0604020202020204" pitchFamily="34" charset="0"/>
          </a:endParaRPr>
        </a:p>
      </dgm:t>
    </dgm:pt>
    <dgm:pt modelId="{C9D5C9E6-A396-455E-B53B-D55D47AE87D7}" type="parTrans" cxnId="{76695AE7-1459-48CD-A372-9D2B1E158DC0}">
      <dgm:prSet/>
      <dgm:spPr/>
      <dgm:t>
        <a:bodyPr/>
        <a:lstStyle/>
        <a:p>
          <a:endParaRPr lang="en-CA"/>
        </a:p>
      </dgm:t>
    </dgm:pt>
    <dgm:pt modelId="{50CE2CC0-2F7C-45B8-8C2D-BA0F64930E26}" type="sibTrans" cxnId="{76695AE7-1459-48CD-A372-9D2B1E158DC0}">
      <dgm:prSet/>
      <dgm:spPr/>
      <dgm:t>
        <a:bodyPr/>
        <a:lstStyle/>
        <a:p>
          <a:endParaRPr lang="en-CA"/>
        </a:p>
      </dgm:t>
    </dgm:pt>
    <dgm:pt modelId="{A6B97628-689C-4558-8916-AD37E922BD80}">
      <dgm:prSet phldrT="[Text]"/>
      <dgm:spPr>
        <a:solidFill>
          <a:schemeClr val="accent3">
            <a:lumMod val="20000"/>
            <a:lumOff val="80000"/>
            <a:alpha val="90000"/>
          </a:schemeClr>
        </a:solidFill>
        <a:ln>
          <a:solidFill>
            <a:schemeClr val="accent3">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Personalized Learning</a:t>
          </a:r>
        </a:p>
      </dgm:t>
    </dgm:pt>
    <dgm:pt modelId="{3FA5A576-5805-4430-A0ED-ABA957710C76}" type="parTrans" cxnId="{F25B03AC-8EA0-4364-90A7-B667F5100666}">
      <dgm:prSet/>
      <dgm:spPr/>
      <dgm:t>
        <a:bodyPr/>
        <a:lstStyle/>
        <a:p>
          <a:endParaRPr lang="en-CA"/>
        </a:p>
      </dgm:t>
    </dgm:pt>
    <dgm:pt modelId="{33F61535-22A2-4039-93FF-F306D0EF73F5}" type="sibTrans" cxnId="{F25B03AC-8EA0-4364-90A7-B667F5100666}">
      <dgm:prSet/>
      <dgm:spPr/>
      <dgm:t>
        <a:bodyPr/>
        <a:lstStyle/>
        <a:p>
          <a:endParaRPr lang="en-CA"/>
        </a:p>
      </dgm:t>
    </dgm:pt>
    <dgm:pt modelId="{31600F2D-0CAB-4BDA-8A6B-DDB9BA02BE15}">
      <dgm:prSet phldrT="[Text]"/>
      <dgm:spPr>
        <a:solidFill>
          <a:schemeClr val="accent1">
            <a:lumMod val="60000"/>
            <a:lumOff val="40000"/>
          </a:schemeClr>
        </a:solidFill>
        <a:ln>
          <a:solidFill>
            <a:schemeClr val="accent1">
              <a:lumMod val="50000"/>
            </a:schemeClr>
          </a:solidFill>
        </a:ln>
      </dgm:spPr>
      <dgm:t>
        <a:bodyPr/>
        <a:lstStyle/>
        <a:p>
          <a:pPr algn="r">
            <a:buNone/>
          </a:pPr>
          <a:r>
            <a:rPr lang="en-CA" b="1" dirty="0">
              <a:latin typeface="Arial" panose="020B0604020202020204" pitchFamily="34" charset="0"/>
              <a:cs typeface="Arial" panose="020B0604020202020204" pitchFamily="34" charset="0"/>
            </a:rPr>
            <a:t>Medical Research</a:t>
          </a:r>
          <a:endParaRPr lang="en-CA" dirty="0">
            <a:latin typeface="Arial" panose="020B0604020202020204" pitchFamily="34" charset="0"/>
            <a:cs typeface="Arial" panose="020B0604020202020204" pitchFamily="34" charset="0"/>
          </a:endParaRPr>
        </a:p>
      </dgm:t>
    </dgm:pt>
    <dgm:pt modelId="{C10F1F41-6C84-41A7-99E6-034EE207117F}" type="parTrans" cxnId="{0567E924-0A00-4578-A3DF-763C7B924501}">
      <dgm:prSet/>
      <dgm:spPr/>
      <dgm:t>
        <a:bodyPr/>
        <a:lstStyle/>
        <a:p>
          <a:endParaRPr lang="en-CA"/>
        </a:p>
      </dgm:t>
    </dgm:pt>
    <dgm:pt modelId="{A5942298-696F-4801-A684-25A53B88CBFF}" type="sibTrans" cxnId="{0567E924-0A00-4578-A3DF-763C7B924501}">
      <dgm:prSet/>
      <dgm:spPr/>
      <dgm:t>
        <a:bodyPr/>
        <a:lstStyle/>
        <a:p>
          <a:endParaRPr lang="en-CA"/>
        </a:p>
      </dgm:t>
    </dgm:pt>
    <dgm:pt modelId="{F2154AAE-9A86-48D8-83AE-EAD8DCC4C8DB}">
      <dgm:prSet phldrT="[Text]"/>
      <dgm:spPr>
        <a:solidFill>
          <a:schemeClr val="accent4">
            <a:lumMod val="20000"/>
            <a:lumOff val="80000"/>
            <a:alpha val="90000"/>
          </a:schemeClr>
        </a:solidFill>
        <a:ln>
          <a:solidFill>
            <a:schemeClr val="accent1">
              <a:lumMod val="50000"/>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Assistance with Academic Writing</a:t>
          </a:r>
        </a:p>
      </dgm:t>
    </dgm:pt>
    <dgm:pt modelId="{BA359985-0900-4A0A-86D1-28DA9A04EF2B}" type="parTrans" cxnId="{1AEE8F98-650F-4E53-9342-F5926486D407}">
      <dgm:prSet/>
      <dgm:spPr/>
      <dgm:t>
        <a:bodyPr/>
        <a:lstStyle/>
        <a:p>
          <a:endParaRPr lang="en-CA"/>
        </a:p>
      </dgm:t>
    </dgm:pt>
    <dgm:pt modelId="{B7ED2DEF-DB33-4118-BEF0-71B7F76EF715}" type="sibTrans" cxnId="{1AEE8F98-650F-4E53-9342-F5926486D407}">
      <dgm:prSet/>
      <dgm:spPr/>
      <dgm:t>
        <a:bodyPr/>
        <a:lstStyle/>
        <a:p>
          <a:endParaRPr lang="en-CA"/>
        </a:p>
      </dgm:t>
    </dgm:pt>
    <dgm:pt modelId="{BBEEBF4C-DAD1-4722-AD8C-B429EBD2F7F1}">
      <dgm:prSet/>
      <dgm:spPr>
        <a:solidFill>
          <a:schemeClr val="accent2">
            <a:lumMod val="60000"/>
            <a:lumOff val="40000"/>
            <a:alpha val="90000"/>
          </a:schemeClr>
        </a:solidFill>
        <a:ln>
          <a:solidFill>
            <a:schemeClr val="accent2">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Administrative Tasks</a:t>
          </a:r>
        </a:p>
      </dgm:t>
    </dgm:pt>
    <dgm:pt modelId="{5BCD54AB-3F9B-42FF-BC8B-9A05678D81DC}" type="parTrans" cxnId="{AADB1F6C-2818-4E4A-9276-CFFF814E95BA}">
      <dgm:prSet/>
      <dgm:spPr/>
      <dgm:t>
        <a:bodyPr/>
        <a:lstStyle/>
        <a:p>
          <a:endParaRPr lang="en-CA"/>
        </a:p>
      </dgm:t>
    </dgm:pt>
    <dgm:pt modelId="{D73AB352-2364-40CC-92F3-FFD3A5901C3D}" type="sibTrans" cxnId="{AADB1F6C-2818-4E4A-9276-CFFF814E95BA}">
      <dgm:prSet/>
      <dgm:spPr/>
      <dgm:t>
        <a:bodyPr/>
        <a:lstStyle/>
        <a:p>
          <a:endParaRPr lang="en-CA"/>
        </a:p>
      </dgm:t>
    </dgm:pt>
    <dgm:pt modelId="{7E25662F-7911-41C5-856E-F42ED74B6F6D}">
      <dgm:prSet/>
      <dgm:spPr>
        <a:solidFill>
          <a:schemeClr val="accent2">
            <a:lumMod val="60000"/>
            <a:lumOff val="40000"/>
            <a:alpha val="90000"/>
          </a:schemeClr>
        </a:solidFill>
        <a:ln>
          <a:solidFill>
            <a:schemeClr val="accent2">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Clinical Decision-Making</a:t>
          </a:r>
        </a:p>
      </dgm:t>
    </dgm:pt>
    <dgm:pt modelId="{01CB496E-CC74-4A9E-AEED-B81FE5016DC2}" type="parTrans" cxnId="{E7EB8328-41E3-48FE-B6D0-EF1F506EF081}">
      <dgm:prSet/>
      <dgm:spPr/>
      <dgm:t>
        <a:bodyPr/>
        <a:lstStyle/>
        <a:p>
          <a:endParaRPr lang="en-CA"/>
        </a:p>
      </dgm:t>
    </dgm:pt>
    <dgm:pt modelId="{6AF68436-DFE7-4FD3-BB41-8525C59F2236}" type="sibTrans" cxnId="{E7EB8328-41E3-48FE-B6D0-EF1F506EF081}">
      <dgm:prSet/>
      <dgm:spPr/>
      <dgm:t>
        <a:bodyPr/>
        <a:lstStyle/>
        <a:p>
          <a:endParaRPr lang="en-CA"/>
        </a:p>
      </dgm:t>
    </dgm:pt>
    <dgm:pt modelId="{2064E805-62B5-4DE6-9E6B-37AA275F0BD7}">
      <dgm:prSet/>
      <dgm:spPr>
        <a:solidFill>
          <a:schemeClr val="accent3">
            <a:lumMod val="20000"/>
            <a:lumOff val="80000"/>
            <a:alpha val="90000"/>
          </a:schemeClr>
        </a:solidFill>
        <a:ln>
          <a:solidFill>
            <a:schemeClr val="accent3">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Educational Material Generation</a:t>
          </a:r>
        </a:p>
      </dgm:t>
    </dgm:pt>
    <dgm:pt modelId="{358AF5D8-BFC9-4B95-B468-252C900F54EE}" type="parTrans" cxnId="{08A45950-71BD-4A78-ACBC-2E7E6EE77746}">
      <dgm:prSet/>
      <dgm:spPr/>
      <dgm:t>
        <a:bodyPr/>
        <a:lstStyle/>
        <a:p>
          <a:endParaRPr lang="en-CA"/>
        </a:p>
      </dgm:t>
    </dgm:pt>
    <dgm:pt modelId="{070884D2-DC44-4A4A-88DA-E5AFE6A4B6F1}" type="sibTrans" cxnId="{08A45950-71BD-4A78-ACBC-2E7E6EE77746}">
      <dgm:prSet/>
      <dgm:spPr/>
      <dgm:t>
        <a:bodyPr/>
        <a:lstStyle/>
        <a:p>
          <a:endParaRPr lang="en-CA"/>
        </a:p>
      </dgm:t>
    </dgm:pt>
    <dgm:pt modelId="{E2998461-0D71-4B5B-BE41-8910193BFAD0}">
      <dgm:prSet/>
      <dgm:spPr>
        <a:solidFill>
          <a:schemeClr val="accent3">
            <a:lumMod val="20000"/>
            <a:lumOff val="80000"/>
            <a:alpha val="90000"/>
          </a:schemeClr>
        </a:solidFill>
        <a:ln>
          <a:solidFill>
            <a:schemeClr val="accent3">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Virtual Patients</a:t>
          </a:r>
        </a:p>
      </dgm:t>
    </dgm:pt>
    <dgm:pt modelId="{1F656B23-C955-4CE4-B3D1-691BD01A529E}" type="parTrans" cxnId="{C9565B6E-1B4D-4157-9117-A0E8B1948B16}">
      <dgm:prSet/>
      <dgm:spPr/>
      <dgm:t>
        <a:bodyPr/>
        <a:lstStyle/>
        <a:p>
          <a:endParaRPr lang="en-CA"/>
        </a:p>
      </dgm:t>
    </dgm:pt>
    <dgm:pt modelId="{2D7C2E4D-D74C-4363-8D55-CFD13D3A50D5}" type="sibTrans" cxnId="{C9565B6E-1B4D-4157-9117-A0E8B1948B16}">
      <dgm:prSet/>
      <dgm:spPr/>
      <dgm:t>
        <a:bodyPr/>
        <a:lstStyle/>
        <a:p>
          <a:endParaRPr lang="en-CA"/>
        </a:p>
      </dgm:t>
    </dgm:pt>
    <dgm:pt modelId="{EBA022B5-F86B-48F2-88D4-AE7C189FEF1D}">
      <dgm:prSet/>
      <dgm:spPr>
        <a:solidFill>
          <a:schemeClr val="accent4">
            <a:lumMod val="20000"/>
            <a:lumOff val="80000"/>
            <a:alpha val="90000"/>
          </a:schemeClr>
        </a:solidFill>
        <a:ln>
          <a:solidFill>
            <a:schemeClr val="accent1">
              <a:lumMod val="50000"/>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Language Translation</a:t>
          </a:r>
        </a:p>
      </dgm:t>
    </dgm:pt>
    <dgm:pt modelId="{F87F716B-7A7A-429A-9EAD-E55EEBDB9CBB}" type="parTrans" cxnId="{D1C49471-4949-46BF-A131-D33E97499602}">
      <dgm:prSet/>
      <dgm:spPr/>
      <dgm:t>
        <a:bodyPr/>
        <a:lstStyle/>
        <a:p>
          <a:endParaRPr lang="en-CA"/>
        </a:p>
      </dgm:t>
    </dgm:pt>
    <dgm:pt modelId="{CF207067-B0E4-4CC0-9B12-E2A16BC7337B}" type="sibTrans" cxnId="{D1C49471-4949-46BF-A131-D33E97499602}">
      <dgm:prSet/>
      <dgm:spPr/>
      <dgm:t>
        <a:bodyPr/>
        <a:lstStyle/>
        <a:p>
          <a:endParaRPr lang="en-CA"/>
        </a:p>
      </dgm:t>
    </dgm:pt>
    <dgm:pt modelId="{FBB51CD8-E0B6-4577-9D95-1001065F613B}">
      <dgm:prSet/>
      <dgm:spPr>
        <a:solidFill>
          <a:schemeClr val="accent4">
            <a:lumMod val="20000"/>
            <a:lumOff val="80000"/>
            <a:alpha val="90000"/>
          </a:schemeClr>
        </a:solidFill>
        <a:ln>
          <a:solidFill>
            <a:schemeClr val="accent1">
              <a:lumMod val="50000"/>
              <a:alpha val="90000"/>
            </a:schemeClr>
          </a:solidFill>
        </a:ln>
      </dgm:spPr>
      <dgm:t>
        <a:bodyPr/>
        <a:lstStyle/>
        <a:p>
          <a:pPr>
            <a:buFont typeface="Arial" panose="020B0604020202020204" pitchFamily="34" charset="0"/>
            <a:buChar char="•"/>
          </a:pPr>
          <a:r>
            <a:rPr lang="en-CA" dirty="0">
              <a:latin typeface="Arial" panose="020B0604020202020204" pitchFamily="34" charset="0"/>
              <a:cs typeface="Arial" panose="020B0604020202020204" pitchFamily="34" charset="0"/>
            </a:rPr>
            <a:t>Data Analysis</a:t>
          </a:r>
        </a:p>
      </dgm:t>
    </dgm:pt>
    <dgm:pt modelId="{7189956B-2E78-4C25-A977-8F2D1E683FE2}" type="parTrans" cxnId="{A467F87B-52C5-4D28-8F79-57A5E0220944}">
      <dgm:prSet/>
      <dgm:spPr/>
      <dgm:t>
        <a:bodyPr/>
        <a:lstStyle/>
        <a:p>
          <a:endParaRPr lang="en-CA"/>
        </a:p>
      </dgm:t>
    </dgm:pt>
    <dgm:pt modelId="{4519DB87-740F-4A33-9536-E8850A6FA6F3}" type="sibTrans" cxnId="{A467F87B-52C5-4D28-8F79-57A5E0220944}">
      <dgm:prSet/>
      <dgm:spPr/>
      <dgm:t>
        <a:bodyPr/>
        <a:lstStyle/>
        <a:p>
          <a:endParaRPr lang="en-CA"/>
        </a:p>
      </dgm:t>
    </dgm:pt>
    <dgm:pt modelId="{00948DB2-D606-436F-97EC-72670E8D0DA6}" type="pres">
      <dgm:prSet presAssocID="{91EBFC8B-84EE-4C7E-A844-7DBD625630E3}" presName="Name0" presStyleCnt="0">
        <dgm:presLayoutVars>
          <dgm:dir/>
          <dgm:animLvl val="lvl"/>
          <dgm:resizeHandles val="exact"/>
        </dgm:presLayoutVars>
      </dgm:prSet>
      <dgm:spPr/>
    </dgm:pt>
    <dgm:pt modelId="{A20E4884-353C-4304-8EDA-2CB4689DB5A2}" type="pres">
      <dgm:prSet presAssocID="{88C2CA2E-FD8D-4C76-B372-5B04DB957188}" presName="composite" presStyleCnt="0"/>
      <dgm:spPr/>
    </dgm:pt>
    <dgm:pt modelId="{AA68A716-CBE4-4A5D-9362-815E8DBA2C0B}" type="pres">
      <dgm:prSet presAssocID="{88C2CA2E-FD8D-4C76-B372-5B04DB957188}" presName="parTx" presStyleLbl="alignNode1" presStyleIdx="0" presStyleCnt="3">
        <dgm:presLayoutVars>
          <dgm:chMax val="0"/>
          <dgm:chPref val="0"/>
          <dgm:bulletEnabled val="1"/>
        </dgm:presLayoutVars>
      </dgm:prSet>
      <dgm:spPr/>
    </dgm:pt>
    <dgm:pt modelId="{6C3E9FDE-7849-405F-BBC8-C722559BF1E4}" type="pres">
      <dgm:prSet presAssocID="{88C2CA2E-FD8D-4C76-B372-5B04DB957188}" presName="desTx" presStyleLbl="alignAccFollowNode1" presStyleIdx="0" presStyleCnt="3">
        <dgm:presLayoutVars>
          <dgm:bulletEnabled val="1"/>
        </dgm:presLayoutVars>
      </dgm:prSet>
      <dgm:spPr/>
    </dgm:pt>
    <dgm:pt modelId="{FAFC1EF2-59F8-4A0A-B5AF-EFC8E54ECD7C}" type="pres">
      <dgm:prSet presAssocID="{F7FA4998-CFD7-4F3B-9A79-6A07BAA1A255}" presName="space" presStyleCnt="0"/>
      <dgm:spPr/>
    </dgm:pt>
    <dgm:pt modelId="{591D7F89-B7A9-4812-8279-F0CA57EC8A00}" type="pres">
      <dgm:prSet presAssocID="{14479DD4-5E0C-41E1-82AB-4DD101CEBCF5}" presName="composite" presStyleCnt="0"/>
      <dgm:spPr/>
    </dgm:pt>
    <dgm:pt modelId="{28C1B570-23E6-4DD6-A1DD-6877E65933BB}" type="pres">
      <dgm:prSet presAssocID="{14479DD4-5E0C-41E1-82AB-4DD101CEBCF5}" presName="parTx" presStyleLbl="alignNode1" presStyleIdx="1" presStyleCnt="3">
        <dgm:presLayoutVars>
          <dgm:chMax val="0"/>
          <dgm:chPref val="0"/>
          <dgm:bulletEnabled val="1"/>
        </dgm:presLayoutVars>
      </dgm:prSet>
      <dgm:spPr/>
    </dgm:pt>
    <dgm:pt modelId="{E5E9DCAA-B1D9-4B49-B6F6-8CBA8A2C4C03}" type="pres">
      <dgm:prSet presAssocID="{14479DD4-5E0C-41E1-82AB-4DD101CEBCF5}" presName="desTx" presStyleLbl="alignAccFollowNode1" presStyleIdx="1" presStyleCnt="3">
        <dgm:presLayoutVars>
          <dgm:bulletEnabled val="1"/>
        </dgm:presLayoutVars>
      </dgm:prSet>
      <dgm:spPr/>
    </dgm:pt>
    <dgm:pt modelId="{8C863E74-4E6C-49FB-9BD3-78F0B71563D2}" type="pres">
      <dgm:prSet presAssocID="{50CE2CC0-2F7C-45B8-8C2D-BA0F64930E26}" presName="space" presStyleCnt="0"/>
      <dgm:spPr/>
    </dgm:pt>
    <dgm:pt modelId="{7D33DE66-C0B9-4D5E-9CCF-FFB21D7186B9}" type="pres">
      <dgm:prSet presAssocID="{31600F2D-0CAB-4BDA-8A6B-DDB9BA02BE15}" presName="composite" presStyleCnt="0"/>
      <dgm:spPr/>
    </dgm:pt>
    <dgm:pt modelId="{F02E3789-3250-4CCE-8107-268CD2181533}" type="pres">
      <dgm:prSet presAssocID="{31600F2D-0CAB-4BDA-8A6B-DDB9BA02BE15}" presName="parTx" presStyleLbl="alignNode1" presStyleIdx="2" presStyleCnt="3">
        <dgm:presLayoutVars>
          <dgm:chMax val="0"/>
          <dgm:chPref val="0"/>
          <dgm:bulletEnabled val="1"/>
        </dgm:presLayoutVars>
      </dgm:prSet>
      <dgm:spPr/>
    </dgm:pt>
    <dgm:pt modelId="{DB4AF3ED-0B12-48E9-B7BE-2C4B4CB58D15}" type="pres">
      <dgm:prSet presAssocID="{31600F2D-0CAB-4BDA-8A6B-DDB9BA02BE15}" presName="desTx" presStyleLbl="alignAccFollowNode1" presStyleIdx="2" presStyleCnt="3">
        <dgm:presLayoutVars>
          <dgm:bulletEnabled val="1"/>
        </dgm:presLayoutVars>
      </dgm:prSet>
      <dgm:spPr/>
    </dgm:pt>
  </dgm:ptLst>
  <dgm:cxnLst>
    <dgm:cxn modelId="{DDF0810C-24AD-45AE-A01F-4373E74D87A4}" type="presOf" srcId="{EBA022B5-F86B-48F2-88D4-AE7C189FEF1D}" destId="{DB4AF3ED-0B12-48E9-B7BE-2C4B4CB58D15}" srcOrd="0" destOrd="1" presId="urn:microsoft.com/office/officeart/2005/8/layout/hList1"/>
    <dgm:cxn modelId="{318E0213-68B9-49E0-AB49-10851EF3F9D1}" type="presOf" srcId="{F2154AAE-9A86-48D8-83AE-EAD8DCC4C8DB}" destId="{DB4AF3ED-0B12-48E9-B7BE-2C4B4CB58D15}" srcOrd="0" destOrd="0" presId="urn:microsoft.com/office/officeart/2005/8/layout/hList1"/>
    <dgm:cxn modelId="{0567E924-0A00-4578-A3DF-763C7B924501}" srcId="{91EBFC8B-84EE-4C7E-A844-7DBD625630E3}" destId="{31600F2D-0CAB-4BDA-8A6B-DDB9BA02BE15}" srcOrd="2" destOrd="0" parTransId="{C10F1F41-6C84-41A7-99E6-034EE207117F}" sibTransId="{A5942298-696F-4801-A684-25A53B88CBFF}"/>
    <dgm:cxn modelId="{E7EB8328-41E3-48FE-B6D0-EF1F506EF081}" srcId="{88C2CA2E-FD8D-4C76-B372-5B04DB957188}" destId="{7E25662F-7911-41C5-856E-F42ED74B6F6D}" srcOrd="2" destOrd="0" parTransId="{01CB496E-CC74-4A9E-AEED-B81FE5016DC2}" sibTransId="{6AF68436-DFE7-4FD3-BB41-8525C59F2236}"/>
    <dgm:cxn modelId="{FD3F8C3F-964B-43FE-AD25-FFFA50239AC4}" type="presOf" srcId="{FBB51CD8-E0B6-4577-9D95-1001065F613B}" destId="{DB4AF3ED-0B12-48E9-B7BE-2C4B4CB58D15}" srcOrd="0" destOrd="2" presId="urn:microsoft.com/office/officeart/2005/8/layout/hList1"/>
    <dgm:cxn modelId="{0196C94E-7294-4ACF-8608-CD1D926F000A}" type="presOf" srcId="{14479DD4-5E0C-41E1-82AB-4DD101CEBCF5}" destId="{28C1B570-23E6-4DD6-A1DD-6877E65933BB}" srcOrd="0" destOrd="0" presId="urn:microsoft.com/office/officeart/2005/8/layout/hList1"/>
    <dgm:cxn modelId="{08A45950-71BD-4A78-ACBC-2E7E6EE77746}" srcId="{14479DD4-5E0C-41E1-82AB-4DD101CEBCF5}" destId="{2064E805-62B5-4DE6-9E6B-37AA275F0BD7}" srcOrd="1" destOrd="0" parTransId="{358AF5D8-BFC9-4B95-B468-252C900F54EE}" sibTransId="{070884D2-DC44-4A4A-88DA-E5AFE6A4B6F1}"/>
    <dgm:cxn modelId="{128F0D55-465B-42B9-AC42-8ECE0F43B813}" type="presOf" srcId="{E2998461-0D71-4B5B-BE41-8910193BFAD0}" destId="{E5E9DCAA-B1D9-4B49-B6F6-8CBA8A2C4C03}" srcOrd="0" destOrd="2" presId="urn:microsoft.com/office/officeart/2005/8/layout/hList1"/>
    <dgm:cxn modelId="{AA83D266-3EB4-49FE-A87E-1DFE0CC4B14B}" type="presOf" srcId="{91EBFC8B-84EE-4C7E-A844-7DBD625630E3}" destId="{00948DB2-D606-436F-97EC-72670E8D0DA6}" srcOrd="0" destOrd="0" presId="urn:microsoft.com/office/officeart/2005/8/layout/hList1"/>
    <dgm:cxn modelId="{AADB1F6C-2818-4E4A-9276-CFFF814E95BA}" srcId="{88C2CA2E-FD8D-4C76-B372-5B04DB957188}" destId="{BBEEBF4C-DAD1-4722-AD8C-B429EBD2F7F1}" srcOrd="1" destOrd="0" parTransId="{5BCD54AB-3F9B-42FF-BC8B-9A05678D81DC}" sibTransId="{D73AB352-2364-40CC-92F3-FFD3A5901C3D}"/>
    <dgm:cxn modelId="{6116256D-5DE8-4882-BD9D-7BED53344529}" type="presOf" srcId="{31600F2D-0CAB-4BDA-8A6B-DDB9BA02BE15}" destId="{F02E3789-3250-4CCE-8107-268CD2181533}" srcOrd="0" destOrd="0" presId="urn:microsoft.com/office/officeart/2005/8/layout/hList1"/>
    <dgm:cxn modelId="{C9565B6E-1B4D-4157-9117-A0E8B1948B16}" srcId="{14479DD4-5E0C-41E1-82AB-4DD101CEBCF5}" destId="{E2998461-0D71-4B5B-BE41-8910193BFAD0}" srcOrd="2" destOrd="0" parTransId="{1F656B23-C955-4CE4-B3D1-691BD01A529E}" sibTransId="{2D7C2E4D-D74C-4363-8D55-CFD13D3A50D5}"/>
    <dgm:cxn modelId="{D1C49471-4949-46BF-A131-D33E97499602}" srcId="{31600F2D-0CAB-4BDA-8A6B-DDB9BA02BE15}" destId="{EBA022B5-F86B-48F2-88D4-AE7C189FEF1D}" srcOrd="1" destOrd="0" parTransId="{F87F716B-7A7A-429A-9EAD-E55EEBDB9CBB}" sibTransId="{CF207067-B0E4-4CC0-9B12-E2A16BC7337B}"/>
    <dgm:cxn modelId="{A467F87B-52C5-4D28-8F79-57A5E0220944}" srcId="{31600F2D-0CAB-4BDA-8A6B-DDB9BA02BE15}" destId="{FBB51CD8-E0B6-4577-9D95-1001065F613B}" srcOrd="2" destOrd="0" parTransId="{7189956B-2E78-4C25-A977-8F2D1E683FE2}" sibTransId="{4519DB87-740F-4A33-9536-E8850A6FA6F3}"/>
    <dgm:cxn modelId="{9E442280-5977-4CF6-9321-6709C104E244}" type="presOf" srcId="{88C2CA2E-FD8D-4C76-B372-5B04DB957188}" destId="{AA68A716-CBE4-4A5D-9362-815E8DBA2C0B}" srcOrd="0" destOrd="0" presId="urn:microsoft.com/office/officeart/2005/8/layout/hList1"/>
    <dgm:cxn modelId="{2961B880-97A5-4370-9B1E-DD7C991EFB71}" srcId="{91EBFC8B-84EE-4C7E-A844-7DBD625630E3}" destId="{88C2CA2E-FD8D-4C76-B372-5B04DB957188}" srcOrd="0" destOrd="0" parTransId="{6325A12A-D194-4398-9315-ED6E8BCD71E1}" sibTransId="{F7FA4998-CFD7-4F3B-9A79-6A07BAA1A255}"/>
    <dgm:cxn modelId="{A4535C8A-19C8-4489-896E-429769E34C0A}" type="presOf" srcId="{2064E805-62B5-4DE6-9E6B-37AA275F0BD7}" destId="{E5E9DCAA-B1D9-4B49-B6F6-8CBA8A2C4C03}" srcOrd="0" destOrd="1" presId="urn:microsoft.com/office/officeart/2005/8/layout/hList1"/>
    <dgm:cxn modelId="{1AEE8F98-650F-4E53-9342-F5926486D407}" srcId="{31600F2D-0CAB-4BDA-8A6B-DDB9BA02BE15}" destId="{F2154AAE-9A86-48D8-83AE-EAD8DCC4C8DB}" srcOrd="0" destOrd="0" parTransId="{BA359985-0900-4A0A-86D1-28DA9A04EF2B}" sibTransId="{B7ED2DEF-DB33-4118-BEF0-71B7F76EF715}"/>
    <dgm:cxn modelId="{F25B03AC-8EA0-4364-90A7-B667F5100666}" srcId="{14479DD4-5E0C-41E1-82AB-4DD101CEBCF5}" destId="{A6B97628-689C-4558-8916-AD37E922BD80}" srcOrd="0" destOrd="0" parTransId="{3FA5A576-5805-4430-A0ED-ABA957710C76}" sibTransId="{33F61535-22A2-4039-93FF-F306D0EF73F5}"/>
    <dgm:cxn modelId="{69760DB4-0D66-40B9-B29B-3414D9A244FE}" type="presOf" srcId="{7E25662F-7911-41C5-856E-F42ED74B6F6D}" destId="{6C3E9FDE-7849-405F-BBC8-C722559BF1E4}" srcOrd="0" destOrd="2" presId="urn:microsoft.com/office/officeart/2005/8/layout/hList1"/>
    <dgm:cxn modelId="{8951D3CC-88F0-4C70-959D-8951C34D71A4}" type="presOf" srcId="{BBEEBF4C-DAD1-4722-AD8C-B429EBD2F7F1}" destId="{6C3E9FDE-7849-405F-BBC8-C722559BF1E4}" srcOrd="0" destOrd="1" presId="urn:microsoft.com/office/officeart/2005/8/layout/hList1"/>
    <dgm:cxn modelId="{D88DDDDA-3504-413C-B51F-6E3CF1C73D4C}" type="presOf" srcId="{6E7985E0-A9FA-4942-AFD5-2C18886D68FC}" destId="{6C3E9FDE-7849-405F-BBC8-C722559BF1E4}" srcOrd="0" destOrd="0" presId="urn:microsoft.com/office/officeart/2005/8/layout/hList1"/>
    <dgm:cxn modelId="{76695AE7-1459-48CD-A372-9D2B1E158DC0}" srcId="{91EBFC8B-84EE-4C7E-A844-7DBD625630E3}" destId="{14479DD4-5E0C-41E1-82AB-4DD101CEBCF5}" srcOrd="1" destOrd="0" parTransId="{C9D5C9E6-A396-455E-B53B-D55D47AE87D7}" sibTransId="{50CE2CC0-2F7C-45B8-8C2D-BA0F64930E26}"/>
    <dgm:cxn modelId="{4AAB92EF-F137-4361-BF4E-12FB65BA39DF}" type="presOf" srcId="{A6B97628-689C-4558-8916-AD37E922BD80}" destId="{E5E9DCAA-B1D9-4B49-B6F6-8CBA8A2C4C03}" srcOrd="0" destOrd="0" presId="urn:microsoft.com/office/officeart/2005/8/layout/hList1"/>
    <dgm:cxn modelId="{6B3662FD-9DEE-4AE1-8FBC-BB97526C7096}" srcId="{88C2CA2E-FD8D-4C76-B372-5B04DB957188}" destId="{6E7985E0-A9FA-4942-AFD5-2C18886D68FC}" srcOrd="0" destOrd="0" parTransId="{CD4453D9-1C93-4897-9703-AB9BDB3A070C}" sibTransId="{44C678C0-C5E6-4758-840B-765BDDAB63CE}"/>
    <dgm:cxn modelId="{C9A86AA6-8D2E-43B4-9283-17B9A09ADFAB}" type="presParOf" srcId="{00948DB2-D606-436F-97EC-72670E8D0DA6}" destId="{A20E4884-353C-4304-8EDA-2CB4689DB5A2}" srcOrd="0" destOrd="0" presId="urn:microsoft.com/office/officeart/2005/8/layout/hList1"/>
    <dgm:cxn modelId="{CBA8854F-DFDE-4DF1-9708-ED736136F3BB}" type="presParOf" srcId="{A20E4884-353C-4304-8EDA-2CB4689DB5A2}" destId="{AA68A716-CBE4-4A5D-9362-815E8DBA2C0B}" srcOrd="0" destOrd="0" presId="urn:microsoft.com/office/officeart/2005/8/layout/hList1"/>
    <dgm:cxn modelId="{502C24B7-14AD-4B7E-9946-E45D1EFBC764}" type="presParOf" srcId="{A20E4884-353C-4304-8EDA-2CB4689DB5A2}" destId="{6C3E9FDE-7849-405F-BBC8-C722559BF1E4}" srcOrd="1" destOrd="0" presId="urn:microsoft.com/office/officeart/2005/8/layout/hList1"/>
    <dgm:cxn modelId="{A5E9C7FE-5554-4BD5-8337-BDA241ADBAA7}" type="presParOf" srcId="{00948DB2-D606-436F-97EC-72670E8D0DA6}" destId="{FAFC1EF2-59F8-4A0A-B5AF-EFC8E54ECD7C}" srcOrd="1" destOrd="0" presId="urn:microsoft.com/office/officeart/2005/8/layout/hList1"/>
    <dgm:cxn modelId="{63D8BDAA-46CC-47A1-8E8B-F6937073E0DD}" type="presParOf" srcId="{00948DB2-D606-436F-97EC-72670E8D0DA6}" destId="{591D7F89-B7A9-4812-8279-F0CA57EC8A00}" srcOrd="2" destOrd="0" presId="urn:microsoft.com/office/officeart/2005/8/layout/hList1"/>
    <dgm:cxn modelId="{831CBD5F-A7D2-44F1-B6D7-F74FD807D142}" type="presParOf" srcId="{591D7F89-B7A9-4812-8279-F0CA57EC8A00}" destId="{28C1B570-23E6-4DD6-A1DD-6877E65933BB}" srcOrd="0" destOrd="0" presId="urn:microsoft.com/office/officeart/2005/8/layout/hList1"/>
    <dgm:cxn modelId="{8FBD5704-884B-40C9-B436-45DEBB76DBFF}" type="presParOf" srcId="{591D7F89-B7A9-4812-8279-F0CA57EC8A00}" destId="{E5E9DCAA-B1D9-4B49-B6F6-8CBA8A2C4C03}" srcOrd="1" destOrd="0" presId="urn:microsoft.com/office/officeart/2005/8/layout/hList1"/>
    <dgm:cxn modelId="{8D1EBD40-5534-4C2D-BDD0-828179A58D3F}" type="presParOf" srcId="{00948DB2-D606-436F-97EC-72670E8D0DA6}" destId="{8C863E74-4E6C-49FB-9BD3-78F0B71563D2}" srcOrd="3" destOrd="0" presId="urn:microsoft.com/office/officeart/2005/8/layout/hList1"/>
    <dgm:cxn modelId="{5CAD60F1-97E5-44FA-AE4F-1F414C9E7092}" type="presParOf" srcId="{00948DB2-D606-436F-97EC-72670E8D0DA6}" destId="{7D33DE66-C0B9-4D5E-9CCF-FFB21D7186B9}" srcOrd="4" destOrd="0" presId="urn:microsoft.com/office/officeart/2005/8/layout/hList1"/>
    <dgm:cxn modelId="{C7FE38C5-6A01-4906-A158-3EB20BCEB5E3}" type="presParOf" srcId="{7D33DE66-C0B9-4D5E-9CCF-FFB21D7186B9}" destId="{F02E3789-3250-4CCE-8107-268CD2181533}" srcOrd="0" destOrd="0" presId="urn:microsoft.com/office/officeart/2005/8/layout/hList1"/>
    <dgm:cxn modelId="{0965935D-27E0-4140-84EB-48A9BF72A153}" type="presParOf" srcId="{7D33DE66-C0B9-4D5E-9CCF-FFB21D7186B9}" destId="{DB4AF3ED-0B12-48E9-B7BE-2C4B4CB58D1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28C830-D256-435E-8C33-14B487552E3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CA"/>
        </a:p>
      </dgm:t>
    </dgm:pt>
    <dgm:pt modelId="{BA670622-1534-435B-8393-4B265F5D3937}">
      <dgm:prSet phldrT="[Text]"/>
      <dgm:spPr>
        <a:solidFill>
          <a:schemeClr val="accent6">
            <a:lumMod val="50000"/>
          </a:schemeClr>
        </a:solidFill>
      </dgm:spPr>
      <dgm:t>
        <a:bodyPr/>
        <a:lstStyle/>
        <a:p>
          <a:pPr>
            <a:buNone/>
          </a:pPr>
          <a:r>
            <a:rPr lang="en-US" dirty="0">
              <a:latin typeface="Arial" panose="020B0604020202020204" pitchFamily="34" charset="0"/>
              <a:cs typeface="Arial" panose="020B0604020202020204" pitchFamily="34" charset="0"/>
            </a:rPr>
            <a:t>Learns everything from the ground up using massive datasets and huge compute.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Builds a general foundation model (e.g., GPT).</a:t>
          </a:r>
          <a:endParaRPr lang="en-CA" b="0" dirty="0">
            <a:latin typeface="Arial" panose="020B0604020202020204" pitchFamily="34" charset="0"/>
            <a:cs typeface="Arial" panose="020B0604020202020204" pitchFamily="34" charset="0"/>
          </a:endParaRPr>
        </a:p>
      </dgm:t>
    </dgm:pt>
    <dgm:pt modelId="{B5A2DA99-E540-4665-B2F7-1C61274BCE34}" type="parTrans" cxnId="{441BFA82-64FB-4ED4-952E-785FC0465AFF}">
      <dgm:prSet/>
      <dgm:spPr/>
      <dgm:t>
        <a:bodyPr/>
        <a:lstStyle/>
        <a:p>
          <a:endParaRPr lang="en-CA"/>
        </a:p>
      </dgm:t>
    </dgm:pt>
    <dgm:pt modelId="{9337B899-DBE3-4C05-97F2-2E586084A3C5}" type="sibTrans" cxnId="{441BFA82-64FB-4ED4-952E-785FC0465AFF}">
      <dgm:prSet/>
      <dgm:spPr/>
      <dgm:t>
        <a:bodyPr/>
        <a:lstStyle/>
        <a:p>
          <a:endParaRPr lang="en-CA"/>
        </a:p>
      </dgm:t>
    </dgm:pt>
    <dgm:pt modelId="{2B37ABDB-CFB9-4FB6-AC97-7593D70D5210}">
      <dgm:prSet phldrT="[Text]" custT="1"/>
      <dgm:spPr>
        <a:solidFill>
          <a:schemeClr val="accent6">
            <a:lumMod val="50000"/>
          </a:schemeClr>
        </a:solidFill>
      </dgm:spPr>
      <dgm:t>
        <a:bodyPr/>
        <a:lstStyle/>
        <a:p>
          <a:pPr marL="0" lvl="0" defTabSz="1111250">
            <a:lnSpc>
              <a:spcPct val="90000"/>
            </a:lnSpc>
            <a:spcBef>
              <a:spcPct val="0"/>
            </a:spcBef>
            <a:spcAft>
              <a:spcPct val="35000"/>
            </a:spcAft>
            <a:buNone/>
          </a:pPr>
          <a:r>
            <a:rPr lang="en-US" sz="2000" dirty="0">
              <a:latin typeface="Arial" panose="020B0604020202020204" pitchFamily="34" charset="0"/>
              <a:cs typeface="Arial" panose="020B0604020202020204" pitchFamily="34" charset="0"/>
            </a:rPr>
            <a:t>Starts from a pretrained model → adapts to a specific task.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Uses smaller, curated datasets and updates only parts of the model. </a:t>
          </a:r>
          <a:br>
            <a:rPr lang="en-US" sz="2000" dirty="0">
              <a:latin typeface="Arial" panose="020B0604020202020204" pitchFamily="34" charset="0"/>
              <a:cs typeface="Arial" panose="020B0604020202020204" pitchFamily="34" charset="0"/>
            </a:rPr>
          </a:br>
          <a:r>
            <a:rPr lang="en-CA" sz="2000" dirty="0">
              <a:latin typeface="Arial" panose="020B0604020202020204" pitchFamily="34" charset="0"/>
              <a:cs typeface="Arial" panose="020B0604020202020204" pitchFamily="34" charset="0"/>
            </a:rPr>
            <a:t>Produces specialized, high-performance models.</a:t>
          </a:r>
        </a:p>
      </dgm:t>
    </dgm:pt>
    <dgm:pt modelId="{85E67F2D-0E4D-4944-86CB-D8E83C43ED6C}" type="parTrans" cxnId="{C3299EEA-9420-45F9-A4C2-16E43B9C515F}">
      <dgm:prSet/>
      <dgm:spPr/>
      <dgm:t>
        <a:bodyPr/>
        <a:lstStyle/>
        <a:p>
          <a:endParaRPr lang="en-CA"/>
        </a:p>
      </dgm:t>
    </dgm:pt>
    <dgm:pt modelId="{7FBBF596-1FC1-432B-B9B5-B57FD7FE86B1}" type="sibTrans" cxnId="{C3299EEA-9420-45F9-A4C2-16E43B9C515F}">
      <dgm:prSet/>
      <dgm:spPr/>
      <dgm:t>
        <a:bodyPr/>
        <a:lstStyle/>
        <a:p>
          <a:endParaRPr lang="en-CA"/>
        </a:p>
      </dgm:t>
    </dgm:pt>
    <dgm:pt modelId="{1B56E42D-B12E-4A97-93F8-DFD3B7A56F83}">
      <dgm:prSet phldrT="[Text]"/>
      <dgm:spPr>
        <a:solidFill>
          <a:schemeClr val="accent6">
            <a:lumMod val="50000"/>
          </a:schemeClr>
        </a:solidFill>
      </dgm:spPr>
      <dgm:t>
        <a:bodyPr/>
        <a:lstStyle/>
        <a:p>
          <a:pPr>
            <a:buNone/>
          </a:pPr>
          <a:r>
            <a:rPr lang="en-US" dirty="0">
              <a:latin typeface="Arial" panose="020B0604020202020204" pitchFamily="34" charset="0"/>
              <a:cs typeface="Arial" panose="020B0604020202020204" pitchFamily="34" charset="0"/>
            </a:rPr>
            <a:t>Handles new tasks without retraining (zero-shot).</a:t>
          </a:r>
        </a:p>
        <a:p>
          <a:pPr>
            <a:buNone/>
          </a:pPr>
          <a:r>
            <a:rPr lang="en-US" dirty="0">
              <a:latin typeface="Arial" panose="020B0604020202020204" pitchFamily="34" charset="0"/>
              <a:cs typeface="Arial" panose="020B0604020202020204" pitchFamily="34" charset="0"/>
            </a:rPr>
            <a:t>Can use a few examples to guide responses (few-shot).</a:t>
          </a:r>
        </a:p>
        <a:p>
          <a:pPr>
            <a:buNone/>
          </a:pPr>
          <a:r>
            <a:rPr lang="en-CA" dirty="0">
              <a:latin typeface="Arial" panose="020B0604020202020204" pitchFamily="34" charset="0"/>
              <a:cs typeface="Arial" panose="020B0604020202020204" pitchFamily="34" charset="0"/>
            </a:rPr>
            <a:t>Enables fast experimentation and prototyping.</a:t>
          </a:r>
        </a:p>
      </dgm:t>
    </dgm:pt>
    <dgm:pt modelId="{605FE6AD-FF12-4483-9D30-4F14C78BDE22}" type="parTrans" cxnId="{EC4AC2A7-4221-41E7-99F4-8D3399452B96}">
      <dgm:prSet/>
      <dgm:spPr/>
      <dgm:t>
        <a:bodyPr/>
        <a:lstStyle/>
        <a:p>
          <a:endParaRPr lang="en-CA"/>
        </a:p>
      </dgm:t>
    </dgm:pt>
    <dgm:pt modelId="{87714C28-7437-4B70-BA4E-5E029F62C8D4}" type="sibTrans" cxnId="{EC4AC2A7-4221-41E7-99F4-8D3399452B96}">
      <dgm:prSet/>
      <dgm:spPr/>
      <dgm:t>
        <a:bodyPr/>
        <a:lstStyle/>
        <a:p>
          <a:endParaRPr lang="en-CA"/>
        </a:p>
      </dgm:t>
    </dgm:pt>
    <dgm:pt modelId="{A9293239-89BF-4393-8FF9-AF2AE5AD6216}" type="pres">
      <dgm:prSet presAssocID="{5528C830-D256-435E-8C33-14B487552E3C}" presName="Name0" presStyleCnt="0">
        <dgm:presLayoutVars>
          <dgm:chMax val="7"/>
          <dgm:chPref val="7"/>
          <dgm:dir/>
        </dgm:presLayoutVars>
      </dgm:prSet>
      <dgm:spPr/>
    </dgm:pt>
    <dgm:pt modelId="{AA6FF8A5-1394-490A-BC8A-4441204996AF}" type="pres">
      <dgm:prSet presAssocID="{5528C830-D256-435E-8C33-14B487552E3C}" presName="Name1" presStyleCnt="0"/>
      <dgm:spPr/>
    </dgm:pt>
    <dgm:pt modelId="{7BF1F42A-4575-4CFF-A431-27D66040297B}" type="pres">
      <dgm:prSet presAssocID="{5528C830-D256-435E-8C33-14B487552E3C}" presName="cycle" presStyleCnt="0"/>
      <dgm:spPr/>
    </dgm:pt>
    <dgm:pt modelId="{AD100E52-E187-4D5D-A57D-23E069F015F6}" type="pres">
      <dgm:prSet presAssocID="{5528C830-D256-435E-8C33-14B487552E3C}" presName="srcNode" presStyleLbl="node1" presStyleIdx="0" presStyleCnt="3"/>
      <dgm:spPr/>
    </dgm:pt>
    <dgm:pt modelId="{EA31E86D-B6B4-48F1-9C0E-6476F00534E0}" type="pres">
      <dgm:prSet presAssocID="{5528C830-D256-435E-8C33-14B487552E3C}" presName="conn" presStyleLbl="parChTrans1D2" presStyleIdx="0" presStyleCnt="1"/>
      <dgm:spPr/>
    </dgm:pt>
    <dgm:pt modelId="{02FA1610-8AD3-4E4D-9F79-42C341870AE2}" type="pres">
      <dgm:prSet presAssocID="{5528C830-D256-435E-8C33-14B487552E3C}" presName="extraNode" presStyleLbl="node1" presStyleIdx="0" presStyleCnt="3"/>
      <dgm:spPr/>
    </dgm:pt>
    <dgm:pt modelId="{4BD307C6-DB61-4990-BE72-1177B661022B}" type="pres">
      <dgm:prSet presAssocID="{5528C830-D256-435E-8C33-14B487552E3C}" presName="dstNode" presStyleLbl="node1" presStyleIdx="0" presStyleCnt="3"/>
      <dgm:spPr/>
    </dgm:pt>
    <dgm:pt modelId="{9592D8D3-BB8D-4DE9-9DFA-40B788C784D8}" type="pres">
      <dgm:prSet presAssocID="{BA670622-1534-435B-8393-4B265F5D3937}" presName="text_1" presStyleLbl="node1" presStyleIdx="0" presStyleCnt="3">
        <dgm:presLayoutVars>
          <dgm:bulletEnabled val="1"/>
        </dgm:presLayoutVars>
      </dgm:prSet>
      <dgm:spPr/>
    </dgm:pt>
    <dgm:pt modelId="{1E2DC665-04D9-4799-B0B1-A8F12FC5E63A}" type="pres">
      <dgm:prSet presAssocID="{BA670622-1534-435B-8393-4B265F5D3937}" presName="accent_1" presStyleCnt="0"/>
      <dgm:spPr/>
    </dgm:pt>
    <dgm:pt modelId="{E0ACC037-8DA8-4D58-86FF-23793B639311}" type="pres">
      <dgm:prSet presAssocID="{BA670622-1534-435B-8393-4B265F5D3937}" presName="accentRepeatNode" presStyleLbl="solidFgAcc1" presStyleIdx="0" presStyleCnt="3" custScaleX="114759" custScaleY="108344"/>
      <dgm:spPr/>
    </dgm:pt>
    <dgm:pt modelId="{DCE8865E-3590-421B-AFC2-D895AEB9D0CE}" type="pres">
      <dgm:prSet presAssocID="{2B37ABDB-CFB9-4FB6-AC97-7593D70D5210}" presName="text_2" presStyleLbl="node1" presStyleIdx="1" presStyleCnt="3" custScaleX="100722" custScaleY="158383">
        <dgm:presLayoutVars>
          <dgm:bulletEnabled val="1"/>
        </dgm:presLayoutVars>
      </dgm:prSet>
      <dgm:spPr/>
    </dgm:pt>
    <dgm:pt modelId="{A7331465-54E9-4F9B-B2BD-C1D3D3B4A707}" type="pres">
      <dgm:prSet presAssocID="{2B37ABDB-CFB9-4FB6-AC97-7593D70D5210}" presName="accent_2" presStyleCnt="0"/>
      <dgm:spPr/>
    </dgm:pt>
    <dgm:pt modelId="{60C6B906-0C4C-4401-8E8D-F5E70641E13C}" type="pres">
      <dgm:prSet presAssocID="{2B37ABDB-CFB9-4FB6-AC97-7593D70D5210}" presName="accentRepeatNode" presStyleLbl="solidFgAcc1" presStyleIdx="1" presStyleCnt="3" custScaleX="108144" custScaleY="108860"/>
      <dgm:spPr/>
    </dgm:pt>
    <dgm:pt modelId="{E7EBBB51-7D0A-4E29-B84C-C90F73961025}" type="pres">
      <dgm:prSet presAssocID="{1B56E42D-B12E-4A97-93F8-DFD3B7A56F83}" presName="text_3" presStyleLbl="node1" presStyleIdx="2" presStyleCnt="3">
        <dgm:presLayoutVars>
          <dgm:bulletEnabled val="1"/>
        </dgm:presLayoutVars>
      </dgm:prSet>
      <dgm:spPr/>
    </dgm:pt>
    <dgm:pt modelId="{4B29D728-25A9-4EEB-BD1C-510DC4140DE2}" type="pres">
      <dgm:prSet presAssocID="{1B56E42D-B12E-4A97-93F8-DFD3B7A56F83}" presName="accent_3" presStyleCnt="0"/>
      <dgm:spPr/>
    </dgm:pt>
    <dgm:pt modelId="{F5329DCF-1648-4268-A8F4-6BD63FC0E834}" type="pres">
      <dgm:prSet presAssocID="{1B56E42D-B12E-4A97-93F8-DFD3B7A56F83}" presName="accentRepeatNode" presStyleLbl="solidFgAcc1" presStyleIdx="2" presStyleCnt="3" custScaleX="116439" custScaleY="121993"/>
      <dgm:spPr/>
    </dgm:pt>
  </dgm:ptLst>
  <dgm:cxnLst>
    <dgm:cxn modelId="{1B2DC10C-DB49-46A6-B54A-A58E2FD951B8}" type="presOf" srcId="{9337B899-DBE3-4C05-97F2-2E586084A3C5}" destId="{EA31E86D-B6B4-48F1-9C0E-6476F00534E0}" srcOrd="0" destOrd="0" presId="urn:microsoft.com/office/officeart/2008/layout/VerticalCurvedList"/>
    <dgm:cxn modelId="{42D21A21-05B5-4758-967D-A7C676D705CA}" type="presOf" srcId="{5528C830-D256-435E-8C33-14B487552E3C}" destId="{A9293239-89BF-4393-8FF9-AF2AE5AD6216}" srcOrd="0" destOrd="0" presId="urn:microsoft.com/office/officeart/2008/layout/VerticalCurvedList"/>
    <dgm:cxn modelId="{FB2FAF49-AC31-44A1-A30A-FDD0071D7F15}" type="presOf" srcId="{BA670622-1534-435B-8393-4B265F5D3937}" destId="{9592D8D3-BB8D-4DE9-9DFA-40B788C784D8}" srcOrd="0" destOrd="0" presId="urn:microsoft.com/office/officeart/2008/layout/VerticalCurvedList"/>
    <dgm:cxn modelId="{441BFA82-64FB-4ED4-952E-785FC0465AFF}" srcId="{5528C830-D256-435E-8C33-14B487552E3C}" destId="{BA670622-1534-435B-8393-4B265F5D3937}" srcOrd="0" destOrd="0" parTransId="{B5A2DA99-E540-4665-B2F7-1C61274BCE34}" sibTransId="{9337B899-DBE3-4C05-97F2-2E586084A3C5}"/>
    <dgm:cxn modelId="{EC4AC2A7-4221-41E7-99F4-8D3399452B96}" srcId="{5528C830-D256-435E-8C33-14B487552E3C}" destId="{1B56E42D-B12E-4A97-93F8-DFD3B7A56F83}" srcOrd="2" destOrd="0" parTransId="{605FE6AD-FF12-4483-9D30-4F14C78BDE22}" sibTransId="{87714C28-7437-4B70-BA4E-5E029F62C8D4}"/>
    <dgm:cxn modelId="{7D16EAC1-70C1-40AA-BCD3-5DF4AF96DEFE}" type="presOf" srcId="{1B56E42D-B12E-4A97-93F8-DFD3B7A56F83}" destId="{E7EBBB51-7D0A-4E29-B84C-C90F73961025}" srcOrd="0" destOrd="0" presId="urn:microsoft.com/office/officeart/2008/layout/VerticalCurvedList"/>
    <dgm:cxn modelId="{82F003D6-7495-483B-9937-8509411BF00E}" type="presOf" srcId="{2B37ABDB-CFB9-4FB6-AC97-7593D70D5210}" destId="{DCE8865E-3590-421B-AFC2-D895AEB9D0CE}" srcOrd="0" destOrd="0" presId="urn:microsoft.com/office/officeart/2008/layout/VerticalCurvedList"/>
    <dgm:cxn modelId="{C3299EEA-9420-45F9-A4C2-16E43B9C515F}" srcId="{5528C830-D256-435E-8C33-14B487552E3C}" destId="{2B37ABDB-CFB9-4FB6-AC97-7593D70D5210}" srcOrd="1" destOrd="0" parTransId="{85E67F2D-0E4D-4944-86CB-D8E83C43ED6C}" sibTransId="{7FBBF596-1FC1-432B-B9B5-B57FD7FE86B1}"/>
    <dgm:cxn modelId="{01BD27B8-A689-45E8-9ABB-8A0B65BAB6E7}" type="presParOf" srcId="{A9293239-89BF-4393-8FF9-AF2AE5AD6216}" destId="{AA6FF8A5-1394-490A-BC8A-4441204996AF}" srcOrd="0" destOrd="0" presId="urn:microsoft.com/office/officeart/2008/layout/VerticalCurvedList"/>
    <dgm:cxn modelId="{369FD43B-4A3E-4C69-8439-C4D3C32EF533}" type="presParOf" srcId="{AA6FF8A5-1394-490A-BC8A-4441204996AF}" destId="{7BF1F42A-4575-4CFF-A431-27D66040297B}" srcOrd="0" destOrd="0" presId="urn:microsoft.com/office/officeart/2008/layout/VerticalCurvedList"/>
    <dgm:cxn modelId="{32CA6C24-10AD-4091-AF91-60F0078F6D4D}" type="presParOf" srcId="{7BF1F42A-4575-4CFF-A431-27D66040297B}" destId="{AD100E52-E187-4D5D-A57D-23E069F015F6}" srcOrd="0" destOrd="0" presId="urn:microsoft.com/office/officeart/2008/layout/VerticalCurvedList"/>
    <dgm:cxn modelId="{1783E750-9DB2-4F22-A23F-C7EF01C55A1B}" type="presParOf" srcId="{7BF1F42A-4575-4CFF-A431-27D66040297B}" destId="{EA31E86D-B6B4-48F1-9C0E-6476F00534E0}" srcOrd="1" destOrd="0" presId="urn:microsoft.com/office/officeart/2008/layout/VerticalCurvedList"/>
    <dgm:cxn modelId="{F8BFB3BE-B909-41F3-A912-8EBF8D14A6D3}" type="presParOf" srcId="{7BF1F42A-4575-4CFF-A431-27D66040297B}" destId="{02FA1610-8AD3-4E4D-9F79-42C341870AE2}" srcOrd="2" destOrd="0" presId="urn:microsoft.com/office/officeart/2008/layout/VerticalCurvedList"/>
    <dgm:cxn modelId="{460A7E31-9AF8-4B10-9363-29A14310B010}" type="presParOf" srcId="{7BF1F42A-4575-4CFF-A431-27D66040297B}" destId="{4BD307C6-DB61-4990-BE72-1177B661022B}" srcOrd="3" destOrd="0" presId="urn:microsoft.com/office/officeart/2008/layout/VerticalCurvedList"/>
    <dgm:cxn modelId="{6BF615BB-75A5-419B-981D-FBB52067F740}" type="presParOf" srcId="{AA6FF8A5-1394-490A-BC8A-4441204996AF}" destId="{9592D8D3-BB8D-4DE9-9DFA-40B788C784D8}" srcOrd="1" destOrd="0" presId="urn:microsoft.com/office/officeart/2008/layout/VerticalCurvedList"/>
    <dgm:cxn modelId="{DC7429C3-5CF6-454A-9B8C-B30ECD2F4C79}" type="presParOf" srcId="{AA6FF8A5-1394-490A-BC8A-4441204996AF}" destId="{1E2DC665-04D9-4799-B0B1-A8F12FC5E63A}" srcOrd="2" destOrd="0" presId="urn:microsoft.com/office/officeart/2008/layout/VerticalCurvedList"/>
    <dgm:cxn modelId="{32BF2FCF-7CD1-472B-935E-A2A572D6D8B6}" type="presParOf" srcId="{1E2DC665-04D9-4799-B0B1-A8F12FC5E63A}" destId="{E0ACC037-8DA8-4D58-86FF-23793B639311}" srcOrd="0" destOrd="0" presId="urn:microsoft.com/office/officeart/2008/layout/VerticalCurvedList"/>
    <dgm:cxn modelId="{DA04EE7E-DBD0-49EB-BA06-C19CD3DD797C}" type="presParOf" srcId="{AA6FF8A5-1394-490A-BC8A-4441204996AF}" destId="{DCE8865E-3590-421B-AFC2-D895AEB9D0CE}" srcOrd="3" destOrd="0" presId="urn:microsoft.com/office/officeart/2008/layout/VerticalCurvedList"/>
    <dgm:cxn modelId="{27435DBC-EC82-4541-8FCB-F81E2DAE715C}" type="presParOf" srcId="{AA6FF8A5-1394-490A-BC8A-4441204996AF}" destId="{A7331465-54E9-4F9B-B2BD-C1D3D3B4A707}" srcOrd="4" destOrd="0" presId="urn:microsoft.com/office/officeart/2008/layout/VerticalCurvedList"/>
    <dgm:cxn modelId="{F0E82F0F-26D6-497D-8943-9029F28B3B96}" type="presParOf" srcId="{A7331465-54E9-4F9B-B2BD-C1D3D3B4A707}" destId="{60C6B906-0C4C-4401-8E8D-F5E70641E13C}" srcOrd="0" destOrd="0" presId="urn:microsoft.com/office/officeart/2008/layout/VerticalCurvedList"/>
    <dgm:cxn modelId="{1601AFD5-7F64-4FF6-87B1-2ED195637BF9}" type="presParOf" srcId="{AA6FF8A5-1394-490A-BC8A-4441204996AF}" destId="{E7EBBB51-7D0A-4E29-B84C-C90F73961025}" srcOrd="5" destOrd="0" presId="urn:microsoft.com/office/officeart/2008/layout/VerticalCurvedList"/>
    <dgm:cxn modelId="{71FE87E3-F0E1-4FA7-B37A-89A33DF07FB5}" type="presParOf" srcId="{AA6FF8A5-1394-490A-BC8A-4441204996AF}" destId="{4B29D728-25A9-4EEB-BD1C-510DC4140DE2}" srcOrd="6" destOrd="0" presId="urn:microsoft.com/office/officeart/2008/layout/VerticalCurvedList"/>
    <dgm:cxn modelId="{E8BAF5BE-8CDF-4F14-AE51-393C84A1D498}" type="presParOf" srcId="{4B29D728-25A9-4EEB-BD1C-510DC4140DE2}" destId="{F5329DCF-1648-4268-A8F4-6BD63FC0E83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AAE653-A783-4BFB-8C27-40CDEEEAE558}" type="doc">
      <dgm:prSet loTypeId="urn:microsoft.com/office/officeart/2011/layout/CircleProcess" loCatId="officeonline" qsTypeId="urn:microsoft.com/office/officeart/2005/8/quickstyle/simple1" qsCatId="simple" csTypeId="urn:microsoft.com/office/officeart/2005/8/colors/accent1_2" csCatId="accent1" phldr="1"/>
      <dgm:spPr/>
      <dgm:t>
        <a:bodyPr/>
        <a:lstStyle/>
        <a:p>
          <a:endParaRPr lang="en-CA"/>
        </a:p>
      </dgm:t>
    </dgm:pt>
    <dgm:pt modelId="{837CDE56-5D92-4937-BB9E-65D4C939ECAE}">
      <dgm:prSet phldrT="[Text]" custT="1"/>
      <dgm:spPr/>
      <dgm:t>
        <a:bodyPr/>
        <a:lstStyle/>
        <a:p>
          <a:r>
            <a:rPr lang="en-US" sz="2000" b="1" i="0" dirty="0">
              <a:solidFill>
                <a:schemeClr val="tx1"/>
              </a:solidFill>
              <a:effectLst/>
              <a:latin typeface="Arial" panose="020B0604020202020204" pitchFamily="34" charset="0"/>
              <a:ea typeface="+mn-ea"/>
              <a:cs typeface="Arial" panose="020B0604020202020204" pitchFamily="34" charset="0"/>
            </a:rPr>
            <a:t>Encoding Phase</a:t>
          </a:r>
          <a:endParaRPr lang="en-CA" sz="2000" dirty="0">
            <a:latin typeface="Arial" panose="020B0604020202020204" pitchFamily="34" charset="0"/>
            <a:cs typeface="Arial" panose="020B0604020202020204" pitchFamily="34" charset="0"/>
          </a:endParaRPr>
        </a:p>
      </dgm:t>
    </dgm:pt>
    <dgm:pt modelId="{B7CC3B96-1B81-42E0-BCF2-5F2C8C80492A}" type="parTrans" cxnId="{1022D9A0-C288-46D9-BAD4-C757E537718E}">
      <dgm:prSet/>
      <dgm:spPr/>
      <dgm:t>
        <a:bodyPr/>
        <a:lstStyle/>
        <a:p>
          <a:endParaRPr lang="en-CA"/>
        </a:p>
      </dgm:t>
    </dgm:pt>
    <dgm:pt modelId="{C88761A8-DFCA-4CD1-8F21-26049FCE48B3}" type="sibTrans" cxnId="{1022D9A0-C288-46D9-BAD4-C757E537718E}">
      <dgm:prSet/>
      <dgm:spPr/>
      <dgm:t>
        <a:bodyPr/>
        <a:lstStyle/>
        <a:p>
          <a:endParaRPr lang="en-CA"/>
        </a:p>
      </dgm:t>
    </dgm:pt>
    <dgm:pt modelId="{C37761CF-3E15-4328-9F4C-99E17F931CD3}">
      <dgm:prSet phldrT="[Text]" custT="1"/>
      <dgm:spPr/>
      <dgm:t>
        <a:bodyPr/>
        <a:lstStyle/>
        <a:p>
          <a:r>
            <a:rPr lang="en-US" sz="2000" b="1" i="0" dirty="0">
              <a:solidFill>
                <a:schemeClr val="tx1"/>
              </a:solidFill>
              <a:effectLst/>
              <a:latin typeface="Arial" panose="020B0604020202020204" pitchFamily="34" charset="0"/>
              <a:ea typeface="+mn-ea"/>
              <a:cs typeface="Arial" panose="020B0604020202020204" pitchFamily="34" charset="0"/>
            </a:rPr>
            <a:t>Fusion Phase</a:t>
          </a:r>
          <a:endParaRPr lang="en-CA" sz="2000" dirty="0">
            <a:latin typeface="Arial" panose="020B0604020202020204" pitchFamily="34" charset="0"/>
            <a:cs typeface="Arial" panose="020B0604020202020204" pitchFamily="34" charset="0"/>
          </a:endParaRPr>
        </a:p>
      </dgm:t>
    </dgm:pt>
    <dgm:pt modelId="{C7878377-6163-41A3-85D7-6CA7B43F0475}" type="parTrans" cxnId="{A9246ACE-2913-42E9-A55C-5F31505BBB3D}">
      <dgm:prSet/>
      <dgm:spPr/>
      <dgm:t>
        <a:bodyPr/>
        <a:lstStyle/>
        <a:p>
          <a:endParaRPr lang="en-CA"/>
        </a:p>
      </dgm:t>
    </dgm:pt>
    <dgm:pt modelId="{60D9FAE7-1E8B-4428-8A5E-D8626C6C0244}" type="sibTrans" cxnId="{A9246ACE-2913-42E9-A55C-5F31505BBB3D}">
      <dgm:prSet/>
      <dgm:spPr/>
      <dgm:t>
        <a:bodyPr/>
        <a:lstStyle/>
        <a:p>
          <a:endParaRPr lang="en-CA"/>
        </a:p>
      </dgm:t>
    </dgm:pt>
    <dgm:pt modelId="{C491F714-D740-49F7-9FDC-FBDDEC4C22CC}">
      <dgm:prSet phldrT="[Text]" custT="1"/>
      <dgm:spPr/>
      <dgm:t>
        <a:bodyPr/>
        <a:lstStyle/>
        <a:p>
          <a:r>
            <a:rPr lang="en-US" sz="2000" b="1" i="0" dirty="0">
              <a:solidFill>
                <a:schemeClr val="tx1"/>
              </a:solidFill>
              <a:effectLst/>
              <a:latin typeface="Arial" panose="020B0604020202020204" pitchFamily="34" charset="0"/>
              <a:ea typeface="+mn-ea"/>
              <a:cs typeface="Arial" panose="020B0604020202020204" pitchFamily="34" charset="0"/>
            </a:rPr>
            <a:t>Processing Phase</a:t>
          </a:r>
          <a:endParaRPr lang="en-CA" sz="2000" dirty="0">
            <a:latin typeface="Arial" panose="020B0604020202020204" pitchFamily="34" charset="0"/>
            <a:cs typeface="Arial" panose="020B0604020202020204" pitchFamily="34" charset="0"/>
          </a:endParaRPr>
        </a:p>
      </dgm:t>
    </dgm:pt>
    <dgm:pt modelId="{E35C6873-5270-48E2-95DB-BD538AEF4CA3}" type="parTrans" cxnId="{C158E323-D872-4A93-984F-056B62D21206}">
      <dgm:prSet/>
      <dgm:spPr/>
      <dgm:t>
        <a:bodyPr/>
        <a:lstStyle/>
        <a:p>
          <a:endParaRPr lang="en-CA"/>
        </a:p>
      </dgm:t>
    </dgm:pt>
    <dgm:pt modelId="{593BEFE9-CADB-422C-AC98-03806D62E006}" type="sibTrans" cxnId="{C158E323-D872-4A93-984F-056B62D21206}">
      <dgm:prSet/>
      <dgm:spPr/>
      <dgm:t>
        <a:bodyPr/>
        <a:lstStyle/>
        <a:p>
          <a:endParaRPr lang="en-CA"/>
        </a:p>
      </dgm:t>
    </dgm:pt>
    <dgm:pt modelId="{06D55EDD-AC62-48B3-90FA-C8F1C30353AA}">
      <dgm:prSet phldrT="[Text]" custT="1"/>
      <dgm:spPr/>
      <dgm:t>
        <a:bodyPr/>
        <a:lstStyle/>
        <a:p>
          <a:r>
            <a:rPr lang="en-US" sz="2000" b="1" i="0" dirty="0">
              <a:solidFill>
                <a:schemeClr val="tx1"/>
              </a:solidFill>
              <a:effectLst/>
              <a:latin typeface="Arial" panose="020B0604020202020204" pitchFamily="34" charset="0"/>
              <a:ea typeface="+mn-ea"/>
              <a:cs typeface="Arial" panose="020B0604020202020204" pitchFamily="34" charset="0"/>
            </a:rPr>
            <a:t>Alignment Phase</a:t>
          </a:r>
          <a:endParaRPr lang="en-CA" sz="2000" dirty="0"/>
        </a:p>
      </dgm:t>
    </dgm:pt>
    <dgm:pt modelId="{99E4E40D-0309-46E1-B827-C293E92FE1D3}" type="parTrans" cxnId="{06C031F7-A3AA-4F63-87C3-C324CF1D9023}">
      <dgm:prSet/>
      <dgm:spPr/>
      <dgm:t>
        <a:bodyPr/>
        <a:lstStyle/>
        <a:p>
          <a:endParaRPr lang="en-CA"/>
        </a:p>
      </dgm:t>
    </dgm:pt>
    <dgm:pt modelId="{33E39BAB-3B11-4A89-84A0-B96D1C7D994E}" type="sibTrans" cxnId="{06C031F7-A3AA-4F63-87C3-C324CF1D9023}">
      <dgm:prSet/>
      <dgm:spPr/>
      <dgm:t>
        <a:bodyPr/>
        <a:lstStyle/>
        <a:p>
          <a:endParaRPr lang="en-CA"/>
        </a:p>
      </dgm:t>
    </dgm:pt>
    <dgm:pt modelId="{45901807-83D1-40DA-BDFA-B7959D3287ED}" type="pres">
      <dgm:prSet presAssocID="{17AAE653-A783-4BFB-8C27-40CDEEEAE558}" presName="Name0" presStyleCnt="0">
        <dgm:presLayoutVars>
          <dgm:chMax val="11"/>
          <dgm:chPref val="11"/>
          <dgm:dir/>
          <dgm:resizeHandles/>
        </dgm:presLayoutVars>
      </dgm:prSet>
      <dgm:spPr/>
    </dgm:pt>
    <dgm:pt modelId="{1E12D9D9-B67A-4B8D-80F8-FACCE3312FC9}" type="pres">
      <dgm:prSet presAssocID="{C491F714-D740-49F7-9FDC-FBDDEC4C22CC}" presName="Accent4" presStyleCnt="0"/>
      <dgm:spPr/>
    </dgm:pt>
    <dgm:pt modelId="{1E1A0BFA-2671-4F29-BD47-A6550BEBDD6C}" type="pres">
      <dgm:prSet presAssocID="{C491F714-D740-49F7-9FDC-FBDDEC4C22CC}" presName="Accent" presStyleLbl="node1" presStyleIdx="0" presStyleCnt="4"/>
      <dgm:spPr>
        <a:solidFill>
          <a:srgbClr val="0070C0"/>
        </a:solidFill>
      </dgm:spPr>
    </dgm:pt>
    <dgm:pt modelId="{A5F92E5F-3EC9-4901-AC5E-C58372982685}" type="pres">
      <dgm:prSet presAssocID="{C491F714-D740-49F7-9FDC-FBDDEC4C22CC}" presName="ParentBackground4" presStyleCnt="0"/>
      <dgm:spPr/>
    </dgm:pt>
    <dgm:pt modelId="{3230CC73-91A0-47D5-BDBA-8C9A65D70EBC}" type="pres">
      <dgm:prSet presAssocID="{C491F714-D740-49F7-9FDC-FBDDEC4C22CC}" presName="ParentBackground" presStyleLbl="fgAcc1" presStyleIdx="0" presStyleCnt="4"/>
      <dgm:spPr/>
    </dgm:pt>
    <dgm:pt modelId="{37334C7A-7706-4B1C-A31E-EF8A35FDD9A2}" type="pres">
      <dgm:prSet presAssocID="{C491F714-D740-49F7-9FDC-FBDDEC4C22CC}" presName="Parent4" presStyleLbl="revTx" presStyleIdx="0" presStyleCnt="0">
        <dgm:presLayoutVars>
          <dgm:chMax val="1"/>
          <dgm:chPref val="1"/>
          <dgm:bulletEnabled val="1"/>
        </dgm:presLayoutVars>
      </dgm:prSet>
      <dgm:spPr/>
    </dgm:pt>
    <dgm:pt modelId="{C0475AF0-A6B1-43EE-9DCC-1EC8735EA46C}" type="pres">
      <dgm:prSet presAssocID="{C37761CF-3E15-4328-9F4C-99E17F931CD3}" presName="Accent3" presStyleCnt="0"/>
      <dgm:spPr/>
    </dgm:pt>
    <dgm:pt modelId="{6A944D94-2C83-4034-B41C-C404330FF6C3}" type="pres">
      <dgm:prSet presAssocID="{C37761CF-3E15-4328-9F4C-99E17F931CD3}" presName="Accent" presStyleLbl="node1" presStyleIdx="1" presStyleCnt="4"/>
      <dgm:spPr>
        <a:solidFill>
          <a:srgbClr val="0070C0"/>
        </a:solidFill>
      </dgm:spPr>
    </dgm:pt>
    <dgm:pt modelId="{6985293B-919D-412E-B5C7-9CA557B50FAA}" type="pres">
      <dgm:prSet presAssocID="{C37761CF-3E15-4328-9F4C-99E17F931CD3}" presName="ParentBackground3" presStyleCnt="0"/>
      <dgm:spPr/>
    </dgm:pt>
    <dgm:pt modelId="{6235F0C3-92C7-46B0-BE29-F1BBC99D16EF}" type="pres">
      <dgm:prSet presAssocID="{C37761CF-3E15-4328-9F4C-99E17F931CD3}" presName="ParentBackground" presStyleLbl="fgAcc1" presStyleIdx="1" presStyleCnt="4"/>
      <dgm:spPr/>
    </dgm:pt>
    <dgm:pt modelId="{A51C9C0E-C9CA-41DC-9BE4-12826472E5C7}" type="pres">
      <dgm:prSet presAssocID="{C37761CF-3E15-4328-9F4C-99E17F931CD3}" presName="Parent3" presStyleLbl="revTx" presStyleIdx="0" presStyleCnt="0">
        <dgm:presLayoutVars>
          <dgm:chMax val="1"/>
          <dgm:chPref val="1"/>
          <dgm:bulletEnabled val="1"/>
        </dgm:presLayoutVars>
      </dgm:prSet>
      <dgm:spPr/>
    </dgm:pt>
    <dgm:pt modelId="{48E1E6B7-D9A6-4D14-9A01-FE28AC839092}" type="pres">
      <dgm:prSet presAssocID="{06D55EDD-AC62-48B3-90FA-C8F1C30353AA}" presName="Accent2" presStyleCnt="0"/>
      <dgm:spPr/>
    </dgm:pt>
    <dgm:pt modelId="{58A195D0-2D03-46B3-8CF6-B207C90B978E}" type="pres">
      <dgm:prSet presAssocID="{06D55EDD-AC62-48B3-90FA-C8F1C30353AA}" presName="Accent" presStyleLbl="node1" presStyleIdx="2" presStyleCnt="4"/>
      <dgm:spPr>
        <a:solidFill>
          <a:srgbClr val="0070C0"/>
        </a:solidFill>
      </dgm:spPr>
    </dgm:pt>
    <dgm:pt modelId="{23FF8077-80CE-40F4-A497-AECF9DEED38A}" type="pres">
      <dgm:prSet presAssocID="{06D55EDD-AC62-48B3-90FA-C8F1C30353AA}" presName="ParentBackground2" presStyleCnt="0"/>
      <dgm:spPr/>
    </dgm:pt>
    <dgm:pt modelId="{465BCEC6-4279-4F6C-9124-11B66049930F}" type="pres">
      <dgm:prSet presAssocID="{06D55EDD-AC62-48B3-90FA-C8F1C30353AA}" presName="ParentBackground" presStyleLbl="fgAcc1" presStyleIdx="2" presStyleCnt="4"/>
      <dgm:spPr/>
    </dgm:pt>
    <dgm:pt modelId="{7B703030-55FB-464A-9A72-F4C1DA46D847}" type="pres">
      <dgm:prSet presAssocID="{06D55EDD-AC62-48B3-90FA-C8F1C30353AA}" presName="Parent2" presStyleLbl="revTx" presStyleIdx="0" presStyleCnt="0">
        <dgm:presLayoutVars>
          <dgm:chMax val="1"/>
          <dgm:chPref val="1"/>
          <dgm:bulletEnabled val="1"/>
        </dgm:presLayoutVars>
      </dgm:prSet>
      <dgm:spPr/>
    </dgm:pt>
    <dgm:pt modelId="{9C8E7A91-173C-4C80-9678-E998389E837C}" type="pres">
      <dgm:prSet presAssocID="{837CDE56-5D92-4937-BB9E-65D4C939ECAE}" presName="Accent1" presStyleCnt="0"/>
      <dgm:spPr/>
    </dgm:pt>
    <dgm:pt modelId="{1E6F4E47-3D2E-427C-BBED-A26721C22614}" type="pres">
      <dgm:prSet presAssocID="{837CDE56-5D92-4937-BB9E-65D4C939ECAE}" presName="Accent" presStyleLbl="node1" presStyleIdx="3" presStyleCnt="4"/>
      <dgm:spPr>
        <a:solidFill>
          <a:srgbClr val="0070C0"/>
        </a:solidFill>
      </dgm:spPr>
    </dgm:pt>
    <dgm:pt modelId="{33A92F8C-19E8-4D8D-A89A-3F740067005D}" type="pres">
      <dgm:prSet presAssocID="{837CDE56-5D92-4937-BB9E-65D4C939ECAE}" presName="ParentBackground1" presStyleCnt="0"/>
      <dgm:spPr/>
    </dgm:pt>
    <dgm:pt modelId="{BE43CDB9-E15A-41F0-84EA-2D9CE8E86DC0}" type="pres">
      <dgm:prSet presAssocID="{837CDE56-5D92-4937-BB9E-65D4C939ECAE}" presName="ParentBackground" presStyleLbl="fgAcc1" presStyleIdx="3" presStyleCnt="4"/>
      <dgm:spPr/>
    </dgm:pt>
    <dgm:pt modelId="{92EF6C08-B547-43B0-A0DF-0EAC5B66DFAD}" type="pres">
      <dgm:prSet presAssocID="{837CDE56-5D92-4937-BB9E-65D4C939ECAE}" presName="Parent1" presStyleLbl="revTx" presStyleIdx="0" presStyleCnt="0">
        <dgm:presLayoutVars>
          <dgm:chMax val="1"/>
          <dgm:chPref val="1"/>
          <dgm:bulletEnabled val="1"/>
        </dgm:presLayoutVars>
      </dgm:prSet>
      <dgm:spPr/>
    </dgm:pt>
  </dgm:ptLst>
  <dgm:cxnLst>
    <dgm:cxn modelId="{6E8E7B0C-C5B3-4388-9B27-AC4AEAE41EE8}" type="presOf" srcId="{06D55EDD-AC62-48B3-90FA-C8F1C30353AA}" destId="{7B703030-55FB-464A-9A72-F4C1DA46D847}" srcOrd="1" destOrd="0" presId="urn:microsoft.com/office/officeart/2011/layout/CircleProcess"/>
    <dgm:cxn modelId="{E62FF11A-0FC8-4193-95D2-D25B98844067}" type="presOf" srcId="{837CDE56-5D92-4937-BB9E-65D4C939ECAE}" destId="{BE43CDB9-E15A-41F0-84EA-2D9CE8E86DC0}" srcOrd="0" destOrd="0" presId="urn:microsoft.com/office/officeart/2011/layout/CircleProcess"/>
    <dgm:cxn modelId="{C158E323-D872-4A93-984F-056B62D21206}" srcId="{17AAE653-A783-4BFB-8C27-40CDEEEAE558}" destId="{C491F714-D740-49F7-9FDC-FBDDEC4C22CC}" srcOrd="3" destOrd="0" parTransId="{E35C6873-5270-48E2-95DB-BD538AEF4CA3}" sibTransId="{593BEFE9-CADB-422C-AC98-03806D62E006}"/>
    <dgm:cxn modelId="{AB74972D-1280-46FC-9122-BCB52DA1092A}" type="presOf" srcId="{C491F714-D740-49F7-9FDC-FBDDEC4C22CC}" destId="{3230CC73-91A0-47D5-BDBA-8C9A65D70EBC}" srcOrd="0" destOrd="0" presId="urn:microsoft.com/office/officeart/2011/layout/CircleProcess"/>
    <dgm:cxn modelId="{4CC0EC43-CD0F-4243-8552-A089C2B4A726}" type="presOf" srcId="{C37761CF-3E15-4328-9F4C-99E17F931CD3}" destId="{6235F0C3-92C7-46B0-BE29-F1BBC99D16EF}" srcOrd="0" destOrd="0" presId="urn:microsoft.com/office/officeart/2011/layout/CircleProcess"/>
    <dgm:cxn modelId="{B3C08B48-5C8D-48D3-9CCE-7E6D4E593723}" type="presOf" srcId="{C491F714-D740-49F7-9FDC-FBDDEC4C22CC}" destId="{37334C7A-7706-4B1C-A31E-EF8A35FDD9A2}" srcOrd="1" destOrd="0" presId="urn:microsoft.com/office/officeart/2011/layout/CircleProcess"/>
    <dgm:cxn modelId="{4D1F7C68-D565-4032-AC77-1276D56D3150}" type="presOf" srcId="{C37761CF-3E15-4328-9F4C-99E17F931CD3}" destId="{A51C9C0E-C9CA-41DC-9BE4-12826472E5C7}" srcOrd="1" destOrd="0" presId="urn:microsoft.com/office/officeart/2011/layout/CircleProcess"/>
    <dgm:cxn modelId="{1E9A617D-47A7-49A5-A2C3-BF0A461F5D0E}" type="presOf" srcId="{837CDE56-5D92-4937-BB9E-65D4C939ECAE}" destId="{92EF6C08-B547-43B0-A0DF-0EAC5B66DFAD}" srcOrd="1" destOrd="0" presId="urn:microsoft.com/office/officeart/2011/layout/CircleProcess"/>
    <dgm:cxn modelId="{1022D9A0-C288-46D9-BAD4-C757E537718E}" srcId="{17AAE653-A783-4BFB-8C27-40CDEEEAE558}" destId="{837CDE56-5D92-4937-BB9E-65D4C939ECAE}" srcOrd="0" destOrd="0" parTransId="{B7CC3B96-1B81-42E0-BCF2-5F2C8C80492A}" sibTransId="{C88761A8-DFCA-4CD1-8F21-26049FCE48B3}"/>
    <dgm:cxn modelId="{FA0E9FB3-3177-423B-9741-74F5D86999C6}" type="presOf" srcId="{17AAE653-A783-4BFB-8C27-40CDEEEAE558}" destId="{45901807-83D1-40DA-BDFA-B7959D3287ED}" srcOrd="0" destOrd="0" presId="urn:microsoft.com/office/officeart/2011/layout/CircleProcess"/>
    <dgm:cxn modelId="{A9246ACE-2913-42E9-A55C-5F31505BBB3D}" srcId="{17AAE653-A783-4BFB-8C27-40CDEEEAE558}" destId="{C37761CF-3E15-4328-9F4C-99E17F931CD3}" srcOrd="2" destOrd="0" parTransId="{C7878377-6163-41A3-85D7-6CA7B43F0475}" sibTransId="{60D9FAE7-1E8B-4428-8A5E-D8626C6C0244}"/>
    <dgm:cxn modelId="{5FFB25F2-C98A-4E05-BD56-E5C02AEE48B5}" type="presOf" srcId="{06D55EDD-AC62-48B3-90FA-C8F1C30353AA}" destId="{465BCEC6-4279-4F6C-9124-11B66049930F}" srcOrd="0" destOrd="0" presId="urn:microsoft.com/office/officeart/2011/layout/CircleProcess"/>
    <dgm:cxn modelId="{06C031F7-A3AA-4F63-87C3-C324CF1D9023}" srcId="{17AAE653-A783-4BFB-8C27-40CDEEEAE558}" destId="{06D55EDD-AC62-48B3-90FA-C8F1C30353AA}" srcOrd="1" destOrd="0" parTransId="{99E4E40D-0309-46E1-B827-C293E92FE1D3}" sibTransId="{33E39BAB-3B11-4A89-84A0-B96D1C7D994E}"/>
    <dgm:cxn modelId="{7C8FD766-9E07-4815-A30F-799B5F9B5D51}" type="presParOf" srcId="{45901807-83D1-40DA-BDFA-B7959D3287ED}" destId="{1E12D9D9-B67A-4B8D-80F8-FACCE3312FC9}" srcOrd="0" destOrd="0" presId="urn:microsoft.com/office/officeart/2011/layout/CircleProcess"/>
    <dgm:cxn modelId="{72312D3D-AEAB-4CB8-A579-7CA3C66667A7}" type="presParOf" srcId="{1E12D9D9-B67A-4B8D-80F8-FACCE3312FC9}" destId="{1E1A0BFA-2671-4F29-BD47-A6550BEBDD6C}" srcOrd="0" destOrd="0" presId="urn:microsoft.com/office/officeart/2011/layout/CircleProcess"/>
    <dgm:cxn modelId="{B277AFF1-FB53-4A25-A47C-2C9C5C8F2E28}" type="presParOf" srcId="{45901807-83D1-40DA-BDFA-B7959D3287ED}" destId="{A5F92E5F-3EC9-4901-AC5E-C58372982685}" srcOrd="1" destOrd="0" presId="urn:microsoft.com/office/officeart/2011/layout/CircleProcess"/>
    <dgm:cxn modelId="{3E319518-3B7E-45FB-8F24-F922F16D4BE9}" type="presParOf" srcId="{A5F92E5F-3EC9-4901-AC5E-C58372982685}" destId="{3230CC73-91A0-47D5-BDBA-8C9A65D70EBC}" srcOrd="0" destOrd="0" presId="urn:microsoft.com/office/officeart/2011/layout/CircleProcess"/>
    <dgm:cxn modelId="{B12D1F96-7AC2-4217-80CA-D69BBB0654C6}" type="presParOf" srcId="{45901807-83D1-40DA-BDFA-B7959D3287ED}" destId="{37334C7A-7706-4B1C-A31E-EF8A35FDD9A2}" srcOrd="2" destOrd="0" presId="urn:microsoft.com/office/officeart/2011/layout/CircleProcess"/>
    <dgm:cxn modelId="{6645C1AF-B458-48A8-B4D3-CA72AA15B980}" type="presParOf" srcId="{45901807-83D1-40DA-BDFA-B7959D3287ED}" destId="{C0475AF0-A6B1-43EE-9DCC-1EC8735EA46C}" srcOrd="3" destOrd="0" presId="urn:microsoft.com/office/officeart/2011/layout/CircleProcess"/>
    <dgm:cxn modelId="{81BC4A3E-BBDA-438D-B964-E0D2183D8F92}" type="presParOf" srcId="{C0475AF0-A6B1-43EE-9DCC-1EC8735EA46C}" destId="{6A944D94-2C83-4034-B41C-C404330FF6C3}" srcOrd="0" destOrd="0" presId="urn:microsoft.com/office/officeart/2011/layout/CircleProcess"/>
    <dgm:cxn modelId="{0D0CD031-8131-42FC-B709-4C75BF676788}" type="presParOf" srcId="{45901807-83D1-40DA-BDFA-B7959D3287ED}" destId="{6985293B-919D-412E-B5C7-9CA557B50FAA}" srcOrd="4" destOrd="0" presId="urn:microsoft.com/office/officeart/2011/layout/CircleProcess"/>
    <dgm:cxn modelId="{DC60B6D5-C5B5-42B5-81BA-2916A5BBFDBA}" type="presParOf" srcId="{6985293B-919D-412E-B5C7-9CA557B50FAA}" destId="{6235F0C3-92C7-46B0-BE29-F1BBC99D16EF}" srcOrd="0" destOrd="0" presId="urn:microsoft.com/office/officeart/2011/layout/CircleProcess"/>
    <dgm:cxn modelId="{176E94C3-18C2-4F6D-AC8A-B3ACFF2843F7}" type="presParOf" srcId="{45901807-83D1-40DA-BDFA-B7959D3287ED}" destId="{A51C9C0E-C9CA-41DC-9BE4-12826472E5C7}" srcOrd="5" destOrd="0" presId="urn:microsoft.com/office/officeart/2011/layout/CircleProcess"/>
    <dgm:cxn modelId="{626E5835-EB7D-4A23-8217-9E1E385BBDE3}" type="presParOf" srcId="{45901807-83D1-40DA-BDFA-B7959D3287ED}" destId="{48E1E6B7-D9A6-4D14-9A01-FE28AC839092}" srcOrd="6" destOrd="0" presId="urn:microsoft.com/office/officeart/2011/layout/CircleProcess"/>
    <dgm:cxn modelId="{F2D93449-8026-4361-8F0F-1B7BE1DD9E63}" type="presParOf" srcId="{48E1E6B7-D9A6-4D14-9A01-FE28AC839092}" destId="{58A195D0-2D03-46B3-8CF6-B207C90B978E}" srcOrd="0" destOrd="0" presId="urn:microsoft.com/office/officeart/2011/layout/CircleProcess"/>
    <dgm:cxn modelId="{CCE7E2FA-5F7E-4834-A00B-768080D5E7C4}" type="presParOf" srcId="{45901807-83D1-40DA-BDFA-B7959D3287ED}" destId="{23FF8077-80CE-40F4-A497-AECF9DEED38A}" srcOrd="7" destOrd="0" presId="urn:microsoft.com/office/officeart/2011/layout/CircleProcess"/>
    <dgm:cxn modelId="{78235C14-EDCA-4EDE-BE94-83CC57438856}" type="presParOf" srcId="{23FF8077-80CE-40F4-A497-AECF9DEED38A}" destId="{465BCEC6-4279-4F6C-9124-11B66049930F}" srcOrd="0" destOrd="0" presId="urn:microsoft.com/office/officeart/2011/layout/CircleProcess"/>
    <dgm:cxn modelId="{808529FB-0C66-4738-95B2-0BB5B70CBE4D}" type="presParOf" srcId="{45901807-83D1-40DA-BDFA-B7959D3287ED}" destId="{7B703030-55FB-464A-9A72-F4C1DA46D847}" srcOrd="8" destOrd="0" presId="urn:microsoft.com/office/officeart/2011/layout/CircleProcess"/>
    <dgm:cxn modelId="{CB3FDF26-003A-4739-8AEB-5DF298470B3E}" type="presParOf" srcId="{45901807-83D1-40DA-BDFA-B7959D3287ED}" destId="{9C8E7A91-173C-4C80-9678-E998389E837C}" srcOrd="9" destOrd="0" presId="urn:microsoft.com/office/officeart/2011/layout/CircleProcess"/>
    <dgm:cxn modelId="{36058B14-DE2E-4010-8086-EC55AB6E6014}" type="presParOf" srcId="{9C8E7A91-173C-4C80-9678-E998389E837C}" destId="{1E6F4E47-3D2E-427C-BBED-A26721C22614}" srcOrd="0" destOrd="0" presId="urn:microsoft.com/office/officeart/2011/layout/CircleProcess"/>
    <dgm:cxn modelId="{CEF812AE-9A03-4887-9834-F3C52C097A41}" type="presParOf" srcId="{45901807-83D1-40DA-BDFA-B7959D3287ED}" destId="{33A92F8C-19E8-4D8D-A89A-3F740067005D}" srcOrd="10" destOrd="0" presId="urn:microsoft.com/office/officeart/2011/layout/CircleProcess"/>
    <dgm:cxn modelId="{3DB9D67B-CDBB-4FC1-BDF9-06FE8AE8574D}" type="presParOf" srcId="{33A92F8C-19E8-4D8D-A89A-3F740067005D}" destId="{BE43CDB9-E15A-41F0-84EA-2D9CE8E86DC0}" srcOrd="0" destOrd="0" presId="urn:microsoft.com/office/officeart/2011/layout/CircleProcess"/>
    <dgm:cxn modelId="{6E9CC18E-239A-4550-B198-8C7199D82556}" type="presParOf" srcId="{45901807-83D1-40DA-BDFA-B7959D3287ED}" destId="{92EF6C08-B547-43B0-A0DF-0EAC5B66DFAD}"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852D07A-E596-4FD1-BEEF-1F783E9B0667}" type="doc">
      <dgm:prSet loTypeId="urn:diagrams.loki3.com/BracketList" loCatId="list" qsTypeId="urn:microsoft.com/office/officeart/2005/8/quickstyle/simple1" qsCatId="simple" csTypeId="urn:microsoft.com/office/officeart/2005/8/colors/accent1_2" csCatId="accent1" phldr="1"/>
      <dgm:spPr/>
      <dgm:t>
        <a:bodyPr/>
        <a:lstStyle/>
        <a:p>
          <a:endParaRPr lang="en-CA"/>
        </a:p>
      </dgm:t>
    </dgm:pt>
    <dgm:pt modelId="{34076152-0B62-40AC-BCA3-F95E5769946F}">
      <dgm:prSet phldrT="[Text]" phldr="0"/>
      <dgm:spPr/>
      <dgm:t>
        <a:bodyPr/>
        <a:lstStyle/>
        <a:p>
          <a:r>
            <a:rPr lang="en-CA" b="1" dirty="0">
              <a:latin typeface="Arial" panose="020B0604020202020204" pitchFamily="34" charset="0"/>
              <a:cs typeface="Arial" panose="020B0604020202020204" pitchFamily="34" charset="0"/>
            </a:rPr>
            <a:t>Why They Matter</a:t>
          </a:r>
        </a:p>
      </dgm:t>
    </dgm:pt>
    <dgm:pt modelId="{75B3243A-554F-4C81-927D-0AE2864F213E}" type="parTrans" cxnId="{C09BD384-BCC0-45F5-BAD1-9264A6357306}">
      <dgm:prSet/>
      <dgm:spPr/>
      <dgm:t>
        <a:bodyPr/>
        <a:lstStyle/>
        <a:p>
          <a:endParaRPr lang="en-CA"/>
        </a:p>
      </dgm:t>
    </dgm:pt>
    <dgm:pt modelId="{DD5CFFE6-BB80-4B45-A6A1-B5B225DA0E79}" type="sibTrans" cxnId="{C09BD384-BCC0-45F5-BAD1-9264A6357306}">
      <dgm:prSet/>
      <dgm:spPr/>
      <dgm:t>
        <a:bodyPr/>
        <a:lstStyle/>
        <a:p>
          <a:endParaRPr lang="en-CA"/>
        </a:p>
      </dgm:t>
    </dgm:pt>
    <dgm:pt modelId="{F313D1D5-E236-4140-B43D-E8C61B35888F}">
      <dgm:prSet phldrT="[Text]"/>
      <dgm:spPr>
        <a:solidFill>
          <a:schemeClr val="accent5">
            <a:lumMod val="50000"/>
          </a:schemeClr>
        </a:solidFill>
      </dgm:spPr>
      <dgm:t>
        <a:bodyPr/>
        <a:lstStyle/>
        <a:p>
          <a:pPr>
            <a:buFont typeface="Arial" panose="020B0604020202020204" pitchFamily="34" charset="0"/>
            <a:buChar char="•"/>
          </a:pPr>
          <a:r>
            <a:rPr lang="en-US" b="0" dirty="0">
              <a:latin typeface="Arial" panose="020B0604020202020204" pitchFamily="34" charset="0"/>
              <a:cs typeface="Arial" panose="020B0604020202020204" pitchFamily="34" charset="0"/>
            </a:rPr>
            <a:t>Healthcare uses many data types — text, images, sounds, and labs.</a:t>
          </a:r>
          <a:endParaRPr lang="en-CA" b="0" dirty="0">
            <a:latin typeface="Arial" panose="020B0604020202020204" pitchFamily="34" charset="0"/>
            <a:cs typeface="Arial" panose="020B0604020202020204" pitchFamily="34" charset="0"/>
          </a:endParaRPr>
        </a:p>
      </dgm:t>
    </dgm:pt>
    <dgm:pt modelId="{E501524C-41B7-4CA6-9C9B-1068F9FF9155}" type="parTrans" cxnId="{C0E067C0-70B2-4EF4-8047-39E3D210F705}">
      <dgm:prSet/>
      <dgm:spPr/>
      <dgm:t>
        <a:bodyPr/>
        <a:lstStyle/>
        <a:p>
          <a:endParaRPr lang="en-CA"/>
        </a:p>
      </dgm:t>
    </dgm:pt>
    <dgm:pt modelId="{B8D54C5E-743C-475B-B1ED-910C19C4870D}" type="sibTrans" cxnId="{C0E067C0-70B2-4EF4-8047-39E3D210F705}">
      <dgm:prSet/>
      <dgm:spPr/>
      <dgm:t>
        <a:bodyPr/>
        <a:lstStyle/>
        <a:p>
          <a:endParaRPr lang="en-CA"/>
        </a:p>
      </dgm:t>
    </dgm:pt>
    <dgm:pt modelId="{D86FE1BA-B7CC-4847-B444-AC9C52CCD7E1}">
      <dgm:prSet phldrT="[Text]" phldr="0"/>
      <dgm:spPr/>
      <dgm:t>
        <a:bodyPr/>
        <a:lstStyle/>
        <a:p>
          <a:r>
            <a:rPr lang="en-CA" b="1" dirty="0">
              <a:latin typeface="Arial" panose="020B0604020202020204" pitchFamily="34" charset="0"/>
              <a:cs typeface="Arial" panose="020B0604020202020204" pitchFamily="34" charset="0"/>
            </a:rPr>
            <a:t>Key Benefits</a:t>
          </a:r>
        </a:p>
      </dgm:t>
    </dgm:pt>
    <dgm:pt modelId="{E8D191E4-4399-46DD-AFA5-ACBD6908ED95}" type="parTrans" cxnId="{0403A371-A1E4-438E-9459-831D6883FAAF}">
      <dgm:prSet/>
      <dgm:spPr/>
      <dgm:t>
        <a:bodyPr/>
        <a:lstStyle/>
        <a:p>
          <a:endParaRPr lang="en-CA"/>
        </a:p>
      </dgm:t>
    </dgm:pt>
    <dgm:pt modelId="{49387F21-2521-4851-99A9-B832820FD35E}" type="sibTrans" cxnId="{0403A371-A1E4-438E-9459-831D6883FAAF}">
      <dgm:prSet/>
      <dgm:spPr/>
      <dgm:t>
        <a:bodyPr/>
        <a:lstStyle/>
        <a:p>
          <a:endParaRPr lang="en-CA"/>
        </a:p>
      </dgm:t>
    </dgm:pt>
    <dgm:pt modelId="{72A1E7DC-CBB0-4816-BCEB-1933F6BA1A44}">
      <dgm:prSet phldrT="[Text]"/>
      <dgm:spPr>
        <a:solidFill>
          <a:schemeClr val="accent5">
            <a:lumMod val="50000"/>
          </a:schemeClr>
        </a:solidFill>
      </dgm:spPr>
      <dgm:t>
        <a:bodyPr/>
        <a:lstStyle/>
        <a:p>
          <a:pPr>
            <a:buFont typeface="Arial" panose="020B0604020202020204" pitchFamily="34" charset="0"/>
            <a:buChar char="•"/>
          </a:pPr>
          <a:r>
            <a:rPr lang="en-US" b="0" dirty="0">
              <a:latin typeface="Arial" panose="020B0604020202020204" pitchFamily="34" charset="0"/>
              <a:cs typeface="Arial" panose="020B0604020202020204" pitchFamily="34" charset="0"/>
            </a:rPr>
            <a:t>Boost diagnostic accuracy and clinical efficiency</a:t>
          </a:r>
          <a:endParaRPr lang="en-CA" b="0" dirty="0">
            <a:latin typeface="Arial" panose="020B0604020202020204" pitchFamily="34" charset="0"/>
            <a:cs typeface="Arial" panose="020B0604020202020204" pitchFamily="34" charset="0"/>
          </a:endParaRPr>
        </a:p>
      </dgm:t>
    </dgm:pt>
    <dgm:pt modelId="{9C7E1A0C-33E0-4986-A27B-2660D3F6ADFC}" type="parTrans" cxnId="{2968E807-3EB8-4BF8-B630-A8540EC43639}">
      <dgm:prSet/>
      <dgm:spPr/>
      <dgm:t>
        <a:bodyPr/>
        <a:lstStyle/>
        <a:p>
          <a:endParaRPr lang="en-CA"/>
        </a:p>
      </dgm:t>
    </dgm:pt>
    <dgm:pt modelId="{A1280C0F-1A45-44FC-B674-22AB3B2A5177}" type="sibTrans" cxnId="{2968E807-3EB8-4BF8-B630-A8540EC43639}">
      <dgm:prSet/>
      <dgm:spPr/>
      <dgm:t>
        <a:bodyPr/>
        <a:lstStyle/>
        <a:p>
          <a:endParaRPr lang="en-CA"/>
        </a:p>
      </dgm:t>
    </dgm:pt>
    <dgm:pt modelId="{4494DD91-03F6-4585-9336-64C64E25BA09}">
      <dgm:prSet/>
      <dgm:spPr>
        <a:solidFill>
          <a:schemeClr val="accent5">
            <a:lumMod val="50000"/>
          </a:schemeClr>
        </a:solidFill>
      </dgm:spPr>
      <dgm:t>
        <a:bodyPr/>
        <a:lstStyle/>
        <a:p>
          <a:pPr>
            <a:buFont typeface="Arial" panose="020B0604020202020204" pitchFamily="34" charset="0"/>
            <a:buChar char="•"/>
          </a:pPr>
          <a:r>
            <a:rPr lang="en-US" b="0" dirty="0">
              <a:latin typeface="Arial" panose="020B0604020202020204" pitchFamily="34" charset="0"/>
              <a:cs typeface="Arial" panose="020B0604020202020204" pitchFamily="34" charset="0"/>
            </a:rPr>
            <a:t>MLLMs unify these for smarter, context-aware analysis and decision support.</a:t>
          </a:r>
        </a:p>
      </dgm:t>
    </dgm:pt>
    <dgm:pt modelId="{0BEDAA43-9A50-4ED1-BF0B-6E527AA73D91}" type="sibTrans" cxnId="{95447C83-D7B3-4B24-9239-DBA43D08E360}">
      <dgm:prSet/>
      <dgm:spPr/>
      <dgm:t>
        <a:bodyPr/>
        <a:lstStyle/>
        <a:p>
          <a:endParaRPr lang="en-CA"/>
        </a:p>
      </dgm:t>
    </dgm:pt>
    <dgm:pt modelId="{05490BE8-A762-4B2B-8576-D06DFBD3C8ED}" type="parTrans" cxnId="{95447C83-D7B3-4B24-9239-DBA43D08E360}">
      <dgm:prSet/>
      <dgm:spPr/>
      <dgm:t>
        <a:bodyPr/>
        <a:lstStyle/>
        <a:p>
          <a:endParaRPr lang="en-CA"/>
        </a:p>
      </dgm:t>
    </dgm:pt>
    <dgm:pt modelId="{826F026D-33F8-48E8-9024-09CABD408A13}">
      <dgm:prSet/>
      <dgm:spPr>
        <a:solidFill>
          <a:schemeClr val="accent5">
            <a:lumMod val="50000"/>
          </a:schemeClr>
        </a:solidFill>
      </dgm:spPr>
      <dgm:t>
        <a:bodyPr/>
        <a:lstStyle/>
        <a:p>
          <a:pPr>
            <a:buFont typeface="Arial" panose="020B0604020202020204" pitchFamily="34" charset="0"/>
            <a:buChar char="•"/>
          </a:pPr>
          <a:r>
            <a:rPr lang="en-US" b="0" dirty="0">
              <a:latin typeface="Arial" panose="020B0604020202020204" pitchFamily="34" charset="0"/>
              <a:cs typeface="Arial" panose="020B0604020202020204" pitchFamily="34" charset="0"/>
            </a:rPr>
            <a:t>Cut administrative workload through automation</a:t>
          </a:r>
        </a:p>
      </dgm:t>
    </dgm:pt>
    <dgm:pt modelId="{80BA26F2-0024-4B8D-8CEC-4E3A438B74C1}" type="parTrans" cxnId="{724830D6-AE34-4E2C-A1A7-F5407995F0C8}">
      <dgm:prSet/>
      <dgm:spPr/>
      <dgm:t>
        <a:bodyPr/>
        <a:lstStyle/>
        <a:p>
          <a:endParaRPr lang="en-CA"/>
        </a:p>
      </dgm:t>
    </dgm:pt>
    <dgm:pt modelId="{D3771865-6C6B-4A48-AD72-5E25AAFEF09A}" type="sibTrans" cxnId="{724830D6-AE34-4E2C-A1A7-F5407995F0C8}">
      <dgm:prSet/>
      <dgm:spPr/>
      <dgm:t>
        <a:bodyPr/>
        <a:lstStyle/>
        <a:p>
          <a:endParaRPr lang="en-CA"/>
        </a:p>
      </dgm:t>
    </dgm:pt>
    <dgm:pt modelId="{A5ED40C4-BA6F-4CC2-AD2C-EA8286835ADF}">
      <dgm:prSet/>
      <dgm:spPr>
        <a:solidFill>
          <a:schemeClr val="accent5">
            <a:lumMod val="50000"/>
          </a:schemeClr>
        </a:solidFill>
      </dgm:spPr>
      <dgm:t>
        <a:bodyPr/>
        <a:lstStyle/>
        <a:p>
          <a:pPr>
            <a:buFont typeface="Arial" panose="020B0604020202020204" pitchFamily="34" charset="0"/>
            <a:buChar char="•"/>
          </a:pPr>
          <a:r>
            <a:rPr lang="en-CA" b="0" dirty="0">
              <a:latin typeface="Arial" panose="020B0604020202020204" pitchFamily="34" charset="0"/>
              <a:cs typeface="Arial" panose="020B0604020202020204" pitchFamily="34" charset="0"/>
            </a:rPr>
            <a:t>Enable multilingual &amp; multimodal communication</a:t>
          </a:r>
        </a:p>
      </dgm:t>
    </dgm:pt>
    <dgm:pt modelId="{754B1828-6202-444E-9C71-2D1E0FBF69AC}" type="parTrans" cxnId="{0952D7E3-A412-473C-9052-C38AC2DBD2CE}">
      <dgm:prSet/>
      <dgm:spPr/>
      <dgm:t>
        <a:bodyPr/>
        <a:lstStyle/>
        <a:p>
          <a:endParaRPr lang="en-CA"/>
        </a:p>
      </dgm:t>
    </dgm:pt>
    <dgm:pt modelId="{367AC1D1-7E20-496A-B2E3-3C15C5F2BC44}" type="sibTrans" cxnId="{0952D7E3-A412-473C-9052-C38AC2DBD2CE}">
      <dgm:prSet/>
      <dgm:spPr/>
      <dgm:t>
        <a:bodyPr/>
        <a:lstStyle/>
        <a:p>
          <a:endParaRPr lang="en-CA"/>
        </a:p>
      </dgm:t>
    </dgm:pt>
    <dgm:pt modelId="{8F35BC99-5208-4B9F-9E74-0DBBDB0D662A}">
      <dgm:prSet/>
      <dgm:spPr>
        <a:solidFill>
          <a:schemeClr val="accent5">
            <a:lumMod val="50000"/>
          </a:schemeClr>
        </a:solidFill>
      </dgm:spPr>
      <dgm:t>
        <a:bodyPr/>
        <a:lstStyle/>
        <a:p>
          <a:pPr>
            <a:buFont typeface="Arial" panose="020B0604020202020204" pitchFamily="34" charset="0"/>
            <a:buChar char="•"/>
          </a:pPr>
          <a:r>
            <a:rPr lang="en-US" b="0" dirty="0">
              <a:latin typeface="Arial" panose="020B0604020202020204" pitchFamily="34" charset="0"/>
              <a:cs typeface="Arial" panose="020B0604020202020204" pitchFamily="34" charset="0"/>
            </a:rPr>
            <a:t>Improve data integration across systems</a:t>
          </a:r>
        </a:p>
      </dgm:t>
    </dgm:pt>
    <dgm:pt modelId="{72253C17-0D78-41E2-94AA-5AC4954EAA97}" type="parTrans" cxnId="{B89F6FA1-6F51-4543-AF96-3E75A5E5D409}">
      <dgm:prSet/>
      <dgm:spPr/>
      <dgm:t>
        <a:bodyPr/>
        <a:lstStyle/>
        <a:p>
          <a:endParaRPr lang="en-CA"/>
        </a:p>
      </dgm:t>
    </dgm:pt>
    <dgm:pt modelId="{A9F738E2-6143-4891-8E87-9EDD4D8FEE6B}" type="sibTrans" cxnId="{B89F6FA1-6F51-4543-AF96-3E75A5E5D409}">
      <dgm:prSet/>
      <dgm:spPr/>
      <dgm:t>
        <a:bodyPr/>
        <a:lstStyle/>
        <a:p>
          <a:endParaRPr lang="en-CA"/>
        </a:p>
      </dgm:t>
    </dgm:pt>
    <dgm:pt modelId="{30D60D19-13DD-43AB-A3E7-2ACD88B54133}" type="pres">
      <dgm:prSet presAssocID="{C852D07A-E596-4FD1-BEEF-1F783E9B0667}" presName="Name0" presStyleCnt="0">
        <dgm:presLayoutVars>
          <dgm:dir/>
          <dgm:animLvl val="lvl"/>
          <dgm:resizeHandles val="exact"/>
        </dgm:presLayoutVars>
      </dgm:prSet>
      <dgm:spPr/>
    </dgm:pt>
    <dgm:pt modelId="{C3D883DC-D9AD-4410-9EB8-B34DAE4C8FFD}" type="pres">
      <dgm:prSet presAssocID="{34076152-0B62-40AC-BCA3-F95E5769946F}" presName="linNode" presStyleCnt="0"/>
      <dgm:spPr/>
    </dgm:pt>
    <dgm:pt modelId="{FEFE27B5-D77F-4C6E-83B4-C4FA7FCA88A5}" type="pres">
      <dgm:prSet presAssocID="{34076152-0B62-40AC-BCA3-F95E5769946F}" presName="parTx" presStyleLbl="revTx" presStyleIdx="0" presStyleCnt="2">
        <dgm:presLayoutVars>
          <dgm:chMax val="1"/>
          <dgm:bulletEnabled val="1"/>
        </dgm:presLayoutVars>
      </dgm:prSet>
      <dgm:spPr/>
    </dgm:pt>
    <dgm:pt modelId="{14924A4E-D99E-4ACA-926B-D8B513235657}" type="pres">
      <dgm:prSet presAssocID="{34076152-0B62-40AC-BCA3-F95E5769946F}" presName="bracket" presStyleLbl="parChTrans1D1" presStyleIdx="0" presStyleCnt="2"/>
      <dgm:spPr/>
    </dgm:pt>
    <dgm:pt modelId="{3DDCDC55-B268-401A-B622-55F6A97A1E47}" type="pres">
      <dgm:prSet presAssocID="{34076152-0B62-40AC-BCA3-F95E5769946F}" presName="spH" presStyleCnt="0"/>
      <dgm:spPr/>
    </dgm:pt>
    <dgm:pt modelId="{96FD9252-01FF-4315-92BD-53DE3D412196}" type="pres">
      <dgm:prSet presAssocID="{34076152-0B62-40AC-BCA3-F95E5769946F}" presName="desTx" presStyleLbl="node1" presStyleIdx="0" presStyleCnt="2" custScaleX="113193" custScaleY="107711">
        <dgm:presLayoutVars>
          <dgm:bulletEnabled val="1"/>
        </dgm:presLayoutVars>
      </dgm:prSet>
      <dgm:spPr/>
    </dgm:pt>
    <dgm:pt modelId="{3BAE347E-4A5F-4E75-907B-20258CB3502F}" type="pres">
      <dgm:prSet presAssocID="{DD5CFFE6-BB80-4B45-A6A1-B5B225DA0E79}" presName="spV" presStyleCnt="0"/>
      <dgm:spPr/>
    </dgm:pt>
    <dgm:pt modelId="{CFA23BEF-F962-429F-BE9C-CE773D2FF4CE}" type="pres">
      <dgm:prSet presAssocID="{D86FE1BA-B7CC-4847-B444-AC9C52CCD7E1}" presName="linNode" presStyleCnt="0"/>
      <dgm:spPr/>
    </dgm:pt>
    <dgm:pt modelId="{3CC35610-B8C6-4CC4-AA65-DCE25222153A}" type="pres">
      <dgm:prSet presAssocID="{D86FE1BA-B7CC-4847-B444-AC9C52CCD7E1}" presName="parTx" presStyleLbl="revTx" presStyleIdx="1" presStyleCnt="2">
        <dgm:presLayoutVars>
          <dgm:chMax val="1"/>
          <dgm:bulletEnabled val="1"/>
        </dgm:presLayoutVars>
      </dgm:prSet>
      <dgm:spPr/>
    </dgm:pt>
    <dgm:pt modelId="{361B5041-85D6-4961-9A3A-11698EF1B99F}" type="pres">
      <dgm:prSet presAssocID="{D86FE1BA-B7CC-4847-B444-AC9C52CCD7E1}" presName="bracket" presStyleLbl="parChTrans1D1" presStyleIdx="1" presStyleCnt="2"/>
      <dgm:spPr/>
    </dgm:pt>
    <dgm:pt modelId="{6C9CE655-42E2-4898-BC25-92D72567E135}" type="pres">
      <dgm:prSet presAssocID="{D86FE1BA-B7CC-4847-B444-AC9C52CCD7E1}" presName="spH" presStyleCnt="0"/>
      <dgm:spPr/>
    </dgm:pt>
    <dgm:pt modelId="{11524806-D1A6-43B2-BDB7-20BA383E2DE9}" type="pres">
      <dgm:prSet presAssocID="{D86FE1BA-B7CC-4847-B444-AC9C52CCD7E1}" presName="desTx" presStyleLbl="node1" presStyleIdx="1" presStyleCnt="2" custScaleX="115409" custScaleY="112125">
        <dgm:presLayoutVars>
          <dgm:bulletEnabled val="1"/>
        </dgm:presLayoutVars>
      </dgm:prSet>
      <dgm:spPr/>
    </dgm:pt>
  </dgm:ptLst>
  <dgm:cxnLst>
    <dgm:cxn modelId="{02AE1B00-CE3A-4D50-8D74-CE475CF3E788}" type="presOf" srcId="{F313D1D5-E236-4140-B43D-E8C61B35888F}" destId="{96FD9252-01FF-4315-92BD-53DE3D412196}" srcOrd="0" destOrd="0" presId="urn:diagrams.loki3.com/BracketList"/>
    <dgm:cxn modelId="{2968E807-3EB8-4BF8-B630-A8540EC43639}" srcId="{D86FE1BA-B7CC-4847-B444-AC9C52CCD7E1}" destId="{72A1E7DC-CBB0-4816-BCEB-1933F6BA1A44}" srcOrd="0" destOrd="0" parTransId="{9C7E1A0C-33E0-4986-A27B-2660D3F6ADFC}" sibTransId="{A1280C0F-1A45-44FC-B674-22AB3B2A5177}"/>
    <dgm:cxn modelId="{6136A057-EDF7-4EF7-8D6D-2084994A627D}" type="presOf" srcId="{D86FE1BA-B7CC-4847-B444-AC9C52CCD7E1}" destId="{3CC35610-B8C6-4CC4-AA65-DCE25222153A}" srcOrd="0" destOrd="0" presId="urn:diagrams.loki3.com/BracketList"/>
    <dgm:cxn modelId="{0403A371-A1E4-438E-9459-831D6883FAAF}" srcId="{C852D07A-E596-4FD1-BEEF-1F783E9B0667}" destId="{D86FE1BA-B7CC-4847-B444-AC9C52CCD7E1}" srcOrd="1" destOrd="0" parTransId="{E8D191E4-4399-46DD-AFA5-ACBD6908ED95}" sibTransId="{49387F21-2521-4851-99A9-B832820FD35E}"/>
    <dgm:cxn modelId="{755E2576-5316-4549-BABD-275CFD34C84D}" type="presOf" srcId="{C852D07A-E596-4FD1-BEEF-1F783E9B0667}" destId="{30D60D19-13DD-43AB-A3E7-2ACD88B54133}" srcOrd="0" destOrd="0" presId="urn:diagrams.loki3.com/BracketList"/>
    <dgm:cxn modelId="{95447C83-D7B3-4B24-9239-DBA43D08E360}" srcId="{34076152-0B62-40AC-BCA3-F95E5769946F}" destId="{4494DD91-03F6-4585-9336-64C64E25BA09}" srcOrd="1" destOrd="0" parTransId="{05490BE8-A762-4B2B-8576-D06DFBD3C8ED}" sibTransId="{0BEDAA43-9A50-4ED1-BF0B-6E527AA73D91}"/>
    <dgm:cxn modelId="{C09BD384-BCC0-45F5-BAD1-9264A6357306}" srcId="{C852D07A-E596-4FD1-BEEF-1F783E9B0667}" destId="{34076152-0B62-40AC-BCA3-F95E5769946F}" srcOrd="0" destOrd="0" parTransId="{75B3243A-554F-4C81-927D-0AE2864F213E}" sibTransId="{DD5CFFE6-BB80-4B45-A6A1-B5B225DA0E79}"/>
    <dgm:cxn modelId="{B4585C95-7B90-4DFF-8B24-78060114C5E0}" type="presOf" srcId="{4494DD91-03F6-4585-9336-64C64E25BA09}" destId="{96FD9252-01FF-4315-92BD-53DE3D412196}" srcOrd="0" destOrd="1" presId="urn:diagrams.loki3.com/BracketList"/>
    <dgm:cxn modelId="{5CF02F99-1976-4684-B258-1A93EBFF14F9}" type="presOf" srcId="{72A1E7DC-CBB0-4816-BCEB-1933F6BA1A44}" destId="{11524806-D1A6-43B2-BDB7-20BA383E2DE9}" srcOrd="0" destOrd="0" presId="urn:diagrams.loki3.com/BracketList"/>
    <dgm:cxn modelId="{B89F6FA1-6F51-4543-AF96-3E75A5E5D409}" srcId="{D86FE1BA-B7CC-4847-B444-AC9C52CCD7E1}" destId="{8F35BC99-5208-4B9F-9E74-0DBBDB0D662A}" srcOrd="3" destOrd="0" parTransId="{72253C17-0D78-41E2-94AA-5AC4954EAA97}" sibTransId="{A9F738E2-6143-4891-8E87-9EDD4D8FEE6B}"/>
    <dgm:cxn modelId="{F3E874AF-DF23-4603-B819-0B64ADA7D4EC}" type="presOf" srcId="{826F026D-33F8-48E8-9024-09CABD408A13}" destId="{11524806-D1A6-43B2-BDB7-20BA383E2DE9}" srcOrd="0" destOrd="1" presId="urn:diagrams.loki3.com/BracketList"/>
    <dgm:cxn modelId="{C0E067C0-70B2-4EF4-8047-39E3D210F705}" srcId="{34076152-0B62-40AC-BCA3-F95E5769946F}" destId="{F313D1D5-E236-4140-B43D-E8C61B35888F}" srcOrd="0" destOrd="0" parTransId="{E501524C-41B7-4CA6-9C9B-1068F9FF9155}" sibTransId="{B8D54C5E-743C-475B-B1ED-910C19C4870D}"/>
    <dgm:cxn modelId="{0AFCB2C1-34E3-432A-8079-969A54541C53}" type="presOf" srcId="{8F35BC99-5208-4B9F-9E74-0DBBDB0D662A}" destId="{11524806-D1A6-43B2-BDB7-20BA383E2DE9}" srcOrd="0" destOrd="3" presId="urn:diagrams.loki3.com/BracketList"/>
    <dgm:cxn modelId="{3AA7A1CC-9CEB-4EA8-8B65-F2CE8D42A8CE}" type="presOf" srcId="{A5ED40C4-BA6F-4CC2-AD2C-EA8286835ADF}" destId="{11524806-D1A6-43B2-BDB7-20BA383E2DE9}" srcOrd="0" destOrd="2" presId="urn:diagrams.loki3.com/BracketList"/>
    <dgm:cxn modelId="{724830D6-AE34-4E2C-A1A7-F5407995F0C8}" srcId="{D86FE1BA-B7CC-4847-B444-AC9C52CCD7E1}" destId="{826F026D-33F8-48E8-9024-09CABD408A13}" srcOrd="1" destOrd="0" parTransId="{80BA26F2-0024-4B8D-8CEC-4E3A438B74C1}" sibTransId="{D3771865-6C6B-4A48-AD72-5E25AAFEF09A}"/>
    <dgm:cxn modelId="{04B053D6-9BCA-4BFD-B617-FC15EBA6DD3B}" type="presOf" srcId="{34076152-0B62-40AC-BCA3-F95E5769946F}" destId="{FEFE27B5-D77F-4C6E-83B4-C4FA7FCA88A5}" srcOrd="0" destOrd="0" presId="urn:diagrams.loki3.com/BracketList"/>
    <dgm:cxn modelId="{0952D7E3-A412-473C-9052-C38AC2DBD2CE}" srcId="{D86FE1BA-B7CC-4847-B444-AC9C52CCD7E1}" destId="{A5ED40C4-BA6F-4CC2-AD2C-EA8286835ADF}" srcOrd="2" destOrd="0" parTransId="{754B1828-6202-444E-9C71-2D1E0FBF69AC}" sibTransId="{367AC1D1-7E20-496A-B2E3-3C15C5F2BC44}"/>
    <dgm:cxn modelId="{C26BC978-ABB7-4CE7-AD43-1D97C93E493B}" type="presParOf" srcId="{30D60D19-13DD-43AB-A3E7-2ACD88B54133}" destId="{C3D883DC-D9AD-4410-9EB8-B34DAE4C8FFD}" srcOrd="0" destOrd="0" presId="urn:diagrams.loki3.com/BracketList"/>
    <dgm:cxn modelId="{7470C8DA-DEC0-476C-8FF8-EC883ACB1085}" type="presParOf" srcId="{C3D883DC-D9AD-4410-9EB8-B34DAE4C8FFD}" destId="{FEFE27B5-D77F-4C6E-83B4-C4FA7FCA88A5}" srcOrd="0" destOrd="0" presId="urn:diagrams.loki3.com/BracketList"/>
    <dgm:cxn modelId="{66912856-0A58-4639-BDFE-6C494BC23A08}" type="presParOf" srcId="{C3D883DC-D9AD-4410-9EB8-B34DAE4C8FFD}" destId="{14924A4E-D99E-4ACA-926B-D8B513235657}" srcOrd="1" destOrd="0" presId="urn:diagrams.loki3.com/BracketList"/>
    <dgm:cxn modelId="{59DDCB2B-DE7B-4147-AAE0-608E055722ED}" type="presParOf" srcId="{C3D883DC-D9AD-4410-9EB8-B34DAE4C8FFD}" destId="{3DDCDC55-B268-401A-B622-55F6A97A1E47}" srcOrd="2" destOrd="0" presId="urn:diagrams.loki3.com/BracketList"/>
    <dgm:cxn modelId="{7B66EBED-F942-4C40-AEC4-DA79BE7F59C9}" type="presParOf" srcId="{C3D883DC-D9AD-4410-9EB8-B34DAE4C8FFD}" destId="{96FD9252-01FF-4315-92BD-53DE3D412196}" srcOrd="3" destOrd="0" presId="urn:diagrams.loki3.com/BracketList"/>
    <dgm:cxn modelId="{CF975652-B11A-46B2-9AA4-3E5CD45571F9}" type="presParOf" srcId="{30D60D19-13DD-43AB-A3E7-2ACD88B54133}" destId="{3BAE347E-4A5F-4E75-907B-20258CB3502F}" srcOrd="1" destOrd="0" presId="urn:diagrams.loki3.com/BracketList"/>
    <dgm:cxn modelId="{5BA20FA2-0107-4EDF-BEFB-ECEB12F62016}" type="presParOf" srcId="{30D60D19-13DD-43AB-A3E7-2ACD88B54133}" destId="{CFA23BEF-F962-429F-BE9C-CE773D2FF4CE}" srcOrd="2" destOrd="0" presId="urn:diagrams.loki3.com/BracketList"/>
    <dgm:cxn modelId="{A7DB6B3C-A356-432D-B0A2-EFC363D36930}" type="presParOf" srcId="{CFA23BEF-F962-429F-BE9C-CE773D2FF4CE}" destId="{3CC35610-B8C6-4CC4-AA65-DCE25222153A}" srcOrd="0" destOrd="0" presId="urn:diagrams.loki3.com/BracketList"/>
    <dgm:cxn modelId="{4B0D464D-21E2-41AC-820E-F9E0A91E237A}" type="presParOf" srcId="{CFA23BEF-F962-429F-BE9C-CE773D2FF4CE}" destId="{361B5041-85D6-4961-9A3A-11698EF1B99F}" srcOrd="1" destOrd="0" presId="urn:diagrams.loki3.com/BracketList"/>
    <dgm:cxn modelId="{1BED5544-4865-4A5A-9D3D-5CB61825C2ED}" type="presParOf" srcId="{CFA23BEF-F962-429F-BE9C-CE773D2FF4CE}" destId="{6C9CE655-42E2-4898-BC25-92D72567E135}" srcOrd="2" destOrd="0" presId="urn:diagrams.loki3.com/BracketList"/>
    <dgm:cxn modelId="{85487357-9236-49E2-812E-5FC8B53B8673}" type="presParOf" srcId="{CFA23BEF-F962-429F-BE9C-CE773D2FF4CE}" destId="{11524806-D1A6-43B2-BDB7-20BA383E2DE9}"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4AC43A-C442-4B10-A00B-9ACADD78EEDB}" type="doc">
      <dgm:prSet loTypeId="urn:microsoft.com/office/officeart/2005/8/layout/vList3" loCatId="picture" qsTypeId="urn:microsoft.com/office/officeart/2005/8/quickstyle/simple1" qsCatId="simple" csTypeId="urn:microsoft.com/office/officeart/2005/8/colors/accent1_2" csCatId="accent1" phldr="1"/>
      <dgm:spPr/>
      <dgm:t>
        <a:bodyPr/>
        <a:lstStyle/>
        <a:p>
          <a:endParaRPr lang="en-CA"/>
        </a:p>
      </dgm:t>
    </dgm:pt>
    <dgm:pt modelId="{9E489841-56B2-4A24-95F1-5A61A5362D62}">
      <dgm:prSet phldrT="[Text]" custT="1"/>
      <dgm:spPr>
        <a:solidFill>
          <a:srgbClr val="002060"/>
        </a:solidFill>
      </dgm:spPr>
      <dgm:t>
        <a:bodyPr/>
        <a:lstStyle/>
        <a:p>
          <a:pPr>
            <a:buNone/>
          </a:pPr>
          <a:r>
            <a:rPr lang="en-CA" sz="2200" b="1" dirty="0">
              <a:latin typeface="Arial" panose="020B0604020202020204" pitchFamily="34" charset="0"/>
              <a:cs typeface="Arial" panose="020B0604020202020204" pitchFamily="34" charset="0"/>
            </a:rPr>
            <a:t>Medical Image Analysis</a:t>
          </a:r>
        </a:p>
        <a:p>
          <a:pPr>
            <a:buNone/>
          </a:pPr>
          <a:r>
            <a:rPr lang="en-US" sz="1800" b="1" dirty="0">
              <a:latin typeface="Arial" panose="020B0604020202020204" pitchFamily="34" charset="0"/>
              <a:cs typeface="Arial" panose="020B0604020202020204" pitchFamily="34" charset="0"/>
            </a:rPr>
            <a:t>Understands and interprets X-rays, MRIs, and CT scans</a:t>
          </a:r>
          <a:r>
            <a:rPr lang="en-CA" sz="1800" dirty="0">
              <a:latin typeface="Arial" panose="020B0604020202020204" pitchFamily="34" charset="0"/>
              <a:cs typeface="Arial" panose="020B0604020202020204" pitchFamily="34" charset="0"/>
            </a:rPr>
            <a:t>	</a:t>
          </a:r>
        </a:p>
      </dgm:t>
    </dgm:pt>
    <dgm:pt modelId="{F655A22C-76C6-49A2-94D3-51AFC2CF6F6C}" type="parTrans" cxnId="{4B0CC12F-9ABA-4D08-81F5-A45E98FB8088}">
      <dgm:prSet/>
      <dgm:spPr/>
      <dgm:t>
        <a:bodyPr/>
        <a:lstStyle/>
        <a:p>
          <a:endParaRPr lang="en-CA"/>
        </a:p>
      </dgm:t>
    </dgm:pt>
    <dgm:pt modelId="{39D7C4E2-75A6-4068-9296-187B1C80D6FC}" type="sibTrans" cxnId="{4B0CC12F-9ABA-4D08-81F5-A45E98FB8088}">
      <dgm:prSet/>
      <dgm:spPr/>
      <dgm:t>
        <a:bodyPr/>
        <a:lstStyle/>
        <a:p>
          <a:endParaRPr lang="en-CA"/>
        </a:p>
      </dgm:t>
    </dgm:pt>
    <dgm:pt modelId="{4895272C-DD12-4168-9827-85CBC57C323D}">
      <dgm:prSet phldrT="[Text]" custT="1"/>
      <dgm:spPr>
        <a:solidFill>
          <a:srgbClr val="002060"/>
        </a:solidFill>
      </dgm:spPr>
      <dgm:t>
        <a:bodyPr/>
        <a:lstStyle/>
        <a:p>
          <a:pPr>
            <a:buNone/>
          </a:pPr>
          <a:r>
            <a:rPr lang="en-CA" sz="2200" b="1" dirty="0">
              <a:latin typeface="Arial" panose="020B0604020202020204" pitchFamily="34" charset="0"/>
              <a:cs typeface="Arial" panose="020B0604020202020204" pitchFamily="34" charset="0"/>
            </a:rPr>
            <a:t>Medical Question Answering</a:t>
          </a:r>
          <a:br>
            <a:rPr lang="en-CA" sz="2200" b="1"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Answers health-related questions and queries</a:t>
          </a:r>
          <a:r>
            <a:rPr lang="en-CA" sz="2200" dirty="0">
              <a:latin typeface="Arial" panose="020B0604020202020204" pitchFamily="34" charset="0"/>
              <a:cs typeface="Arial" panose="020B0604020202020204" pitchFamily="34" charset="0"/>
            </a:rPr>
            <a:t>	</a:t>
          </a:r>
        </a:p>
      </dgm:t>
    </dgm:pt>
    <dgm:pt modelId="{6A66BF49-F1EF-4F63-99AC-F51A5C31047D}" type="parTrans" cxnId="{3BE429D3-FC33-4023-BDDC-9823A34AC8B8}">
      <dgm:prSet/>
      <dgm:spPr/>
      <dgm:t>
        <a:bodyPr/>
        <a:lstStyle/>
        <a:p>
          <a:endParaRPr lang="en-CA"/>
        </a:p>
      </dgm:t>
    </dgm:pt>
    <dgm:pt modelId="{E433A783-855A-49C0-90F8-7347E3FF230A}" type="sibTrans" cxnId="{3BE429D3-FC33-4023-BDDC-9823A34AC8B8}">
      <dgm:prSet/>
      <dgm:spPr/>
      <dgm:t>
        <a:bodyPr/>
        <a:lstStyle/>
        <a:p>
          <a:endParaRPr lang="en-CA"/>
        </a:p>
      </dgm:t>
    </dgm:pt>
    <dgm:pt modelId="{6D4D3B49-8FE7-4EA4-B7E4-39162D3AA8DA}">
      <dgm:prSet phldrT="[Text]" custT="1"/>
      <dgm:spPr>
        <a:solidFill>
          <a:srgbClr val="002060"/>
        </a:solidFill>
      </dgm:spPr>
      <dgm:t>
        <a:bodyPr/>
        <a:lstStyle/>
        <a:p>
          <a:pPr>
            <a:buNone/>
          </a:pPr>
          <a:r>
            <a:rPr lang="en-CA" sz="2200" b="1" dirty="0">
              <a:latin typeface="Arial" panose="020B0604020202020204" pitchFamily="34" charset="0"/>
              <a:cs typeface="Arial" panose="020B0604020202020204" pitchFamily="34" charset="0"/>
            </a:rPr>
            <a:t>Open-Source Flexibility</a:t>
          </a:r>
          <a:br>
            <a:rPr lang="en-CA" sz="2200" b="1"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Customizable and adaptable to local healthcare needs</a:t>
          </a:r>
          <a:r>
            <a:rPr lang="en-CA" sz="2200" dirty="0">
              <a:latin typeface="Arial" panose="020B0604020202020204" pitchFamily="34" charset="0"/>
              <a:cs typeface="Arial" panose="020B0604020202020204" pitchFamily="34" charset="0"/>
            </a:rPr>
            <a:t>	</a:t>
          </a:r>
        </a:p>
      </dgm:t>
    </dgm:pt>
    <dgm:pt modelId="{157DDA99-254B-47EB-B049-0F387FB20234}" type="parTrans" cxnId="{9A36942D-4D9D-40C2-A9AD-32B6C10EF01D}">
      <dgm:prSet/>
      <dgm:spPr/>
      <dgm:t>
        <a:bodyPr/>
        <a:lstStyle/>
        <a:p>
          <a:endParaRPr lang="en-CA"/>
        </a:p>
      </dgm:t>
    </dgm:pt>
    <dgm:pt modelId="{8709C2CC-7FBA-4FE9-9F35-528C46E4883B}" type="sibTrans" cxnId="{9A36942D-4D9D-40C2-A9AD-32B6C10EF01D}">
      <dgm:prSet/>
      <dgm:spPr/>
      <dgm:t>
        <a:bodyPr/>
        <a:lstStyle/>
        <a:p>
          <a:endParaRPr lang="en-CA"/>
        </a:p>
      </dgm:t>
    </dgm:pt>
    <dgm:pt modelId="{77C86231-43B8-4089-BDEE-A25022FA5674}">
      <dgm:prSet phldrT="[Text]" custT="1"/>
      <dgm:spPr>
        <a:solidFill>
          <a:srgbClr val="002060"/>
        </a:solidFill>
      </dgm:spPr>
      <dgm:t>
        <a:bodyPr/>
        <a:lstStyle/>
        <a:p>
          <a:pPr>
            <a:buNone/>
          </a:pPr>
          <a:r>
            <a:rPr lang="en-CA" sz="2200" b="1" dirty="0">
              <a:latin typeface="Arial" panose="020B0604020202020204" pitchFamily="34" charset="0"/>
              <a:cs typeface="Arial" panose="020B0604020202020204" pitchFamily="34" charset="0"/>
            </a:rPr>
            <a:t>Text Summarization</a:t>
          </a:r>
          <a:br>
            <a:rPr lang="en-CA" sz="2200" b="1" dirty="0">
              <a:latin typeface="Arial" panose="020B0604020202020204" pitchFamily="34" charset="0"/>
              <a:cs typeface="Arial" panose="020B0604020202020204" pitchFamily="34" charset="0"/>
            </a:rPr>
          </a:br>
          <a:r>
            <a:rPr lang="en-CA" sz="1800" dirty="0">
              <a:latin typeface="Arial" panose="020B0604020202020204" pitchFamily="34" charset="0"/>
              <a:cs typeface="Arial" panose="020B0604020202020204" pitchFamily="34" charset="0"/>
            </a:rPr>
            <a:t>Summarizes patient records and clinical documents</a:t>
          </a:r>
          <a:r>
            <a:rPr lang="en-CA" sz="2200" dirty="0">
              <a:latin typeface="Arial" panose="020B0604020202020204" pitchFamily="34" charset="0"/>
              <a:cs typeface="Arial" panose="020B0604020202020204" pitchFamily="34" charset="0"/>
            </a:rPr>
            <a:t>	</a:t>
          </a:r>
        </a:p>
      </dgm:t>
    </dgm:pt>
    <dgm:pt modelId="{4B11078D-24AF-4168-87B0-557C6BCC34D7}" type="parTrans" cxnId="{EC6B7917-01A6-4EA0-B9FC-B51C748556CB}">
      <dgm:prSet/>
      <dgm:spPr/>
      <dgm:t>
        <a:bodyPr/>
        <a:lstStyle/>
        <a:p>
          <a:endParaRPr lang="en-CA"/>
        </a:p>
      </dgm:t>
    </dgm:pt>
    <dgm:pt modelId="{C88EFC56-4223-4A40-B7D5-8B1A34C106AD}" type="sibTrans" cxnId="{EC6B7917-01A6-4EA0-B9FC-B51C748556CB}">
      <dgm:prSet/>
      <dgm:spPr/>
      <dgm:t>
        <a:bodyPr/>
        <a:lstStyle/>
        <a:p>
          <a:endParaRPr lang="en-CA"/>
        </a:p>
      </dgm:t>
    </dgm:pt>
    <dgm:pt modelId="{D3715ABF-AADE-41D5-AE2F-75FA4029E00C}" type="pres">
      <dgm:prSet presAssocID="{234AC43A-C442-4B10-A00B-9ACADD78EEDB}" presName="linearFlow" presStyleCnt="0">
        <dgm:presLayoutVars>
          <dgm:dir/>
          <dgm:resizeHandles val="exact"/>
        </dgm:presLayoutVars>
      </dgm:prSet>
      <dgm:spPr/>
    </dgm:pt>
    <dgm:pt modelId="{42A895D3-CA8A-481E-B9DE-0E2568499429}" type="pres">
      <dgm:prSet presAssocID="{9E489841-56B2-4A24-95F1-5A61A5362D62}" presName="composite" presStyleCnt="0"/>
      <dgm:spPr/>
    </dgm:pt>
    <dgm:pt modelId="{0921DB8C-9EFD-4FD3-8B51-CF57B8FBC175}" type="pres">
      <dgm:prSet presAssocID="{9E489841-56B2-4A24-95F1-5A61A5362D62}" presName="imgShp" presStyleLbl="fgImgPlace1" presStyleIdx="0" presStyleCnt="4" custScaleX="41849" custScaleY="45121" custLinFactNeighborX="-63935" custLinFactNeighborY="10677"/>
      <dgm:spPr/>
    </dgm:pt>
    <dgm:pt modelId="{90CDB2B3-608A-447C-86F2-F4EE3FF4C1EB}" type="pres">
      <dgm:prSet presAssocID="{9E489841-56B2-4A24-95F1-5A61A5362D62}" presName="txShp" presStyleLbl="node1" presStyleIdx="0" presStyleCnt="4">
        <dgm:presLayoutVars>
          <dgm:bulletEnabled val="1"/>
        </dgm:presLayoutVars>
      </dgm:prSet>
      <dgm:spPr/>
    </dgm:pt>
    <dgm:pt modelId="{89B13696-BF8A-4DEB-AF04-510CBCACB099}" type="pres">
      <dgm:prSet presAssocID="{39D7C4E2-75A6-4068-9296-187B1C80D6FC}" presName="spacing" presStyleCnt="0"/>
      <dgm:spPr/>
    </dgm:pt>
    <dgm:pt modelId="{C463EBF5-A16A-4982-A4DF-98D097F4B006}" type="pres">
      <dgm:prSet presAssocID="{77C86231-43B8-4089-BDEE-A25022FA5674}" presName="composite" presStyleCnt="0"/>
      <dgm:spPr/>
    </dgm:pt>
    <dgm:pt modelId="{8A896A88-78D1-4323-911C-46E347E267B0}" type="pres">
      <dgm:prSet presAssocID="{77C86231-43B8-4089-BDEE-A25022FA5674}" presName="imgShp" presStyleLbl="fgImgPlace1" presStyleIdx="1" presStyleCnt="4" custScaleX="39481" custScaleY="43055" custLinFactY="-23727" custLinFactNeighborX="-58098" custLinFactNeighborY="-100000"/>
      <dgm:spPr/>
    </dgm:pt>
    <dgm:pt modelId="{16EC055F-4EA5-45C2-BC84-54BCAD82921E}" type="pres">
      <dgm:prSet presAssocID="{77C86231-43B8-4089-BDEE-A25022FA5674}" presName="txShp" presStyleLbl="node1" presStyleIdx="1" presStyleCnt="4">
        <dgm:presLayoutVars>
          <dgm:bulletEnabled val="1"/>
        </dgm:presLayoutVars>
      </dgm:prSet>
      <dgm:spPr/>
    </dgm:pt>
    <dgm:pt modelId="{EA5D41E5-C367-4859-A60D-65E21699D7A6}" type="pres">
      <dgm:prSet presAssocID="{C88EFC56-4223-4A40-B7D5-8B1A34C106AD}" presName="spacing" presStyleCnt="0"/>
      <dgm:spPr/>
    </dgm:pt>
    <dgm:pt modelId="{B9895E6E-01F0-49BB-BF26-3EE93F3B3CAC}" type="pres">
      <dgm:prSet presAssocID="{4895272C-DD12-4168-9827-85CBC57C323D}" presName="composite" presStyleCnt="0"/>
      <dgm:spPr/>
    </dgm:pt>
    <dgm:pt modelId="{50875FDE-1E9B-46D8-A628-BA9651BBC203}" type="pres">
      <dgm:prSet presAssocID="{4895272C-DD12-4168-9827-85CBC57C323D}" presName="imgShp" presStyleLbl="fgImgPlace1" presStyleIdx="2" presStyleCnt="4" custScaleX="36539" custScaleY="53387" custLinFactY="-100000" custLinFactNeighborX="-57509" custLinFactNeighborY="-149005"/>
      <dgm:spPr/>
    </dgm:pt>
    <dgm:pt modelId="{876437B0-623C-4E59-AAF4-D15411FF50B6}" type="pres">
      <dgm:prSet presAssocID="{4895272C-DD12-4168-9827-85CBC57C323D}" presName="txShp" presStyleLbl="node1" presStyleIdx="2" presStyleCnt="4">
        <dgm:presLayoutVars>
          <dgm:bulletEnabled val="1"/>
        </dgm:presLayoutVars>
      </dgm:prSet>
      <dgm:spPr/>
    </dgm:pt>
    <dgm:pt modelId="{35EF19A1-2476-49C0-BD71-16B0D8ACC200}" type="pres">
      <dgm:prSet presAssocID="{E433A783-855A-49C0-90F8-7347E3FF230A}" presName="spacing" presStyleCnt="0"/>
      <dgm:spPr/>
    </dgm:pt>
    <dgm:pt modelId="{C60B64A0-898F-4FAA-B292-585BBE0B7489}" type="pres">
      <dgm:prSet presAssocID="{6D4D3B49-8FE7-4EA4-B7E4-39162D3AA8DA}" presName="composite" presStyleCnt="0"/>
      <dgm:spPr/>
    </dgm:pt>
    <dgm:pt modelId="{D60FFF7A-14DC-4431-A855-F78EE7754BC3}" type="pres">
      <dgm:prSet presAssocID="{6D4D3B49-8FE7-4EA4-B7E4-39162D3AA8DA}" presName="imgShp" presStyleLbl="fgImgPlace1" presStyleIdx="3" presStyleCnt="4" custScaleX="39093" custScaleY="22388" custLinFactY="-173574" custLinFactNeighborX="-59630" custLinFactNeighborY="-200000"/>
      <dgm:spPr/>
    </dgm:pt>
    <dgm:pt modelId="{D35D11EE-75F1-4ED7-A5DA-AC8125893007}" type="pres">
      <dgm:prSet presAssocID="{6D4D3B49-8FE7-4EA4-B7E4-39162D3AA8DA}" presName="txShp" presStyleLbl="node1" presStyleIdx="3" presStyleCnt="4">
        <dgm:presLayoutVars>
          <dgm:bulletEnabled val="1"/>
        </dgm:presLayoutVars>
      </dgm:prSet>
      <dgm:spPr/>
    </dgm:pt>
  </dgm:ptLst>
  <dgm:cxnLst>
    <dgm:cxn modelId="{56261317-4297-4EF6-A8E5-F8E5EDE7AE72}" type="presOf" srcId="{9E489841-56B2-4A24-95F1-5A61A5362D62}" destId="{90CDB2B3-608A-447C-86F2-F4EE3FF4C1EB}" srcOrd="0" destOrd="0" presId="urn:microsoft.com/office/officeart/2005/8/layout/vList3"/>
    <dgm:cxn modelId="{EC6B7917-01A6-4EA0-B9FC-B51C748556CB}" srcId="{234AC43A-C442-4B10-A00B-9ACADD78EEDB}" destId="{77C86231-43B8-4089-BDEE-A25022FA5674}" srcOrd="1" destOrd="0" parTransId="{4B11078D-24AF-4168-87B0-557C6BCC34D7}" sibTransId="{C88EFC56-4223-4A40-B7D5-8B1A34C106AD}"/>
    <dgm:cxn modelId="{9A36942D-4D9D-40C2-A9AD-32B6C10EF01D}" srcId="{234AC43A-C442-4B10-A00B-9ACADD78EEDB}" destId="{6D4D3B49-8FE7-4EA4-B7E4-39162D3AA8DA}" srcOrd="3" destOrd="0" parTransId="{157DDA99-254B-47EB-B049-0F387FB20234}" sibTransId="{8709C2CC-7FBA-4FE9-9F35-528C46E4883B}"/>
    <dgm:cxn modelId="{4B0CC12F-9ABA-4D08-81F5-A45E98FB8088}" srcId="{234AC43A-C442-4B10-A00B-9ACADD78EEDB}" destId="{9E489841-56B2-4A24-95F1-5A61A5362D62}" srcOrd="0" destOrd="0" parTransId="{F655A22C-76C6-49A2-94D3-51AFC2CF6F6C}" sibTransId="{39D7C4E2-75A6-4068-9296-187B1C80D6FC}"/>
    <dgm:cxn modelId="{92AB0347-932E-4E3B-B64D-1BD3B694B2F3}" type="presOf" srcId="{234AC43A-C442-4B10-A00B-9ACADD78EEDB}" destId="{D3715ABF-AADE-41D5-AE2F-75FA4029E00C}" srcOrd="0" destOrd="0" presId="urn:microsoft.com/office/officeart/2005/8/layout/vList3"/>
    <dgm:cxn modelId="{A8978489-AACB-4472-BD48-5F0AB6DF77C6}" type="presOf" srcId="{6D4D3B49-8FE7-4EA4-B7E4-39162D3AA8DA}" destId="{D35D11EE-75F1-4ED7-A5DA-AC8125893007}" srcOrd="0" destOrd="0" presId="urn:microsoft.com/office/officeart/2005/8/layout/vList3"/>
    <dgm:cxn modelId="{DCFE53BC-31C7-4ABC-A11D-A7F5FA8CB309}" type="presOf" srcId="{4895272C-DD12-4168-9827-85CBC57C323D}" destId="{876437B0-623C-4E59-AAF4-D15411FF50B6}" srcOrd="0" destOrd="0" presId="urn:microsoft.com/office/officeart/2005/8/layout/vList3"/>
    <dgm:cxn modelId="{28901CCE-9878-47A7-8CA7-375C171E3A23}" type="presOf" srcId="{77C86231-43B8-4089-BDEE-A25022FA5674}" destId="{16EC055F-4EA5-45C2-BC84-54BCAD82921E}" srcOrd="0" destOrd="0" presId="urn:microsoft.com/office/officeart/2005/8/layout/vList3"/>
    <dgm:cxn modelId="{3BE429D3-FC33-4023-BDDC-9823A34AC8B8}" srcId="{234AC43A-C442-4B10-A00B-9ACADD78EEDB}" destId="{4895272C-DD12-4168-9827-85CBC57C323D}" srcOrd="2" destOrd="0" parTransId="{6A66BF49-F1EF-4F63-99AC-F51A5C31047D}" sibTransId="{E433A783-855A-49C0-90F8-7347E3FF230A}"/>
    <dgm:cxn modelId="{F926D07E-E13D-4CE5-B789-4C191BF55013}" type="presParOf" srcId="{D3715ABF-AADE-41D5-AE2F-75FA4029E00C}" destId="{42A895D3-CA8A-481E-B9DE-0E2568499429}" srcOrd="0" destOrd="0" presId="urn:microsoft.com/office/officeart/2005/8/layout/vList3"/>
    <dgm:cxn modelId="{1E24F687-67E9-4C30-8B8A-CA8F3AED3E2B}" type="presParOf" srcId="{42A895D3-CA8A-481E-B9DE-0E2568499429}" destId="{0921DB8C-9EFD-4FD3-8B51-CF57B8FBC175}" srcOrd="0" destOrd="0" presId="urn:microsoft.com/office/officeart/2005/8/layout/vList3"/>
    <dgm:cxn modelId="{EE365F31-D0EF-47AE-845F-5C6295D4416E}" type="presParOf" srcId="{42A895D3-CA8A-481E-B9DE-0E2568499429}" destId="{90CDB2B3-608A-447C-86F2-F4EE3FF4C1EB}" srcOrd="1" destOrd="0" presId="urn:microsoft.com/office/officeart/2005/8/layout/vList3"/>
    <dgm:cxn modelId="{4318B0DE-2C49-4E69-95F6-6CCFBC37D880}" type="presParOf" srcId="{D3715ABF-AADE-41D5-AE2F-75FA4029E00C}" destId="{89B13696-BF8A-4DEB-AF04-510CBCACB099}" srcOrd="1" destOrd="0" presId="urn:microsoft.com/office/officeart/2005/8/layout/vList3"/>
    <dgm:cxn modelId="{38E3AA4A-19EC-4B3E-9A23-F438A2CC4995}" type="presParOf" srcId="{D3715ABF-AADE-41D5-AE2F-75FA4029E00C}" destId="{C463EBF5-A16A-4982-A4DF-98D097F4B006}" srcOrd="2" destOrd="0" presId="urn:microsoft.com/office/officeart/2005/8/layout/vList3"/>
    <dgm:cxn modelId="{31BC2C30-A3C9-4B7A-B9E8-9012203D10C4}" type="presParOf" srcId="{C463EBF5-A16A-4982-A4DF-98D097F4B006}" destId="{8A896A88-78D1-4323-911C-46E347E267B0}" srcOrd="0" destOrd="0" presId="urn:microsoft.com/office/officeart/2005/8/layout/vList3"/>
    <dgm:cxn modelId="{528544BA-1A84-426D-AA10-68EA1FF73B1A}" type="presParOf" srcId="{C463EBF5-A16A-4982-A4DF-98D097F4B006}" destId="{16EC055F-4EA5-45C2-BC84-54BCAD82921E}" srcOrd="1" destOrd="0" presId="urn:microsoft.com/office/officeart/2005/8/layout/vList3"/>
    <dgm:cxn modelId="{0B9F2495-7975-4DD6-BB21-2F252B9B3D2D}" type="presParOf" srcId="{D3715ABF-AADE-41D5-AE2F-75FA4029E00C}" destId="{EA5D41E5-C367-4859-A60D-65E21699D7A6}" srcOrd="3" destOrd="0" presId="urn:microsoft.com/office/officeart/2005/8/layout/vList3"/>
    <dgm:cxn modelId="{A778A465-117B-4260-BEFC-3C992C6FB5B3}" type="presParOf" srcId="{D3715ABF-AADE-41D5-AE2F-75FA4029E00C}" destId="{B9895E6E-01F0-49BB-BF26-3EE93F3B3CAC}" srcOrd="4" destOrd="0" presId="urn:microsoft.com/office/officeart/2005/8/layout/vList3"/>
    <dgm:cxn modelId="{377E8DC8-1BBB-440F-9AD6-75EA0CF52E03}" type="presParOf" srcId="{B9895E6E-01F0-49BB-BF26-3EE93F3B3CAC}" destId="{50875FDE-1E9B-46D8-A628-BA9651BBC203}" srcOrd="0" destOrd="0" presId="urn:microsoft.com/office/officeart/2005/8/layout/vList3"/>
    <dgm:cxn modelId="{5E53B999-3DAE-42AF-9676-9CA7EEDBAB27}" type="presParOf" srcId="{B9895E6E-01F0-49BB-BF26-3EE93F3B3CAC}" destId="{876437B0-623C-4E59-AAF4-D15411FF50B6}" srcOrd="1" destOrd="0" presId="urn:microsoft.com/office/officeart/2005/8/layout/vList3"/>
    <dgm:cxn modelId="{A3CFD6D3-02B2-452B-A164-4B6883CBB07F}" type="presParOf" srcId="{D3715ABF-AADE-41D5-AE2F-75FA4029E00C}" destId="{35EF19A1-2476-49C0-BD71-16B0D8ACC200}" srcOrd="5" destOrd="0" presId="urn:microsoft.com/office/officeart/2005/8/layout/vList3"/>
    <dgm:cxn modelId="{1CF79859-7424-4F64-8D14-E882986FDB10}" type="presParOf" srcId="{D3715ABF-AADE-41D5-AE2F-75FA4029E00C}" destId="{C60B64A0-898F-4FAA-B292-585BBE0B7489}" srcOrd="6" destOrd="0" presId="urn:microsoft.com/office/officeart/2005/8/layout/vList3"/>
    <dgm:cxn modelId="{5C8CEF08-164B-4BBA-9119-08A26C43A7FD}" type="presParOf" srcId="{C60B64A0-898F-4FAA-B292-585BBE0B7489}" destId="{D60FFF7A-14DC-4431-A855-F78EE7754BC3}" srcOrd="0" destOrd="0" presId="urn:microsoft.com/office/officeart/2005/8/layout/vList3"/>
    <dgm:cxn modelId="{90830CFE-FE05-4B0D-88A1-EAB639DA94E9}" type="presParOf" srcId="{C60B64A0-898F-4FAA-B292-585BBE0B7489}" destId="{D35D11EE-75F1-4ED7-A5DA-AC812589300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155DFF-57F1-48F9-94E5-AEAEB9E5EEE0}"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CA"/>
        </a:p>
      </dgm:t>
    </dgm:pt>
    <dgm:pt modelId="{FBE4EB11-26BB-491A-A38B-D153DBC23CA1}">
      <dgm:prSet phldrT="[Text]" phldr="0"/>
      <dgm:spPr/>
      <dgm:t>
        <a:bodyPr/>
        <a:lstStyle/>
        <a:p>
          <a:endParaRPr lang="en-CA" dirty="0"/>
        </a:p>
      </dgm:t>
    </dgm:pt>
    <dgm:pt modelId="{3D46F698-E5F5-4780-83C0-BA0BBE7A7B04}" type="parTrans" cxnId="{BB5A92C7-0D85-48D8-97EB-959D08C6F6B2}">
      <dgm:prSet/>
      <dgm:spPr/>
      <dgm:t>
        <a:bodyPr/>
        <a:lstStyle/>
        <a:p>
          <a:endParaRPr lang="en-CA"/>
        </a:p>
      </dgm:t>
    </dgm:pt>
    <dgm:pt modelId="{908DD9B6-6A2D-43BE-A0EF-9B6B4BC88890}" type="sibTrans" cxnId="{BB5A92C7-0D85-48D8-97EB-959D08C6F6B2}">
      <dgm:prSet/>
      <dgm:spPr/>
      <dgm:t>
        <a:bodyPr/>
        <a:lstStyle/>
        <a:p>
          <a:endParaRPr lang="en-CA"/>
        </a:p>
      </dgm:t>
    </dgm:pt>
    <dgm:pt modelId="{29081F6D-4E17-45EB-ABC8-CD0A19E75336}">
      <dgm:prSet phldrT="[Text]" phldr="0" custT="1">
        <dgm:style>
          <a:lnRef idx="0">
            <a:schemeClr val="accent3"/>
          </a:lnRef>
          <a:fillRef idx="3">
            <a:schemeClr val="accent3"/>
          </a:fillRef>
          <a:effectRef idx="3">
            <a:schemeClr val="accent3"/>
          </a:effectRef>
          <a:fontRef idx="minor">
            <a:schemeClr val="lt1"/>
          </a:fontRef>
        </dgm:style>
      </dgm:prSet>
      <dgm:spPr/>
      <dgm:t>
        <a:bodyPr/>
        <a:lstStyle/>
        <a:p>
          <a:r>
            <a:rPr lang="en-CA" sz="1400" b="1" dirty="0">
              <a:latin typeface="Arial" panose="020B0604020202020204" pitchFamily="34" charset="0"/>
              <a:cs typeface="Arial" panose="020B0604020202020204" pitchFamily="34" charset="0"/>
            </a:rPr>
            <a:t>Clinical Summaries</a:t>
          </a:r>
          <a:br>
            <a:rPr lang="en-CA" sz="1400" b="1" dirty="0">
              <a:latin typeface="Arial" panose="020B0604020202020204" pitchFamily="34" charset="0"/>
              <a:cs typeface="Arial" panose="020B0604020202020204" pitchFamily="34" charset="0"/>
            </a:rPr>
          </a:br>
          <a:endParaRPr lang="en-CA" sz="1400" b="1" dirty="0">
            <a:latin typeface="Arial" panose="020B0604020202020204" pitchFamily="34" charset="0"/>
            <a:cs typeface="Arial" panose="020B0604020202020204" pitchFamily="34" charset="0"/>
          </a:endParaRPr>
        </a:p>
      </dgm:t>
    </dgm:pt>
    <dgm:pt modelId="{A2149C30-C6BF-40B3-A6F1-F05A3651A98B}" type="parTrans" cxnId="{C0CB7674-7807-4045-B384-F968988609F0}">
      <dgm:prSet/>
      <dgm:spPr/>
      <dgm:t>
        <a:bodyPr/>
        <a:lstStyle/>
        <a:p>
          <a:endParaRPr lang="en-CA"/>
        </a:p>
      </dgm:t>
    </dgm:pt>
    <dgm:pt modelId="{673A7FE3-FAAD-4F70-B640-22AD223A8E69}" type="sibTrans" cxnId="{C0CB7674-7807-4045-B384-F968988609F0}">
      <dgm:prSet/>
      <dgm:spPr/>
      <dgm:t>
        <a:bodyPr/>
        <a:lstStyle/>
        <a:p>
          <a:endParaRPr lang="en-CA"/>
        </a:p>
      </dgm:t>
    </dgm:pt>
    <dgm:pt modelId="{D40D9237-74E2-4682-83AB-A00F39E5A246}">
      <dgm:prSet phldrT="[Text]" phldr="0" custT="1">
        <dgm:style>
          <a:lnRef idx="0">
            <a:schemeClr val="accent3"/>
          </a:lnRef>
          <a:fillRef idx="3">
            <a:schemeClr val="accent3"/>
          </a:fillRef>
          <a:effectRef idx="3">
            <a:schemeClr val="accent3"/>
          </a:effectRef>
          <a:fontRef idx="minor">
            <a:schemeClr val="lt1"/>
          </a:fontRef>
        </dgm:style>
      </dgm:prSet>
      <dgm:spPr/>
      <dgm:t>
        <a:bodyPr/>
        <a:lstStyle/>
        <a:p>
          <a:r>
            <a:rPr lang="en-CA" sz="1400" b="1" dirty="0">
              <a:latin typeface="Arial" panose="020B0604020202020204" pitchFamily="34" charset="0"/>
              <a:cs typeface="Arial" panose="020B0604020202020204" pitchFamily="34" charset="0"/>
            </a:rPr>
            <a:t>Medical Education</a:t>
          </a:r>
          <a:br>
            <a:rPr lang="en-CA" sz="1400" b="1" dirty="0">
              <a:latin typeface="Arial" panose="020B0604020202020204" pitchFamily="34" charset="0"/>
              <a:cs typeface="Arial" panose="020B0604020202020204" pitchFamily="34" charset="0"/>
            </a:rPr>
          </a:br>
          <a:endParaRPr lang="en-CA" sz="1400" b="1" dirty="0">
            <a:latin typeface="Arial" panose="020B0604020202020204" pitchFamily="34" charset="0"/>
            <a:cs typeface="Arial" panose="020B0604020202020204" pitchFamily="34" charset="0"/>
          </a:endParaRPr>
        </a:p>
      </dgm:t>
    </dgm:pt>
    <dgm:pt modelId="{A6568B1B-0B4C-4173-9763-59978AB770D8}" type="parTrans" cxnId="{EF207A33-2697-4FD8-BF39-EFE04CE9DA1A}">
      <dgm:prSet/>
      <dgm:spPr/>
      <dgm:t>
        <a:bodyPr/>
        <a:lstStyle/>
        <a:p>
          <a:endParaRPr lang="en-CA"/>
        </a:p>
      </dgm:t>
    </dgm:pt>
    <dgm:pt modelId="{40A503AD-6B78-4643-903B-077F3C3EE6D0}" type="sibTrans" cxnId="{EF207A33-2697-4FD8-BF39-EFE04CE9DA1A}">
      <dgm:prSet/>
      <dgm:spPr/>
      <dgm:t>
        <a:bodyPr/>
        <a:lstStyle/>
        <a:p>
          <a:endParaRPr lang="en-CA"/>
        </a:p>
      </dgm:t>
    </dgm:pt>
    <dgm:pt modelId="{564CF61B-B811-4108-8F28-D783F4501E41}">
      <dgm:prSet phldrT="[Text]" phldr="0" custT="1">
        <dgm:style>
          <a:lnRef idx="0">
            <a:schemeClr val="accent3"/>
          </a:lnRef>
          <a:fillRef idx="3">
            <a:schemeClr val="accent3"/>
          </a:fillRef>
          <a:effectRef idx="3">
            <a:schemeClr val="accent3"/>
          </a:effectRef>
          <a:fontRef idx="minor">
            <a:schemeClr val="lt1"/>
          </a:fontRef>
        </dgm:style>
      </dgm:prSet>
      <dgm:spPr/>
      <dgm:t>
        <a:bodyPr/>
        <a:lstStyle/>
        <a:p>
          <a:r>
            <a:rPr lang="en-CA" sz="1400" b="1" dirty="0">
              <a:latin typeface="Arial" panose="020B0604020202020204" pitchFamily="34" charset="0"/>
              <a:cs typeface="Arial" panose="020B0604020202020204" pitchFamily="34" charset="0"/>
            </a:rPr>
            <a:t>Healthcare Apps</a:t>
          </a:r>
          <a:br>
            <a:rPr lang="en-CA" sz="1400" b="1" dirty="0">
              <a:latin typeface="Arial" panose="020B0604020202020204" pitchFamily="34" charset="0"/>
              <a:cs typeface="Arial" panose="020B0604020202020204" pitchFamily="34" charset="0"/>
            </a:rPr>
          </a:br>
          <a:endParaRPr lang="en-CA" sz="1400" b="1" dirty="0">
            <a:latin typeface="Arial" panose="020B0604020202020204" pitchFamily="34" charset="0"/>
            <a:cs typeface="Arial" panose="020B0604020202020204" pitchFamily="34" charset="0"/>
          </a:endParaRPr>
        </a:p>
      </dgm:t>
    </dgm:pt>
    <dgm:pt modelId="{C6F55A94-7C45-4883-A3B2-49534C4DCE9B}" type="parTrans" cxnId="{E857B7A1-C3D0-4463-B0E7-EB0034D1C3E3}">
      <dgm:prSet/>
      <dgm:spPr/>
      <dgm:t>
        <a:bodyPr/>
        <a:lstStyle/>
        <a:p>
          <a:endParaRPr lang="en-CA"/>
        </a:p>
      </dgm:t>
    </dgm:pt>
    <dgm:pt modelId="{ECA84D3A-CC47-4029-9AA1-D4E4DE1DEE54}" type="sibTrans" cxnId="{E857B7A1-C3D0-4463-B0E7-EB0034D1C3E3}">
      <dgm:prSet/>
      <dgm:spPr/>
      <dgm:t>
        <a:bodyPr/>
        <a:lstStyle/>
        <a:p>
          <a:endParaRPr lang="en-CA"/>
        </a:p>
      </dgm:t>
    </dgm:pt>
    <dgm:pt modelId="{8CA5F85B-1F57-4B7C-A491-9AAFEEE88889}">
      <dgm:prSet phldrT="[Text]" phldr="0" custT="1">
        <dgm:style>
          <a:lnRef idx="0">
            <a:schemeClr val="accent3"/>
          </a:lnRef>
          <a:fillRef idx="3">
            <a:schemeClr val="accent3"/>
          </a:fillRef>
          <a:effectRef idx="3">
            <a:schemeClr val="accent3"/>
          </a:effectRef>
          <a:fontRef idx="minor">
            <a:schemeClr val="lt1"/>
          </a:fontRef>
        </dgm:style>
      </dgm:prSet>
      <dgm:spPr/>
      <dgm:t>
        <a:bodyPr/>
        <a:lstStyle/>
        <a:p>
          <a:endParaRPr lang="en-CA" sz="2000" b="1" i="0" dirty="0">
            <a:latin typeface="Arial" panose="020B0604020202020204" pitchFamily="34" charset="0"/>
            <a:cs typeface="Arial" panose="020B0604020202020204" pitchFamily="34" charset="0"/>
          </a:endParaRPr>
        </a:p>
        <a:p>
          <a:r>
            <a:rPr lang="en-CA" sz="1400" b="1" i="0" dirty="0">
              <a:latin typeface="Arial" panose="020B0604020202020204" pitchFamily="34" charset="0"/>
              <a:cs typeface="Arial" panose="020B0604020202020204" pitchFamily="34" charset="0"/>
            </a:rPr>
            <a:t>Radiology Reports</a:t>
          </a:r>
          <a:br>
            <a:rPr lang="en-CA" sz="1400" b="1" i="0" dirty="0">
              <a:latin typeface="Arial" panose="020B0604020202020204" pitchFamily="34" charset="0"/>
              <a:cs typeface="Arial" panose="020B0604020202020204" pitchFamily="34" charset="0"/>
            </a:rPr>
          </a:br>
          <a:br>
            <a:rPr lang="en-CA" sz="1400" b="1" i="0" dirty="0">
              <a:latin typeface="Arial" panose="020B0604020202020204" pitchFamily="34" charset="0"/>
              <a:cs typeface="Arial" panose="020B0604020202020204" pitchFamily="34" charset="0"/>
            </a:rPr>
          </a:br>
          <a:endParaRPr lang="en-CA" sz="1400" dirty="0">
            <a:latin typeface="Arial" panose="020B0604020202020204" pitchFamily="34" charset="0"/>
            <a:cs typeface="Arial" panose="020B0604020202020204" pitchFamily="34" charset="0"/>
          </a:endParaRPr>
        </a:p>
      </dgm:t>
    </dgm:pt>
    <dgm:pt modelId="{4985C245-0260-45DA-8195-406E5A42B577}" type="parTrans" cxnId="{1B20AF75-253B-4D19-A960-10654C338317}">
      <dgm:prSet/>
      <dgm:spPr/>
      <dgm:t>
        <a:bodyPr/>
        <a:lstStyle/>
        <a:p>
          <a:endParaRPr lang="en-CA"/>
        </a:p>
      </dgm:t>
    </dgm:pt>
    <dgm:pt modelId="{B5D2E1D2-3AD9-41E9-A5E9-7B97B86950F3}" type="sibTrans" cxnId="{1B20AF75-253B-4D19-A960-10654C338317}">
      <dgm:prSet/>
      <dgm:spPr/>
      <dgm:t>
        <a:bodyPr/>
        <a:lstStyle/>
        <a:p>
          <a:endParaRPr lang="en-CA"/>
        </a:p>
      </dgm:t>
    </dgm:pt>
    <dgm:pt modelId="{8FFDD20C-BE4A-4D10-BC3E-A7B9BD9AF321}" type="pres">
      <dgm:prSet presAssocID="{19155DFF-57F1-48F9-94E5-AEAEB9E5EEE0}" presName="Name0" presStyleCnt="0">
        <dgm:presLayoutVars>
          <dgm:chMax val="1"/>
          <dgm:dir/>
          <dgm:animLvl val="ctr"/>
          <dgm:resizeHandles val="exact"/>
        </dgm:presLayoutVars>
      </dgm:prSet>
      <dgm:spPr/>
    </dgm:pt>
    <dgm:pt modelId="{C5048180-2BAF-4E73-B119-EAC06EAEED88}" type="pres">
      <dgm:prSet presAssocID="{FBE4EB11-26BB-491A-A38B-D153DBC23CA1}" presName="centerShape" presStyleLbl="node0" presStyleIdx="0" presStyleCnt="1" custScaleX="8530" custScaleY="27325"/>
      <dgm:spPr/>
    </dgm:pt>
    <dgm:pt modelId="{8B7DB93C-81AF-4610-9FA8-D1F7E2C7EF48}" type="pres">
      <dgm:prSet presAssocID="{29081F6D-4E17-45EB-ABC8-CD0A19E75336}" presName="node" presStyleLbl="node1" presStyleIdx="0" presStyleCnt="4">
        <dgm:presLayoutVars>
          <dgm:bulletEnabled val="1"/>
        </dgm:presLayoutVars>
      </dgm:prSet>
      <dgm:spPr/>
    </dgm:pt>
    <dgm:pt modelId="{52995078-B5B8-4EAB-8F63-6C558DEA89EE}" type="pres">
      <dgm:prSet presAssocID="{29081F6D-4E17-45EB-ABC8-CD0A19E75336}" presName="dummy" presStyleCnt="0"/>
      <dgm:spPr/>
    </dgm:pt>
    <dgm:pt modelId="{A18F8ABF-5F80-4A56-A2F7-D59173C928C5}" type="pres">
      <dgm:prSet presAssocID="{673A7FE3-FAAD-4F70-B640-22AD223A8E69}" presName="sibTrans" presStyleLbl="sibTrans2D1" presStyleIdx="0" presStyleCnt="4"/>
      <dgm:spPr/>
    </dgm:pt>
    <dgm:pt modelId="{33578D93-BAD5-4AC1-9EB9-B01D6BDF49D5}" type="pres">
      <dgm:prSet presAssocID="{D40D9237-74E2-4682-83AB-A00F39E5A246}" presName="node" presStyleLbl="node1" presStyleIdx="1" presStyleCnt="4">
        <dgm:presLayoutVars>
          <dgm:bulletEnabled val="1"/>
        </dgm:presLayoutVars>
      </dgm:prSet>
      <dgm:spPr/>
    </dgm:pt>
    <dgm:pt modelId="{843BE375-3FCB-4761-95F6-F83E655DB026}" type="pres">
      <dgm:prSet presAssocID="{D40D9237-74E2-4682-83AB-A00F39E5A246}" presName="dummy" presStyleCnt="0"/>
      <dgm:spPr/>
    </dgm:pt>
    <dgm:pt modelId="{05F8C3AF-E67D-4FC4-A6E9-927A1696ACFA}" type="pres">
      <dgm:prSet presAssocID="{40A503AD-6B78-4643-903B-077F3C3EE6D0}" presName="sibTrans" presStyleLbl="sibTrans2D1" presStyleIdx="1" presStyleCnt="4"/>
      <dgm:spPr/>
    </dgm:pt>
    <dgm:pt modelId="{4B47757F-F108-4971-B290-5979878D3D18}" type="pres">
      <dgm:prSet presAssocID="{564CF61B-B811-4108-8F28-D783F4501E41}" presName="node" presStyleLbl="node1" presStyleIdx="2" presStyleCnt="4">
        <dgm:presLayoutVars>
          <dgm:bulletEnabled val="1"/>
        </dgm:presLayoutVars>
      </dgm:prSet>
      <dgm:spPr/>
    </dgm:pt>
    <dgm:pt modelId="{B5DF1514-394E-42D4-9364-05657EE06BD9}" type="pres">
      <dgm:prSet presAssocID="{564CF61B-B811-4108-8F28-D783F4501E41}" presName="dummy" presStyleCnt="0"/>
      <dgm:spPr/>
    </dgm:pt>
    <dgm:pt modelId="{2B6AD4C9-A243-4B76-A172-BB4418FC24E3}" type="pres">
      <dgm:prSet presAssocID="{ECA84D3A-CC47-4029-9AA1-D4E4DE1DEE54}" presName="sibTrans" presStyleLbl="sibTrans2D1" presStyleIdx="2" presStyleCnt="4"/>
      <dgm:spPr/>
    </dgm:pt>
    <dgm:pt modelId="{BEE418EC-2171-4111-BFF7-14AE226D9EEB}" type="pres">
      <dgm:prSet presAssocID="{8CA5F85B-1F57-4B7C-A491-9AAFEEE88889}" presName="node" presStyleLbl="node1" presStyleIdx="3" presStyleCnt="4">
        <dgm:presLayoutVars>
          <dgm:bulletEnabled val="1"/>
        </dgm:presLayoutVars>
      </dgm:prSet>
      <dgm:spPr/>
    </dgm:pt>
    <dgm:pt modelId="{122DCE75-9E98-4FB1-89D3-CB9CE18C9F92}" type="pres">
      <dgm:prSet presAssocID="{8CA5F85B-1F57-4B7C-A491-9AAFEEE88889}" presName="dummy" presStyleCnt="0"/>
      <dgm:spPr/>
    </dgm:pt>
    <dgm:pt modelId="{217ACE8F-5AB6-4487-812B-629F71B087AD}" type="pres">
      <dgm:prSet presAssocID="{B5D2E1D2-3AD9-41E9-A5E9-7B97B86950F3}" presName="sibTrans" presStyleLbl="sibTrans2D1" presStyleIdx="3" presStyleCnt="4"/>
      <dgm:spPr/>
    </dgm:pt>
  </dgm:ptLst>
  <dgm:cxnLst>
    <dgm:cxn modelId="{47EED624-4EC8-4603-9E91-7A63636940CC}" type="presOf" srcId="{FBE4EB11-26BB-491A-A38B-D153DBC23CA1}" destId="{C5048180-2BAF-4E73-B119-EAC06EAEED88}" srcOrd="0" destOrd="0" presId="urn:microsoft.com/office/officeart/2005/8/layout/radial6"/>
    <dgm:cxn modelId="{EF207A33-2697-4FD8-BF39-EFE04CE9DA1A}" srcId="{FBE4EB11-26BB-491A-A38B-D153DBC23CA1}" destId="{D40D9237-74E2-4682-83AB-A00F39E5A246}" srcOrd="1" destOrd="0" parTransId="{A6568B1B-0B4C-4173-9763-59978AB770D8}" sibTransId="{40A503AD-6B78-4643-903B-077F3C3EE6D0}"/>
    <dgm:cxn modelId="{CAF7CE45-9865-4016-ACB3-AE46AB339B54}" type="presOf" srcId="{564CF61B-B811-4108-8F28-D783F4501E41}" destId="{4B47757F-F108-4971-B290-5979878D3D18}" srcOrd="0" destOrd="0" presId="urn:microsoft.com/office/officeart/2005/8/layout/radial6"/>
    <dgm:cxn modelId="{02D76B58-4F18-4156-8284-5CAEA75EEB0C}" type="presOf" srcId="{D40D9237-74E2-4682-83AB-A00F39E5A246}" destId="{33578D93-BAD5-4AC1-9EB9-B01D6BDF49D5}" srcOrd="0" destOrd="0" presId="urn:microsoft.com/office/officeart/2005/8/layout/radial6"/>
    <dgm:cxn modelId="{C0CB7674-7807-4045-B384-F968988609F0}" srcId="{FBE4EB11-26BB-491A-A38B-D153DBC23CA1}" destId="{29081F6D-4E17-45EB-ABC8-CD0A19E75336}" srcOrd="0" destOrd="0" parTransId="{A2149C30-C6BF-40B3-A6F1-F05A3651A98B}" sibTransId="{673A7FE3-FAAD-4F70-B640-22AD223A8E69}"/>
    <dgm:cxn modelId="{1B20AF75-253B-4D19-A960-10654C338317}" srcId="{FBE4EB11-26BB-491A-A38B-D153DBC23CA1}" destId="{8CA5F85B-1F57-4B7C-A491-9AAFEEE88889}" srcOrd="3" destOrd="0" parTransId="{4985C245-0260-45DA-8195-406E5A42B577}" sibTransId="{B5D2E1D2-3AD9-41E9-A5E9-7B97B86950F3}"/>
    <dgm:cxn modelId="{E857B7A1-C3D0-4463-B0E7-EB0034D1C3E3}" srcId="{FBE4EB11-26BB-491A-A38B-D153DBC23CA1}" destId="{564CF61B-B811-4108-8F28-D783F4501E41}" srcOrd="2" destOrd="0" parTransId="{C6F55A94-7C45-4883-A3B2-49534C4DCE9B}" sibTransId="{ECA84D3A-CC47-4029-9AA1-D4E4DE1DEE54}"/>
    <dgm:cxn modelId="{DD524AA2-756B-4A5F-B32B-DD10B5DDF294}" type="presOf" srcId="{673A7FE3-FAAD-4F70-B640-22AD223A8E69}" destId="{A18F8ABF-5F80-4A56-A2F7-D59173C928C5}" srcOrd="0" destOrd="0" presId="urn:microsoft.com/office/officeart/2005/8/layout/radial6"/>
    <dgm:cxn modelId="{7A14DFB6-A0FA-4720-B9DD-276DA5B96540}" type="presOf" srcId="{19155DFF-57F1-48F9-94E5-AEAEB9E5EEE0}" destId="{8FFDD20C-BE4A-4D10-BC3E-A7B9BD9AF321}" srcOrd="0" destOrd="0" presId="urn:microsoft.com/office/officeart/2005/8/layout/radial6"/>
    <dgm:cxn modelId="{BB5A92C7-0D85-48D8-97EB-959D08C6F6B2}" srcId="{19155DFF-57F1-48F9-94E5-AEAEB9E5EEE0}" destId="{FBE4EB11-26BB-491A-A38B-D153DBC23CA1}" srcOrd="0" destOrd="0" parTransId="{3D46F698-E5F5-4780-83C0-BA0BBE7A7B04}" sibTransId="{908DD9B6-6A2D-43BE-A0EF-9B6B4BC88890}"/>
    <dgm:cxn modelId="{4D7A26EC-7E57-4B5D-BB71-DE36A73008DC}" type="presOf" srcId="{29081F6D-4E17-45EB-ABC8-CD0A19E75336}" destId="{8B7DB93C-81AF-4610-9FA8-D1F7E2C7EF48}" srcOrd="0" destOrd="0" presId="urn:microsoft.com/office/officeart/2005/8/layout/radial6"/>
    <dgm:cxn modelId="{446F79EE-309A-432A-B4BD-1D38A0E8B978}" type="presOf" srcId="{B5D2E1D2-3AD9-41E9-A5E9-7B97B86950F3}" destId="{217ACE8F-5AB6-4487-812B-629F71B087AD}" srcOrd="0" destOrd="0" presId="urn:microsoft.com/office/officeart/2005/8/layout/radial6"/>
    <dgm:cxn modelId="{08646DF8-6AD5-442D-BCE1-4FA57B141E21}" type="presOf" srcId="{ECA84D3A-CC47-4029-9AA1-D4E4DE1DEE54}" destId="{2B6AD4C9-A243-4B76-A172-BB4418FC24E3}" srcOrd="0" destOrd="0" presId="urn:microsoft.com/office/officeart/2005/8/layout/radial6"/>
    <dgm:cxn modelId="{1FF473FA-83E2-4C17-A104-A7CDA5A12F64}" type="presOf" srcId="{40A503AD-6B78-4643-903B-077F3C3EE6D0}" destId="{05F8C3AF-E67D-4FC4-A6E9-927A1696ACFA}" srcOrd="0" destOrd="0" presId="urn:microsoft.com/office/officeart/2005/8/layout/radial6"/>
    <dgm:cxn modelId="{5B899AFC-AB21-4087-9309-0B3B655D31D5}" type="presOf" srcId="{8CA5F85B-1F57-4B7C-A491-9AAFEEE88889}" destId="{BEE418EC-2171-4111-BFF7-14AE226D9EEB}" srcOrd="0" destOrd="0" presId="urn:microsoft.com/office/officeart/2005/8/layout/radial6"/>
    <dgm:cxn modelId="{8FA8EA22-2409-433E-9FF8-243D5B44F399}" type="presParOf" srcId="{8FFDD20C-BE4A-4D10-BC3E-A7B9BD9AF321}" destId="{C5048180-2BAF-4E73-B119-EAC06EAEED88}" srcOrd="0" destOrd="0" presId="urn:microsoft.com/office/officeart/2005/8/layout/radial6"/>
    <dgm:cxn modelId="{31F35781-74B2-4CA3-B661-DC3F181CCCE8}" type="presParOf" srcId="{8FFDD20C-BE4A-4D10-BC3E-A7B9BD9AF321}" destId="{8B7DB93C-81AF-4610-9FA8-D1F7E2C7EF48}" srcOrd="1" destOrd="0" presId="urn:microsoft.com/office/officeart/2005/8/layout/radial6"/>
    <dgm:cxn modelId="{0C3EB3F0-50FA-4DC8-AD77-1149E23DCA10}" type="presParOf" srcId="{8FFDD20C-BE4A-4D10-BC3E-A7B9BD9AF321}" destId="{52995078-B5B8-4EAB-8F63-6C558DEA89EE}" srcOrd="2" destOrd="0" presId="urn:microsoft.com/office/officeart/2005/8/layout/radial6"/>
    <dgm:cxn modelId="{E7DEDFB8-C130-45AA-86AF-4239F9BDDF66}" type="presParOf" srcId="{8FFDD20C-BE4A-4D10-BC3E-A7B9BD9AF321}" destId="{A18F8ABF-5F80-4A56-A2F7-D59173C928C5}" srcOrd="3" destOrd="0" presId="urn:microsoft.com/office/officeart/2005/8/layout/radial6"/>
    <dgm:cxn modelId="{A3D30DD3-22DB-4354-BDD5-AA2F909A3AC3}" type="presParOf" srcId="{8FFDD20C-BE4A-4D10-BC3E-A7B9BD9AF321}" destId="{33578D93-BAD5-4AC1-9EB9-B01D6BDF49D5}" srcOrd="4" destOrd="0" presId="urn:microsoft.com/office/officeart/2005/8/layout/radial6"/>
    <dgm:cxn modelId="{81CBBD4C-1204-44E9-9014-80296871DCCF}" type="presParOf" srcId="{8FFDD20C-BE4A-4D10-BC3E-A7B9BD9AF321}" destId="{843BE375-3FCB-4761-95F6-F83E655DB026}" srcOrd="5" destOrd="0" presId="urn:microsoft.com/office/officeart/2005/8/layout/radial6"/>
    <dgm:cxn modelId="{C683C519-FC6A-4674-97DF-6779B37D8F05}" type="presParOf" srcId="{8FFDD20C-BE4A-4D10-BC3E-A7B9BD9AF321}" destId="{05F8C3AF-E67D-4FC4-A6E9-927A1696ACFA}" srcOrd="6" destOrd="0" presId="urn:microsoft.com/office/officeart/2005/8/layout/radial6"/>
    <dgm:cxn modelId="{36DDE462-F79C-40FC-AE35-8B93DDA8DCE4}" type="presParOf" srcId="{8FFDD20C-BE4A-4D10-BC3E-A7B9BD9AF321}" destId="{4B47757F-F108-4971-B290-5979878D3D18}" srcOrd="7" destOrd="0" presId="urn:microsoft.com/office/officeart/2005/8/layout/radial6"/>
    <dgm:cxn modelId="{61CF8819-15AA-4ABA-9711-47783A1EBDDB}" type="presParOf" srcId="{8FFDD20C-BE4A-4D10-BC3E-A7B9BD9AF321}" destId="{B5DF1514-394E-42D4-9364-05657EE06BD9}" srcOrd="8" destOrd="0" presId="urn:microsoft.com/office/officeart/2005/8/layout/radial6"/>
    <dgm:cxn modelId="{27FCF729-C7DE-40D3-83FD-2304E6A79CB9}" type="presParOf" srcId="{8FFDD20C-BE4A-4D10-BC3E-A7B9BD9AF321}" destId="{2B6AD4C9-A243-4B76-A172-BB4418FC24E3}" srcOrd="9" destOrd="0" presId="urn:microsoft.com/office/officeart/2005/8/layout/radial6"/>
    <dgm:cxn modelId="{19A1B108-4AAE-4E4B-9775-BC253711C153}" type="presParOf" srcId="{8FFDD20C-BE4A-4D10-BC3E-A7B9BD9AF321}" destId="{BEE418EC-2171-4111-BFF7-14AE226D9EEB}" srcOrd="10" destOrd="0" presId="urn:microsoft.com/office/officeart/2005/8/layout/radial6"/>
    <dgm:cxn modelId="{3203850C-FA24-4E7C-8DEB-D5E6DB701D63}" type="presParOf" srcId="{8FFDD20C-BE4A-4D10-BC3E-A7B9BD9AF321}" destId="{122DCE75-9E98-4FB1-89D3-CB9CE18C9F92}" srcOrd="11" destOrd="0" presId="urn:microsoft.com/office/officeart/2005/8/layout/radial6"/>
    <dgm:cxn modelId="{514F8006-D782-4857-A842-92FD3D0B63F9}" type="presParOf" srcId="{8FFDD20C-BE4A-4D10-BC3E-A7B9BD9AF321}" destId="{217ACE8F-5AB6-4487-812B-629F71B087AD}"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ED0999-77BB-41DB-8847-7C15B9364A4D}">
      <dsp:nvSpPr>
        <dsp:cNvPr id="0" name=""/>
        <dsp:cNvSpPr/>
      </dsp:nvSpPr>
      <dsp:spPr>
        <a:xfrm>
          <a:off x="3745014" y="1464"/>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Encoder</a:t>
          </a:r>
        </a:p>
      </dsp:txBody>
      <dsp:txXfrm>
        <a:off x="3934739" y="191189"/>
        <a:ext cx="916076" cy="916076"/>
      </dsp:txXfrm>
    </dsp:sp>
    <dsp:sp modelId="{CB6A52BD-61C2-4036-B1EC-5D9C84EAD454}">
      <dsp:nvSpPr>
        <dsp:cNvPr id="0" name=""/>
        <dsp:cNvSpPr/>
      </dsp:nvSpPr>
      <dsp:spPr>
        <a:xfrm rot="1542857">
          <a:off x="5087887" y="848094"/>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a:off x="5092991" y="913178"/>
        <a:ext cx="240534" cy="262344"/>
      </dsp:txXfrm>
    </dsp:sp>
    <dsp:sp modelId="{25553BCF-DB36-4BD9-B3FF-C072C0149182}">
      <dsp:nvSpPr>
        <dsp:cNvPr id="0" name=""/>
        <dsp:cNvSpPr/>
      </dsp:nvSpPr>
      <dsp:spPr>
        <a:xfrm>
          <a:off x="5496378" y="844877"/>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Attention Mechanism</a:t>
          </a:r>
        </a:p>
      </dsp:txBody>
      <dsp:txXfrm>
        <a:off x="5686103" y="1034602"/>
        <a:ext cx="916076" cy="916076"/>
      </dsp:txXfrm>
    </dsp:sp>
    <dsp:sp modelId="{681FCF9B-7C3B-4D23-91F0-4F982FF48340}">
      <dsp:nvSpPr>
        <dsp:cNvPr id="0" name=""/>
        <dsp:cNvSpPr/>
      </dsp:nvSpPr>
      <dsp:spPr>
        <a:xfrm rot="4628571">
          <a:off x="6186442" y="2212104"/>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a:off x="6226516" y="2249301"/>
        <a:ext cx="240534" cy="262344"/>
      </dsp:txXfrm>
    </dsp:sp>
    <dsp:sp modelId="{1755981F-CEEE-45FD-A08A-9A9050FF8367}">
      <dsp:nvSpPr>
        <dsp:cNvPr id="0" name=""/>
        <dsp:cNvSpPr/>
      </dsp:nvSpPr>
      <dsp:spPr>
        <a:xfrm>
          <a:off x="5928929" y="2740008"/>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Decoder</a:t>
          </a:r>
        </a:p>
      </dsp:txBody>
      <dsp:txXfrm>
        <a:off x="6118654" y="2929733"/>
        <a:ext cx="916076" cy="916076"/>
      </dsp:txXfrm>
    </dsp:sp>
    <dsp:sp modelId="{43860167-D4B4-4443-A94E-7CFA453974E5}">
      <dsp:nvSpPr>
        <dsp:cNvPr id="0" name=""/>
        <dsp:cNvSpPr/>
      </dsp:nvSpPr>
      <dsp:spPr>
        <a:xfrm rot="7714286">
          <a:off x="5804955" y="3921436"/>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rot="10800000">
        <a:off x="5888635" y="3968586"/>
        <a:ext cx="240534" cy="262344"/>
      </dsp:txXfrm>
    </dsp:sp>
    <dsp:sp modelId="{491F8FA3-6872-4F71-9BEB-B469798761EA}">
      <dsp:nvSpPr>
        <dsp:cNvPr id="0" name=""/>
        <dsp:cNvSpPr/>
      </dsp:nvSpPr>
      <dsp:spPr>
        <a:xfrm>
          <a:off x="4716948" y="4259784"/>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Output Text</a:t>
          </a:r>
        </a:p>
      </dsp:txBody>
      <dsp:txXfrm>
        <a:off x="4906673" y="4449509"/>
        <a:ext cx="916076" cy="916076"/>
      </dsp:txXfrm>
    </dsp:sp>
    <dsp:sp modelId="{B8AAB8DC-843F-425F-95D4-D95FDAF88DA1}">
      <dsp:nvSpPr>
        <dsp:cNvPr id="0" name=""/>
        <dsp:cNvSpPr/>
      </dsp:nvSpPr>
      <dsp:spPr>
        <a:xfrm rot="10800000">
          <a:off x="4220967" y="2774362"/>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rot="10800000">
        <a:off x="4324053" y="2861810"/>
        <a:ext cx="240534" cy="262344"/>
      </dsp:txXfrm>
    </dsp:sp>
    <dsp:sp modelId="{C61B5A1E-8A36-4DA9-B16D-7310C196D689}">
      <dsp:nvSpPr>
        <dsp:cNvPr id="0" name=""/>
        <dsp:cNvSpPr/>
      </dsp:nvSpPr>
      <dsp:spPr>
        <a:xfrm>
          <a:off x="2773080" y="4259784"/>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Input Text</a:t>
          </a:r>
        </a:p>
      </dsp:txBody>
      <dsp:txXfrm>
        <a:off x="2962805" y="4449509"/>
        <a:ext cx="916076" cy="916076"/>
      </dsp:txXfrm>
    </dsp:sp>
    <dsp:sp modelId="{E65EBC0A-4303-4028-AB9F-494FDBE10DCC}">
      <dsp:nvSpPr>
        <dsp:cNvPr id="0" name=""/>
        <dsp:cNvSpPr/>
      </dsp:nvSpPr>
      <dsp:spPr>
        <a:xfrm rot="13885714">
          <a:off x="2649105" y="3936642"/>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rot="10800000">
        <a:off x="2732785" y="4064388"/>
        <a:ext cx="240534" cy="262344"/>
      </dsp:txXfrm>
    </dsp:sp>
    <dsp:sp modelId="{ED1B630F-D973-4F9E-879D-237C3BC2C0D7}">
      <dsp:nvSpPr>
        <dsp:cNvPr id="0" name=""/>
        <dsp:cNvSpPr/>
      </dsp:nvSpPr>
      <dsp:spPr>
        <a:xfrm>
          <a:off x="1561099" y="2740008"/>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CA" sz="1300" kern="1200" dirty="0">
              <a:latin typeface="Arial" panose="020B0604020202020204" pitchFamily="34" charset="0"/>
              <a:cs typeface="Arial" panose="020B0604020202020204" pitchFamily="34" charset="0"/>
            </a:rPr>
            <a:t>Tokenizer</a:t>
          </a:r>
        </a:p>
      </dsp:txBody>
      <dsp:txXfrm>
        <a:off x="1750824" y="2929733"/>
        <a:ext cx="916076" cy="916076"/>
      </dsp:txXfrm>
    </dsp:sp>
    <dsp:sp modelId="{24881F61-1848-4277-819E-3B161179F6A1}">
      <dsp:nvSpPr>
        <dsp:cNvPr id="0" name=""/>
        <dsp:cNvSpPr/>
      </dsp:nvSpPr>
      <dsp:spPr>
        <a:xfrm rot="16971429">
          <a:off x="2251163" y="2231067"/>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a:off x="2291237" y="2368766"/>
        <a:ext cx="240534" cy="262344"/>
      </dsp:txXfrm>
    </dsp:sp>
    <dsp:sp modelId="{8BAFF748-3C24-44CA-91AA-461FE706E580}">
      <dsp:nvSpPr>
        <dsp:cNvPr id="0" name=""/>
        <dsp:cNvSpPr/>
      </dsp:nvSpPr>
      <dsp:spPr>
        <a:xfrm>
          <a:off x="1993650" y="844877"/>
          <a:ext cx="1295526" cy="1295526"/>
        </a:xfrm>
        <a:prstGeom prst="ellipse">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55625">
            <a:lnSpc>
              <a:spcPct val="90000"/>
            </a:lnSpc>
            <a:spcBef>
              <a:spcPct val="0"/>
            </a:spcBef>
            <a:spcAft>
              <a:spcPct val="35000"/>
            </a:spcAft>
            <a:buNone/>
          </a:pPr>
          <a:r>
            <a:rPr lang="en-CA" sz="1250" kern="1200" dirty="0">
              <a:latin typeface="Arial" panose="020B0604020202020204" pitchFamily="34" charset="0"/>
              <a:cs typeface="Arial" panose="020B0604020202020204" pitchFamily="34" charset="0"/>
            </a:rPr>
            <a:t>Embedding</a:t>
          </a:r>
        </a:p>
      </dsp:txBody>
      <dsp:txXfrm>
        <a:off x="2183375" y="1034602"/>
        <a:ext cx="916076" cy="916076"/>
      </dsp:txXfrm>
    </dsp:sp>
    <dsp:sp modelId="{B225589D-1B4C-4766-AEA4-350BBC6DB548}">
      <dsp:nvSpPr>
        <dsp:cNvPr id="0" name=""/>
        <dsp:cNvSpPr/>
      </dsp:nvSpPr>
      <dsp:spPr>
        <a:xfrm rot="20057143">
          <a:off x="3336522" y="856533"/>
          <a:ext cx="343620" cy="4372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CA" sz="1100" kern="1200"/>
        </a:p>
      </dsp:txBody>
      <dsp:txXfrm>
        <a:off x="3341626" y="966345"/>
        <a:ext cx="240534" cy="2623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8A716-CBE4-4A5D-9362-815E8DBA2C0B}">
      <dsp:nvSpPr>
        <dsp:cNvPr id="0" name=""/>
        <dsp:cNvSpPr/>
      </dsp:nvSpPr>
      <dsp:spPr>
        <a:xfrm>
          <a:off x="2540" y="811261"/>
          <a:ext cx="2476500" cy="831543"/>
        </a:xfrm>
        <a:prstGeom prst="rect">
          <a:avLst/>
        </a:prstGeom>
        <a:solidFill>
          <a:schemeClr val="accent2"/>
        </a:solidFill>
        <a:ln w="13970" cap="flat" cmpd="sng" algn="ctr">
          <a:solidFill>
            <a:schemeClr val="accent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r" defTabSz="1066800">
            <a:lnSpc>
              <a:spcPct val="90000"/>
            </a:lnSpc>
            <a:spcBef>
              <a:spcPct val="0"/>
            </a:spcBef>
            <a:spcAft>
              <a:spcPct val="35000"/>
            </a:spcAft>
            <a:buNone/>
          </a:pPr>
          <a:r>
            <a:rPr lang="en-CA" sz="2400" b="1" kern="1200" dirty="0">
              <a:latin typeface="Arial" panose="020B0604020202020204" pitchFamily="34" charset="0"/>
              <a:cs typeface="Arial" panose="020B0604020202020204" pitchFamily="34" charset="0"/>
            </a:rPr>
            <a:t>Clinical Practice</a:t>
          </a:r>
          <a:endParaRPr lang="en-CA" sz="2400" kern="1200" dirty="0">
            <a:latin typeface="Arial" panose="020B0604020202020204" pitchFamily="34" charset="0"/>
            <a:cs typeface="Arial" panose="020B0604020202020204" pitchFamily="34" charset="0"/>
          </a:endParaRPr>
        </a:p>
      </dsp:txBody>
      <dsp:txXfrm>
        <a:off x="2540" y="811261"/>
        <a:ext cx="2476500" cy="831543"/>
      </dsp:txXfrm>
    </dsp:sp>
    <dsp:sp modelId="{6C3E9FDE-7849-405F-BBC8-C722559BF1E4}">
      <dsp:nvSpPr>
        <dsp:cNvPr id="0" name=""/>
        <dsp:cNvSpPr/>
      </dsp:nvSpPr>
      <dsp:spPr>
        <a:xfrm>
          <a:off x="2540" y="1642805"/>
          <a:ext cx="2476500" cy="2964600"/>
        </a:xfrm>
        <a:prstGeom prst="rect">
          <a:avLst/>
        </a:prstGeom>
        <a:solidFill>
          <a:schemeClr val="accent2">
            <a:lumMod val="60000"/>
            <a:lumOff val="40000"/>
            <a:alpha val="90000"/>
          </a:schemeClr>
        </a:solidFill>
        <a:ln w="13970" cap="flat" cmpd="sng" algn="ctr">
          <a:solidFill>
            <a:schemeClr val="accent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Medical Question Answering</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Administrative Tasks</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Clinical Decision-Making</a:t>
          </a:r>
        </a:p>
      </dsp:txBody>
      <dsp:txXfrm>
        <a:off x="2540" y="1642805"/>
        <a:ext cx="2476500" cy="2964600"/>
      </dsp:txXfrm>
    </dsp:sp>
    <dsp:sp modelId="{28C1B570-23E6-4DD6-A1DD-6877E65933BB}">
      <dsp:nvSpPr>
        <dsp:cNvPr id="0" name=""/>
        <dsp:cNvSpPr/>
      </dsp:nvSpPr>
      <dsp:spPr>
        <a:xfrm>
          <a:off x="2825750" y="811261"/>
          <a:ext cx="2476500" cy="831543"/>
        </a:xfrm>
        <a:prstGeom prst="rect">
          <a:avLst/>
        </a:prstGeom>
        <a:solidFill>
          <a:schemeClr val="accent3"/>
        </a:solidFill>
        <a:ln w="13970" cap="flat" cmpd="sng" algn="ctr">
          <a:solidFill>
            <a:schemeClr val="accent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r" defTabSz="1066800">
            <a:lnSpc>
              <a:spcPct val="90000"/>
            </a:lnSpc>
            <a:spcBef>
              <a:spcPct val="0"/>
            </a:spcBef>
            <a:spcAft>
              <a:spcPct val="35000"/>
            </a:spcAft>
            <a:buNone/>
          </a:pPr>
          <a:r>
            <a:rPr lang="en-CA" sz="2400" b="1" kern="1200" dirty="0">
              <a:latin typeface="Arial" panose="020B0604020202020204" pitchFamily="34" charset="0"/>
              <a:cs typeface="Arial" panose="020B0604020202020204" pitchFamily="34" charset="0"/>
            </a:rPr>
            <a:t>Medical Education</a:t>
          </a:r>
          <a:endParaRPr lang="en-CA" sz="2400" kern="1200" dirty="0">
            <a:latin typeface="Arial" panose="020B0604020202020204" pitchFamily="34" charset="0"/>
            <a:cs typeface="Arial" panose="020B0604020202020204" pitchFamily="34" charset="0"/>
          </a:endParaRPr>
        </a:p>
      </dsp:txBody>
      <dsp:txXfrm>
        <a:off x="2825750" y="811261"/>
        <a:ext cx="2476500" cy="831543"/>
      </dsp:txXfrm>
    </dsp:sp>
    <dsp:sp modelId="{E5E9DCAA-B1D9-4B49-B6F6-8CBA8A2C4C03}">
      <dsp:nvSpPr>
        <dsp:cNvPr id="0" name=""/>
        <dsp:cNvSpPr/>
      </dsp:nvSpPr>
      <dsp:spPr>
        <a:xfrm>
          <a:off x="2825750" y="1642805"/>
          <a:ext cx="2476500" cy="2964600"/>
        </a:xfrm>
        <a:prstGeom prst="rect">
          <a:avLst/>
        </a:prstGeom>
        <a:solidFill>
          <a:schemeClr val="accent3">
            <a:lumMod val="20000"/>
            <a:lumOff val="80000"/>
            <a:alpha val="90000"/>
          </a:schemeClr>
        </a:solidFill>
        <a:ln w="13970" cap="flat" cmpd="sng" algn="ctr">
          <a:solidFill>
            <a:schemeClr val="accent3">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Personalized Learning</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Educational Material Generation</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Virtual Patients</a:t>
          </a:r>
        </a:p>
      </dsp:txBody>
      <dsp:txXfrm>
        <a:off x="2825750" y="1642805"/>
        <a:ext cx="2476500" cy="2964600"/>
      </dsp:txXfrm>
    </dsp:sp>
    <dsp:sp modelId="{F02E3789-3250-4CCE-8107-268CD2181533}">
      <dsp:nvSpPr>
        <dsp:cNvPr id="0" name=""/>
        <dsp:cNvSpPr/>
      </dsp:nvSpPr>
      <dsp:spPr>
        <a:xfrm>
          <a:off x="5648960" y="811261"/>
          <a:ext cx="2476500" cy="831543"/>
        </a:xfrm>
        <a:prstGeom prst="rect">
          <a:avLst/>
        </a:prstGeom>
        <a:solidFill>
          <a:schemeClr val="accent1">
            <a:lumMod val="60000"/>
            <a:lumOff val="40000"/>
          </a:schemeClr>
        </a:solidFill>
        <a:ln w="1397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r" defTabSz="1066800">
            <a:lnSpc>
              <a:spcPct val="90000"/>
            </a:lnSpc>
            <a:spcBef>
              <a:spcPct val="0"/>
            </a:spcBef>
            <a:spcAft>
              <a:spcPct val="35000"/>
            </a:spcAft>
            <a:buNone/>
          </a:pPr>
          <a:r>
            <a:rPr lang="en-CA" sz="2400" b="1" kern="1200" dirty="0">
              <a:latin typeface="Arial" panose="020B0604020202020204" pitchFamily="34" charset="0"/>
              <a:cs typeface="Arial" panose="020B0604020202020204" pitchFamily="34" charset="0"/>
            </a:rPr>
            <a:t>Medical Research</a:t>
          </a:r>
          <a:endParaRPr lang="en-CA" sz="2400" kern="1200" dirty="0">
            <a:latin typeface="Arial" panose="020B0604020202020204" pitchFamily="34" charset="0"/>
            <a:cs typeface="Arial" panose="020B0604020202020204" pitchFamily="34" charset="0"/>
          </a:endParaRPr>
        </a:p>
      </dsp:txBody>
      <dsp:txXfrm>
        <a:off x="5648960" y="811261"/>
        <a:ext cx="2476500" cy="831543"/>
      </dsp:txXfrm>
    </dsp:sp>
    <dsp:sp modelId="{DB4AF3ED-0B12-48E9-B7BE-2C4B4CB58D15}">
      <dsp:nvSpPr>
        <dsp:cNvPr id="0" name=""/>
        <dsp:cNvSpPr/>
      </dsp:nvSpPr>
      <dsp:spPr>
        <a:xfrm>
          <a:off x="5648960" y="1642805"/>
          <a:ext cx="2476500" cy="2964600"/>
        </a:xfrm>
        <a:prstGeom prst="rect">
          <a:avLst/>
        </a:prstGeom>
        <a:solidFill>
          <a:schemeClr val="accent4">
            <a:lumMod val="20000"/>
            <a:lumOff val="80000"/>
            <a:alpha val="90000"/>
          </a:schemeClr>
        </a:solidFill>
        <a:ln w="13970" cap="flat" cmpd="sng" algn="ctr">
          <a:solidFill>
            <a:schemeClr val="accent1">
              <a:lumMod val="50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Assistance with Academic Writing</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Language Translation</a:t>
          </a:r>
        </a:p>
        <a:p>
          <a:pPr marL="228600" lvl="1" indent="-228600" algn="l" defTabSz="1066800">
            <a:lnSpc>
              <a:spcPct val="90000"/>
            </a:lnSpc>
            <a:spcBef>
              <a:spcPct val="0"/>
            </a:spcBef>
            <a:spcAft>
              <a:spcPct val="15000"/>
            </a:spcAft>
            <a:buFont typeface="Arial" panose="020B0604020202020204" pitchFamily="34" charset="0"/>
            <a:buChar char="•"/>
          </a:pPr>
          <a:r>
            <a:rPr lang="en-CA" sz="2400" kern="1200" dirty="0">
              <a:latin typeface="Arial" panose="020B0604020202020204" pitchFamily="34" charset="0"/>
              <a:cs typeface="Arial" panose="020B0604020202020204" pitchFamily="34" charset="0"/>
            </a:rPr>
            <a:t>Data Analysis</a:t>
          </a:r>
        </a:p>
      </dsp:txBody>
      <dsp:txXfrm>
        <a:off x="5648960" y="1642805"/>
        <a:ext cx="2476500" cy="2964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1E86D-B6B4-48F1-9C0E-6476F00534E0}">
      <dsp:nvSpPr>
        <dsp:cNvPr id="0" name=""/>
        <dsp:cNvSpPr/>
      </dsp:nvSpPr>
      <dsp:spPr>
        <a:xfrm>
          <a:off x="-6081970" y="-937410"/>
          <a:ext cx="7293488" cy="7293488"/>
        </a:xfrm>
        <a:prstGeom prst="blockArc">
          <a:avLst>
            <a:gd name="adj1" fmla="val 18900000"/>
            <a:gd name="adj2" fmla="val 2700000"/>
            <a:gd name="adj3" fmla="val 296"/>
          </a:avLst>
        </a:prstGeom>
        <a:noFill/>
        <a:ln w="1397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92D8D3-BB8D-4DE9-9DFA-40B788C784D8}">
      <dsp:nvSpPr>
        <dsp:cNvPr id="0" name=""/>
        <dsp:cNvSpPr/>
      </dsp:nvSpPr>
      <dsp:spPr>
        <a:xfrm>
          <a:off x="795316" y="541866"/>
          <a:ext cx="7301111" cy="1083733"/>
        </a:xfrm>
        <a:prstGeom prst="rect">
          <a:avLst/>
        </a:prstGeom>
        <a:solidFill>
          <a:schemeClr val="accent6">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pitchFamily="34" charset="0"/>
              <a:cs typeface="Arial" panose="020B0604020202020204" pitchFamily="34" charset="0"/>
            </a:rPr>
            <a:t>Learns everything from the ground up using massive datasets and huge compute. </a:t>
          </a:r>
          <a:br>
            <a:rPr lang="en-US" sz="1900" kern="1200" dirty="0">
              <a:latin typeface="Arial" panose="020B0604020202020204" pitchFamily="34" charset="0"/>
              <a:cs typeface="Arial" panose="020B0604020202020204" pitchFamily="34" charset="0"/>
            </a:rPr>
          </a:br>
          <a:r>
            <a:rPr lang="en-US" sz="1900" kern="1200" dirty="0">
              <a:latin typeface="Arial" panose="020B0604020202020204" pitchFamily="34" charset="0"/>
              <a:cs typeface="Arial" panose="020B0604020202020204" pitchFamily="34" charset="0"/>
            </a:rPr>
            <a:t>Builds a general foundation model (e.g., GPT).</a:t>
          </a:r>
          <a:endParaRPr lang="en-CA" sz="1900" b="0" kern="1200" dirty="0">
            <a:latin typeface="Arial" panose="020B0604020202020204" pitchFamily="34" charset="0"/>
            <a:cs typeface="Arial" panose="020B0604020202020204" pitchFamily="34" charset="0"/>
          </a:endParaRPr>
        </a:p>
      </dsp:txBody>
      <dsp:txXfrm>
        <a:off x="795316" y="541866"/>
        <a:ext cx="7301111" cy="1083733"/>
      </dsp:txXfrm>
    </dsp:sp>
    <dsp:sp modelId="{E0ACC037-8DA8-4D58-86FF-23793B639311}">
      <dsp:nvSpPr>
        <dsp:cNvPr id="0" name=""/>
        <dsp:cNvSpPr/>
      </dsp:nvSpPr>
      <dsp:spPr>
        <a:xfrm>
          <a:off x="18015" y="349883"/>
          <a:ext cx="1554602" cy="1467700"/>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E8865E-3590-421B-AFC2-D895AEB9D0CE}">
      <dsp:nvSpPr>
        <dsp:cNvPr id="0" name=""/>
        <dsp:cNvSpPr/>
      </dsp:nvSpPr>
      <dsp:spPr>
        <a:xfrm>
          <a:off x="1164319" y="1851108"/>
          <a:ext cx="6957044" cy="1716449"/>
        </a:xfrm>
        <a:prstGeom prst="rect">
          <a:avLst/>
        </a:prstGeom>
        <a:solidFill>
          <a:schemeClr val="accent6">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50800" rIns="50800" bIns="50800" numCol="1" spcCol="1270" anchor="ctr" anchorCtr="0">
          <a:noAutofit/>
        </a:bodyPr>
        <a:lstStyle/>
        <a:p>
          <a:pPr marL="0" lvl="0" indent="0" algn="l" defTabSz="111125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Starts from a pretrained model → adapts to a specific task. </a:t>
          </a:r>
          <a:br>
            <a:rPr lang="en-US" sz="2000" kern="1200" dirty="0">
              <a:latin typeface="Arial" panose="020B0604020202020204" pitchFamily="34" charset="0"/>
              <a:cs typeface="Arial" panose="020B0604020202020204" pitchFamily="34" charset="0"/>
            </a:rPr>
          </a:br>
          <a:r>
            <a:rPr lang="en-US" sz="2000" kern="1200" dirty="0">
              <a:latin typeface="Arial" panose="020B0604020202020204" pitchFamily="34" charset="0"/>
              <a:cs typeface="Arial" panose="020B0604020202020204" pitchFamily="34" charset="0"/>
            </a:rPr>
            <a:t>Uses smaller, curated datasets and updates only parts of the model. </a:t>
          </a:r>
          <a:br>
            <a:rPr lang="en-US" sz="2000" kern="1200" dirty="0">
              <a:latin typeface="Arial" panose="020B0604020202020204" pitchFamily="34" charset="0"/>
              <a:cs typeface="Arial" panose="020B0604020202020204" pitchFamily="34" charset="0"/>
            </a:rPr>
          </a:br>
          <a:r>
            <a:rPr lang="en-CA" sz="2000" kern="1200" dirty="0">
              <a:latin typeface="Arial" panose="020B0604020202020204" pitchFamily="34" charset="0"/>
              <a:cs typeface="Arial" panose="020B0604020202020204" pitchFamily="34" charset="0"/>
            </a:rPr>
            <a:t>Produces specialized, high-performance models.</a:t>
          </a:r>
        </a:p>
      </dsp:txBody>
      <dsp:txXfrm>
        <a:off x="1164319" y="1851108"/>
        <a:ext cx="6957044" cy="1716449"/>
      </dsp:txXfrm>
    </dsp:sp>
    <dsp:sp modelId="{60C6B906-0C4C-4401-8E8D-F5E70641E13C}">
      <dsp:nvSpPr>
        <dsp:cNvPr id="0" name=""/>
        <dsp:cNvSpPr/>
      </dsp:nvSpPr>
      <dsp:spPr>
        <a:xfrm>
          <a:off x="456758" y="1971988"/>
          <a:ext cx="1464990" cy="1474690"/>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EBBB51-7D0A-4E29-B84C-C90F73961025}">
      <dsp:nvSpPr>
        <dsp:cNvPr id="0" name=""/>
        <dsp:cNvSpPr/>
      </dsp:nvSpPr>
      <dsp:spPr>
        <a:xfrm>
          <a:off x="795316" y="3793066"/>
          <a:ext cx="7301111" cy="1083733"/>
        </a:xfrm>
        <a:prstGeom prst="rect">
          <a:avLst/>
        </a:prstGeom>
        <a:solidFill>
          <a:schemeClr val="accent6">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pitchFamily="34" charset="0"/>
              <a:cs typeface="Arial" panose="020B0604020202020204" pitchFamily="34" charset="0"/>
            </a:rPr>
            <a:t>Handles new tasks without retraining (zero-shot).</a:t>
          </a:r>
        </a:p>
        <a:p>
          <a:pPr marL="0" lvl="0" indent="0" algn="l" defTabSz="844550">
            <a:lnSpc>
              <a:spcPct val="90000"/>
            </a:lnSpc>
            <a:spcBef>
              <a:spcPct val="0"/>
            </a:spcBef>
            <a:spcAft>
              <a:spcPct val="35000"/>
            </a:spcAft>
            <a:buNone/>
          </a:pPr>
          <a:r>
            <a:rPr lang="en-US" sz="1900" kern="1200" dirty="0">
              <a:latin typeface="Arial" panose="020B0604020202020204" pitchFamily="34" charset="0"/>
              <a:cs typeface="Arial" panose="020B0604020202020204" pitchFamily="34" charset="0"/>
            </a:rPr>
            <a:t>Can use a few examples to guide responses (few-shot).</a:t>
          </a:r>
        </a:p>
        <a:p>
          <a:pPr marL="0" lvl="0" indent="0" algn="l" defTabSz="844550">
            <a:lnSpc>
              <a:spcPct val="90000"/>
            </a:lnSpc>
            <a:spcBef>
              <a:spcPct val="0"/>
            </a:spcBef>
            <a:spcAft>
              <a:spcPct val="35000"/>
            </a:spcAft>
            <a:buNone/>
          </a:pPr>
          <a:r>
            <a:rPr lang="en-CA" sz="1900" kern="1200" dirty="0">
              <a:latin typeface="Arial" panose="020B0604020202020204" pitchFamily="34" charset="0"/>
              <a:cs typeface="Arial" panose="020B0604020202020204" pitchFamily="34" charset="0"/>
            </a:rPr>
            <a:t>Enables fast experimentation and prototyping.</a:t>
          </a:r>
        </a:p>
      </dsp:txBody>
      <dsp:txXfrm>
        <a:off x="795316" y="3793066"/>
        <a:ext cx="7301111" cy="1083733"/>
      </dsp:txXfrm>
    </dsp:sp>
    <dsp:sp modelId="{F5329DCF-1648-4268-A8F4-6BD63FC0E834}">
      <dsp:nvSpPr>
        <dsp:cNvPr id="0" name=""/>
        <dsp:cNvSpPr/>
      </dsp:nvSpPr>
      <dsp:spPr>
        <a:xfrm>
          <a:off x="6636" y="3508634"/>
          <a:ext cx="1577360" cy="1652598"/>
        </a:xfrm>
        <a:prstGeom prst="ellipse">
          <a:avLst/>
        </a:prstGeom>
        <a:solidFill>
          <a:schemeClr val="l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A0BFA-2671-4F29-BD47-A6550BEBDD6C}">
      <dsp:nvSpPr>
        <dsp:cNvPr id="0" name=""/>
        <dsp:cNvSpPr/>
      </dsp:nvSpPr>
      <dsp:spPr>
        <a:xfrm>
          <a:off x="8074751" y="1829947"/>
          <a:ext cx="2416594" cy="2416718"/>
        </a:xfrm>
        <a:prstGeom prst="ellipse">
          <a:avLst/>
        </a:prstGeom>
        <a:solidFill>
          <a:srgbClr val="0070C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30CC73-91A0-47D5-BDBA-8C9A65D70EBC}">
      <dsp:nvSpPr>
        <dsp:cNvPr id="0" name=""/>
        <dsp:cNvSpPr/>
      </dsp:nvSpPr>
      <dsp:spPr>
        <a:xfrm>
          <a:off x="8155581" y="1910519"/>
          <a:ext cx="2255972" cy="2255575"/>
        </a:xfrm>
        <a:prstGeom prst="ellipse">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solidFill>
                <a:schemeClr val="tx1"/>
              </a:solidFill>
              <a:effectLst/>
              <a:latin typeface="Arial" panose="020B0604020202020204" pitchFamily="34" charset="0"/>
              <a:ea typeface="+mn-ea"/>
              <a:cs typeface="Arial" panose="020B0604020202020204" pitchFamily="34" charset="0"/>
            </a:rPr>
            <a:t>Processing Phase</a:t>
          </a:r>
          <a:endParaRPr lang="en-CA" sz="2000" kern="1200" dirty="0">
            <a:latin typeface="Arial" panose="020B0604020202020204" pitchFamily="34" charset="0"/>
            <a:cs typeface="Arial" panose="020B0604020202020204" pitchFamily="34" charset="0"/>
          </a:endParaRPr>
        </a:p>
      </dsp:txBody>
      <dsp:txXfrm>
        <a:off x="8477862" y="2232804"/>
        <a:ext cx="1611408" cy="1611004"/>
      </dsp:txXfrm>
    </dsp:sp>
    <dsp:sp modelId="{6A944D94-2C83-4034-B41C-C404330FF6C3}">
      <dsp:nvSpPr>
        <dsp:cNvPr id="0" name=""/>
        <dsp:cNvSpPr/>
      </dsp:nvSpPr>
      <dsp:spPr>
        <a:xfrm rot="2700000">
          <a:off x="5566944" y="1829777"/>
          <a:ext cx="2416634" cy="2416634"/>
        </a:xfrm>
        <a:prstGeom prst="teardrop">
          <a:avLst>
            <a:gd name="adj" fmla="val 100000"/>
          </a:avLst>
        </a:prstGeom>
        <a:solidFill>
          <a:srgbClr val="0070C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35F0C3-92C7-46B0-BE29-F1BBC99D16EF}">
      <dsp:nvSpPr>
        <dsp:cNvPr id="0" name=""/>
        <dsp:cNvSpPr/>
      </dsp:nvSpPr>
      <dsp:spPr>
        <a:xfrm>
          <a:off x="5658156" y="1910519"/>
          <a:ext cx="2255972" cy="2255575"/>
        </a:xfrm>
        <a:prstGeom prst="ellipse">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solidFill>
                <a:schemeClr val="tx1"/>
              </a:solidFill>
              <a:effectLst/>
              <a:latin typeface="Arial" panose="020B0604020202020204" pitchFamily="34" charset="0"/>
              <a:ea typeface="+mn-ea"/>
              <a:cs typeface="Arial" panose="020B0604020202020204" pitchFamily="34" charset="0"/>
            </a:rPr>
            <a:t>Fusion Phase</a:t>
          </a:r>
          <a:endParaRPr lang="en-CA" sz="2000" kern="1200" dirty="0">
            <a:latin typeface="Arial" panose="020B0604020202020204" pitchFamily="34" charset="0"/>
            <a:cs typeface="Arial" panose="020B0604020202020204" pitchFamily="34" charset="0"/>
          </a:endParaRPr>
        </a:p>
      </dsp:txBody>
      <dsp:txXfrm>
        <a:off x="5980438" y="2232804"/>
        <a:ext cx="1611408" cy="1611004"/>
      </dsp:txXfrm>
    </dsp:sp>
    <dsp:sp modelId="{58A195D0-2D03-46B3-8CF6-B207C90B978E}">
      <dsp:nvSpPr>
        <dsp:cNvPr id="0" name=""/>
        <dsp:cNvSpPr/>
      </dsp:nvSpPr>
      <dsp:spPr>
        <a:xfrm rot="2700000">
          <a:off x="3079883" y="1829777"/>
          <a:ext cx="2416634" cy="2416634"/>
        </a:xfrm>
        <a:prstGeom prst="teardrop">
          <a:avLst>
            <a:gd name="adj" fmla="val 100000"/>
          </a:avLst>
        </a:prstGeom>
        <a:solidFill>
          <a:srgbClr val="0070C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5BCEC6-4279-4F6C-9124-11B66049930F}">
      <dsp:nvSpPr>
        <dsp:cNvPr id="0" name=""/>
        <dsp:cNvSpPr/>
      </dsp:nvSpPr>
      <dsp:spPr>
        <a:xfrm>
          <a:off x="3160732" y="1910519"/>
          <a:ext cx="2255972" cy="2255575"/>
        </a:xfrm>
        <a:prstGeom prst="ellipse">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solidFill>
                <a:schemeClr val="tx1"/>
              </a:solidFill>
              <a:effectLst/>
              <a:latin typeface="Arial" panose="020B0604020202020204" pitchFamily="34" charset="0"/>
              <a:ea typeface="+mn-ea"/>
              <a:cs typeface="Arial" panose="020B0604020202020204" pitchFamily="34" charset="0"/>
            </a:rPr>
            <a:t>Alignment Phase</a:t>
          </a:r>
          <a:endParaRPr lang="en-CA" sz="2000" kern="1200" dirty="0"/>
        </a:p>
      </dsp:txBody>
      <dsp:txXfrm>
        <a:off x="3483014" y="2232804"/>
        <a:ext cx="1611408" cy="1611004"/>
      </dsp:txXfrm>
    </dsp:sp>
    <dsp:sp modelId="{1E6F4E47-3D2E-427C-BBED-A26721C22614}">
      <dsp:nvSpPr>
        <dsp:cNvPr id="0" name=""/>
        <dsp:cNvSpPr/>
      </dsp:nvSpPr>
      <dsp:spPr>
        <a:xfrm rot="2700000">
          <a:off x="582458" y="1829777"/>
          <a:ext cx="2416634" cy="2416634"/>
        </a:xfrm>
        <a:prstGeom prst="teardrop">
          <a:avLst>
            <a:gd name="adj" fmla="val 100000"/>
          </a:avLst>
        </a:prstGeom>
        <a:solidFill>
          <a:srgbClr val="0070C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43CDB9-E15A-41F0-84EA-2D9CE8E86DC0}">
      <dsp:nvSpPr>
        <dsp:cNvPr id="0" name=""/>
        <dsp:cNvSpPr/>
      </dsp:nvSpPr>
      <dsp:spPr>
        <a:xfrm>
          <a:off x="663308" y="1910519"/>
          <a:ext cx="2255972" cy="2255575"/>
        </a:xfrm>
        <a:prstGeom prst="ellipse">
          <a:avLst/>
        </a:prstGeom>
        <a:solidFill>
          <a:schemeClr val="lt1">
            <a:alpha val="90000"/>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solidFill>
                <a:schemeClr val="tx1"/>
              </a:solidFill>
              <a:effectLst/>
              <a:latin typeface="Arial" panose="020B0604020202020204" pitchFamily="34" charset="0"/>
              <a:ea typeface="+mn-ea"/>
              <a:cs typeface="Arial" panose="020B0604020202020204" pitchFamily="34" charset="0"/>
            </a:rPr>
            <a:t>Encoding Phase</a:t>
          </a:r>
          <a:endParaRPr lang="en-CA" sz="2000" kern="1200" dirty="0">
            <a:latin typeface="Arial" panose="020B0604020202020204" pitchFamily="34" charset="0"/>
            <a:cs typeface="Arial" panose="020B0604020202020204" pitchFamily="34" charset="0"/>
          </a:endParaRPr>
        </a:p>
      </dsp:txBody>
      <dsp:txXfrm>
        <a:off x="985589" y="2232804"/>
        <a:ext cx="1611408" cy="16110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FE27B5-D77F-4C6E-83B4-C4FA7FCA88A5}">
      <dsp:nvSpPr>
        <dsp:cNvPr id="0" name=""/>
        <dsp:cNvSpPr/>
      </dsp:nvSpPr>
      <dsp:spPr>
        <a:xfrm>
          <a:off x="3292" y="428996"/>
          <a:ext cx="2034057" cy="662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CA" sz="2100" b="1" kern="1200" dirty="0">
              <a:latin typeface="Arial" panose="020B0604020202020204" pitchFamily="34" charset="0"/>
              <a:cs typeface="Arial" panose="020B0604020202020204" pitchFamily="34" charset="0"/>
            </a:rPr>
            <a:t>Why They Matter</a:t>
          </a:r>
        </a:p>
      </dsp:txBody>
      <dsp:txXfrm>
        <a:off x="3292" y="428996"/>
        <a:ext cx="2034057" cy="662681"/>
      </dsp:txXfrm>
    </dsp:sp>
    <dsp:sp modelId="{14924A4E-D99E-4ACA-926B-D8B513235657}">
      <dsp:nvSpPr>
        <dsp:cNvPr id="0" name=""/>
        <dsp:cNvSpPr/>
      </dsp:nvSpPr>
      <dsp:spPr>
        <a:xfrm>
          <a:off x="2037350" y="97655"/>
          <a:ext cx="406811" cy="1325362"/>
        </a:xfrm>
        <a:prstGeom prst="leftBrace">
          <a:avLst>
            <a:gd name="adj1" fmla="val 35000"/>
            <a:gd name="adj2" fmla="val 50000"/>
          </a:avLst>
        </a:prstGeom>
        <a:noFill/>
        <a:ln w="1397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FD9252-01FF-4315-92BD-53DE3D412196}">
      <dsp:nvSpPr>
        <dsp:cNvPr id="0" name=""/>
        <dsp:cNvSpPr/>
      </dsp:nvSpPr>
      <dsp:spPr>
        <a:xfrm>
          <a:off x="2606886" y="46556"/>
          <a:ext cx="6262558" cy="1427561"/>
        </a:xfrm>
        <a:prstGeom prst="rect">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Font typeface="Arial" panose="020B0604020202020204" pitchFamily="34" charset="0"/>
            <a:buChar char="•"/>
          </a:pPr>
          <a:r>
            <a:rPr lang="en-US" sz="2100" b="0" kern="1200" dirty="0">
              <a:latin typeface="Arial" panose="020B0604020202020204" pitchFamily="34" charset="0"/>
              <a:cs typeface="Arial" panose="020B0604020202020204" pitchFamily="34" charset="0"/>
            </a:rPr>
            <a:t>Healthcare uses many data types — text, images, sounds, and labs.</a:t>
          </a:r>
          <a:endParaRPr lang="en-CA" sz="2100" b="0" kern="1200" dirty="0">
            <a:latin typeface="Arial" panose="020B0604020202020204" pitchFamily="34" charset="0"/>
            <a:cs typeface="Arial" panose="020B0604020202020204" pitchFamily="34" charset="0"/>
          </a:endParaRPr>
        </a:p>
        <a:p>
          <a:pPr marL="228600" lvl="1" indent="-228600" algn="l" defTabSz="933450">
            <a:lnSpc>
              <a:spcPct val="90000"/>
            </a:lnSpc>
            <a:spcBef>
              <a:spcPct val="0"/>
            </a:spcBef>
            <a:spcAft>
              <a:spcPct val="15000"/>
            </a:spcAft>
            <a:buFont typeface="Arial" panose="020B0604020202020204" pitchFamily="34" charset="0"/>
            <a:buChar char="•"/>
          </a:pPr>
          <a:r>
            <a:rPr lang="en-US" sz="2100" b="0" kern="1200" dirty="0">
              <a:latin typeface="Arial" panose="020B0604020202020204" pitchFamily="34" charset="0"/>
              <a:cs typeface="Arial" panose="020B0604020202020204" pitchFamily="34" charset="0"/>
            </a:rPr>
            <a:t>MLLMs unify these for smarter, context-aware analysis and decision support.</a:t>
          </a:r>
        </a:p>
      </dsp:txBody>
      <dsp:txXfrm>
        <a:off x="2606886" y="46556"/>
        <a:ext cx="6262558" cy="1427561"/>
      </dsp:txXfrm>
    </dsp:sp>
    <dsp:sp modelId="{3CC35610-B8C6-4CC4-AA65-DCE25222153A}">
      <dsp:nvSpPr>
        <dsp:cNvPr id="0" name=""/>
        <dsp:cNvSpPr/>
      </dsp:nvSpPr>
      <dsp:spPr>
        <a:xfrm>
          <a:off x="3292" y="2128556"/>
          <a:ext cx="2005897" cy="415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CA" sz="2100" b="1" kern="1200" dirty="0">
              <a:latin typeface="Arial" panose="020B0604020202020204" pitchFamily="34" charset="0"/>
              <a:cs typeface="Arial" panose="020B0604020202020204" pitchFamily="34" charset="0"/>
            </a:rPr>
            <a:t>Key Benefits</a:t>
          </a:r>
        </a:p>
      </dsp:txBody>
      <dsp:txXfrm>
        <a:off x="3292" y="2128556"/>
        <a:ext cx="2005897" cy="415800"/>
      </dsp:txXfrm>
    </dsp:sp>
    <dsp:sp modelId="{361B5041-85D6-4961-9A3A-11698EF1B99F}">
      <dsp:nvSpPr>
        <dsp:cNvPr id="0" name=""/>
        <dsp:cNvSpPr/>
      </dsp:nvSpPr>
      <dsp:spPr>
        <a:xfrm>
          <a:off x="2009190" y="1634794"/>
          <a:ext cx="401179" cy="1403325"/>
        </a:xfrm>
        <a:prstGeom prst="leftBrace">
          <a:avLst>
            <a:gd name="adj1" fmla="val 35000"/>
            <a:gd name="adj2" fmla="val 50000"/>
          </a:avLst>
        </a:prstGeom>
        <a:noFill/>
        <a:ln w="1397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524806-D1A6-43B2-BDB7-20BA383E2DE9}">
      <dsp:nvSpPr>
        <dsp:cNvPr id="0" name=""/>
        <dsp:cNvSpPr/>
      </dsp:nvSpPr>
      <dsp:spPr>
        <a:xfrm>
          <a:off x="2570841" y="1549717"/>
          <a:ext cx="6296761" cy="1573478"/>
        </a:xfrm>
        <a:prstGeom prst="rect">
          <a:avLst/>
        </a:prstGeom>
        <a:solidFill>
          <a:schemeClr val="accent5">
            <a:lumMod val="5000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Font typeface="Arial" panose="020B0604020202020204" pitchFamily="34" charset="0"/>
            <a:buChar char="•"/>
          </a:pPr>
          <a:r>
            <a:rPr lang="en-US" sz="2100" b="0" kern="1200" dirty="0">
              <a:latin typeface="Arial" panose="020B0604020202020204" pitchFamily="34" charset="0"/>
              <a:cs typeface="Arial" panose="020B0604020202020204" pitchFamily="34" charset="0"/>
            </a:rPr>
            <a:t>Boost diagnostic accuracy and clinical efficiency</a:t>
          </a:r>
          <a:endParaRPr lang="en-CA" sz="2100" b="0" kern="1200" dirty="0">
            <a:latin typeface="Arial" panose="020B0604020202020204" pitchFamily="34" charset="0"/>
            <a:cs typeface="Arial" panose="020B0604020202020204" pitchFamily="34" charset="0"/>
          </a:endParaRPr>
        </a:p>
        <a:p>
          <a:pPr marL="228600" lvl="1" indent="-228600" algn="l" defTabSz="933450">
            <a:lnSpc>
              <a:spcPct val="90000"/>
            </a:lnSpc>
            <a:spcBef>
              <a:spcPct val="0"/>
            </a:spcBef>
            <a:spcAft>
              <a:spcPct val="15000"/>
            </a:spcAft>
            <a:buFont typeface="Arial" panose="020B0604020202020204" pitchFamily="34" charset="0"/>
            <a:buChar char="•"/>
          </a:pPr>
          <a:r>
            <a:rPr lang="en-US" sz="2100" b="0" kern="1200" dirty="0">
              <a:latin typeface="Arial" panose="020B0604020202020204" pitchFamily="34" charset="0"/>
              <a:cs typeface="Arial" panose="020B0604020202020204" pitchFamily="34" charset="0"/>
            </a:rPr>
            <a:t>Cut administrative workload through automation</a:t>
          </a:r>
        </a:p>
        <a:p>
          <a:pPr marL="228600" lvl="1" indent="-228600" algn="l" defTabSz="933450">
            <a:lnSpc>
              <a:spcPct val="90000"/>
            </a:lnSpc>
            <a:spcBef>
              <a:spcPct val="0"/>
            </a:spcBef>
            <a:spcAft>
              <a:spcPct val="15000"/>
            </a:spcAft>
            <a:buFont typeface="Arial" panose="020B0604020202020204" pitchFamily="34" charset="0"/>
            <a:buChar char="•"/>
          </a:pPr>
          <a:r>
            <a:rPr lang="en-CA" sz="2100" b="0" kern="1200" dirty="0">
              <a:latin typeface="Arial" panose="020B0604020202020204" pitchFamily="34" charset="0"/>
              <a:cs typeface="Arial" panose="020B0604020202020204" pitchFamily="34" charset="0"/>
            </a:rPr>
            <a:t>Enable multilingual &amp; multimodal communication</a:t>
          </a:r>
        </a:p>
        <a:p>
          <a:pPr marL="228600" lvl="1" indent="-228600" algn="l" defTabSz="933450">
            <a:lnSpc>
              <a:spcPct val="90000"/>
            </a:lnSpc>
            <a:spcBef>
              <a:spcPct val="0"/>
            </a:spcBef>
            <a:spcAft>
              <a:spcPct val="15000"/>
            </a:spcAft>
            <a:buFont typeface="Arial" panose="020B0604020202020204" pitchFamily="34" charset="0"/>
            <a:buChar char="•"/>
          </a:pPr>
          <a:r>
            <a:rPr lang="en-US" sz="2100" b="0" kern="1200" dirty="0">
              <a:latin typeface="Arial" panose="020B0604020202020204" pitchFamily="34" charset="0"/>
              <a:cs typeface="Arial" panose="020B0604020202020204" pitchFamily="34" charset="0"/>
            </a:rPr>
            <a:t>Improve data integration across systems</a:t>
          </a:r>
        </a:p>
      </dsp:txBody>
      <dsp:txXfrm>
        <a:off x="2570841" y="1549717"/>
        <a:ext cx="6296761" cy="15734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CDB2B3-608A-447C-86F2-F4EE3FF4C1EB}">
      <dsp:nvSpPr>
        <dsp:cNvPr id="0" name=""/>
        <dsp:cNvSpPr/>
      </dsp:nvSpPr>
      <dsp:spPr>
        <a:xfrm rot="10800000">
          <a:off x="1477170" y="1693"/>
          <a:ext cx="5405120" cy="1106170"/>
        </a:xfrm>
        <a:prstGeom prst="homePlate">
          <a:avLst/>
        </a:prstGeom>
        <a:solidFill>
          <a:srgbClr val="00206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90" tIns="83820" rIns="156464" bIns="83820" numCol="1" spcCol="1270" anchor="ctr" anchorCtr="0">
          <a:noAutofit/>
        </a:bodyPr>
        <a:lstStyle/>
        <a:p>
          <a:pPr marL="0" lvl="0" indent="0" algn="ctr" defTabSz="977900">
            <a:lnSpc>
              <a:spcPct val="90000"/>
            </a:lnSpc>
            <a:spcBef>
              <a:spcPct val="0"/>
            </a:spcBef>
            <a:spcAft>
              <a:spcPct val="35000"/>
            </a:spcAft>
            <a:buNone/>
          </a:pPr>
          <a:r>
            <a:rPr lang="en-CA" sz="2200" b="1" kern="1200" dirty="0">
              <a:latin typeface="Arial" panose="020B0604020202020204" pitchFamily="34" charset="0"/>
              <a:cs typeface="Arial" panose="020B0604020202020204" pitchFamily="34" charset="0"/>
            </a:rPr>
            <a:t>Medical Image Analysis</a:t>
          </a:r>
        </a:p>
        <a:p>
          <a:pPr marL="0" lvl="0" indent="0" algn="ctr" defTabSz="977900">
            <a:lnSpc>
              <a:spcPct val="90000"/>
            </a:lnSpc>
            <a:spcBef>
              <a:spcPct val="0"/>
            </a:spcBef>
            <a:spcAft>
              <a:spcPct val="35000"/>
            </a:spcAft>
            <a:buNone/>
          </a:pPr>
          <a:r>
            <a:rPr lang="en-US" sz="1800" b="1" kern="1200" dirty="0">
              <a:latin typeface="Arial" panose="020B0604020202020204" pitchFamily="34" charset="0"/>
              <a:cs typeface="Arial" panose="020B0604020202020204" pitchFamily="34" charset="0"/>
            </a:rPr>
            <a:t>Understands and interprets X-rays, MRIs, and CT scans</a:t>
          </a:r>
          <a:r>
            <a:rPr lang="en-CA" sz="1800" kern="1200" dirty="0">
              <a:latin typeface="Arial" panose="020B0604020202020204" pitchFamily="34" charset="0"/>
              <a:cs typeface="Arial" panose="020B0604020202020204" pitchFamily="34" charset="0"/>
            </a:rPr>
            <a:t>	</a:t>
          </a:r>
        </a:p>
      </dsp:txBody>
      <dsp:txXfrm rot="10800000">
        <a:off x="1753712" y="1693"/>
        <a:ext cx="5128578" cy="1106170"/>
      </dsp:txXfrm>
    </dsp:sp>
    <dsp:sp modelId="{0921DB8C-9EFD-4FD3-8B51-CF57B8FBC175}">
      <dsp:nvSpPr>
        <dsp:cNvPr id="0" name=""/>
        <dsp:cNvSpPr/>
      </dsp:nvSpPr>
      <dsp:spPr>
        <a:xfrm>
          <a:off x="538479" y="423326"/>
          <a:ext cx="462921" cy="499114"/>
        </a:xfrm>
        <a:prstGeom prst="ellipse">
          <a:avLst/>
        </a:prstGeom>
        <a:solidFill>
          <a:schemeClr val="accent1">
            <a:tint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EC055F-4EA5-45C2-BC84-54BCAD82921E}">
      <dsp:nvSpPr>
        <dsp:cNvPr id="0" name=""/>
        <dsp:cNvSpPr/>
      </dsp:nvSpPr>
      <dsp:spPr>
        <a:xfrm rot="10800000">
          <a:off x="1470621" y="1438063"/>
          <a:ext cx="5405120" cy="1106170"/>
        </a:xfrm>
        <a:prstGeom prst="homePlate">
          <a:avLst/>
        </a:prstGeom>
        <a:solidFill>
          <a:srgbClr val="00206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90" tIns="83820" rIns="156464" bIns="83820" numCol="1" spcCol="1270" anchor="ctr" anchorCtr="0">
          <a:noAutofit/>
        </a:bodyPr>
        <a:lstStyle/>
        <a:p>
          <a:pPr marL="0" lvl="0" indent="0" algn="ctr" defTabSz="977900">
            <a:lnSpc>
              <a:spcPct val="90000"/>
            </a:lnSpc>
            <a:spcBef>
              <a:spcPct val="0"/>
            </a:spcBef>
            <a:spcAft>
              <a:spcPct val="35000"/>
            </a:spcAft>
            <a:buNone/>
          </a:pPr>
          <a:r>
            <a:rPr lang="en-CA" sz="2200" b="1" kern="1200" dirty="0">
              <a:latin typeface="Arial" panose="020B0604020202020204" pitchFamily="34" charset="0"/>
              <a:cs typeface="Arial" panose="020B0604020202020204" pitchFamily="34" charset="0"/>
            </a:rPr>
            <a:t>Text Summarization</a:t>
          </a:r>
          <a:br>
            <a:rPr lang="en-CA" sz="2200" b="1" kern="1200" dirty="0">
              <a:latin typeface="Arial" panose="020B0604020202020204" pitchFamily="34" charset="0"/>
              <a:cs typeface="Arial" panose="020B0604020202020204" pitchFamily="34" charset="0"/>
            </a:rPr>
          </a:br>
          <a:r>
            <a:rPr lang="en-CA" sz="1800" kern="1200" dirty="0">
              <a:latin typeface="Arial" panose="020B0604020202020204" pitchFamily="34" charset="0"/>
              <a:cs typeface="Arial" panose="020B0604020202020204" pitchFamily="34" charset="0"/>
            </a:rPr>
            <a:t>Summarizes patient records and clinical documents</a:t>
          </a:r>
          <a:r>
            <a:rPr lang="en-CA" sz="2200" kern="1200" dirty="0">
              <a:latin typeface="Arial" panose="020B0604020202020204" pitchFamily="34" charset="0"/>
              <a:cs typeface="Arial" panose="020B0604020202020204" pitchFamily="34" charset="0"/>
            </a:rPr>
            <a:t>	</a:t>
          </a:r>
        </a:p>
      </dsp:txBody>
      <dsp:txXfrm rot="10800000">
        <a:off x="1747163" y="1438063"/>
        <a:ext cx="5128578" cy="1106170"/>
      </dsp:txXfrm>
    </dsp:sp>
    <dsp:sp modelId="{8A896A88-78D1-4323-911C-46E347E267B0}">
      <dsp:nvSpPr>
        <dsp:cNvPr id="0" name=""/>
        <dsp:cNvSpPr/>
      </dsp:nvSpPr>
      <dsp:spPr>
        <a:xfrm>
          <a:off x="609595" y="384386"/>
          <a:ext cx="436726" cy="476261"/>
        </a:xfrm>
        <a:prstGeom prst="ellipse">
          <a:avLst/>
        </a:prstGeom>
        <a:solidFill>
          <a:schemeClr val="accent1">
            <a:tint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6437B0-623C-4E59-AAF4-D15411FF50B6}">
      <dsp:nvSpPr>
        <dsp:cNvPr id="0" name=""/>
        <dsp:cNvSpPr/>
      </dsp:nvSpPr>
      <dsp:spPr>
        <a:xfrm rot="10800000">
          <a:off x="1462485" y="2874433"/>
          <a:ext cx="5405120" cy="1106170"/>
        </a:xfrm>
        <a:prstGeom prst="homePlate">
          <a:avLst/>
        </a:prstGeom>
        <a:solidFill>
          <a:srgbClr val="00206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90" tIns="83820" rIns="156464" bIns="83820" numCol="1" spcCol="1270" anchor="ctr" anchorCtr="0">
          <a:noAutofit/>
        </a:bodyPr>
        <a:lstStyle/>
        <a:p>
          <a:pPr marL="0" lvl="0" indent="0" algn="ctr" defTabSz="977900">
            <a:lnSpc>
              <a:spcPct val="90000"/>
            </a:lnSpc>
            <a:spcBef>
              <a:spcPct val="0"/>
            </a:spcBef>
            <a:spcAft>
              <a:spcPct val="35000"/>
            </a:spcAft>
            <a:buNone/>
          </a:pPr>
          <a:r>
            <a:rPr lang="en-CA" sz="2200" b="1" kern="1200" dirty="0">
              <a:latin typeface="Arial" panose="020B0604020202020204" pitchFamily="34" charset="0"/>
              <a:cs typeface="Arial" panose="020B0604020202020204" pitchFamily="34" charset="0"/>
            </a:rPr>
            <a:t>Medical Question Answering</a:t>
          </a:r>
          <a:br>
            <a:rPr lang="en-CA" sz="2200" b="1" kern="1200" dirty="0">
              <a:latin typeface="Arial" panose="020B0604020202020204" pitchFamily="34" charset="0"/>
              <a:cs typeface="Arial" panose="020B0604020202020204" pitchFamily="34" charset="0"/>
            </a:rPr>
          </a:br>
          <a:r>
            <a:rPr lang="en-US" sz="1800" kern="1200" dirty="0">
              <a:latin typeface="Arial" panose="020B0604020202020204" pitchFamily="34" charset="0"/>
              <a:cs typeface="Arial" panose="020B0604020202020204" pitchFamily="34" charset="0"/>
            </a:rPr>
            <a:t>Answers health-related questions and queries</a:t>
          </a:r>
          <a:r>
            <a:rPr lang="en-CA" sz="2200" kern="1200" dirty="0">
              <a:latin typeface="Arial" panose="020B0604020202020204" pitchFamily="34" charset="0"/>
              <a:cs typeface="Arial" panose="020B0604020202020204" pitchFamily="34" charset="0"/>
            </a:rPr>
            <a:t>	</a:t>
          </a:r>
        </a:p>
      </dsp:txBody>
      <dsp:txXfrm rot="10800000">
        <a:off x="1739027" y="2874433"/>
        <a:ext cx="5128578" cy="1106170"/>
      </dsp:txXfrm>
    </dsp:sp>
    <dsp:sp modelId="{50875FDE-1E9B-46D8-A628-BA9651BBC203}">
      <dsp:nvSpPr>
        <dsp:cNvPr id="0" name=""/>
        <dsp:cNvSpPr/>
      </dsp:nvSpPr>
      <dsp:spPr>
        <a:xfrm>
          <a:off x="624246" y="377824"/>
          <a:ext cx="404183" cy="590550"/>
        </a:xfrm>
        <a:prstGeom prst="ellipse">
          <a:avLst/>
        </a:prstGeom>
        <a:solidFill>
          <a:schemeClr val="accent1">
            <a:tint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5D11EE-75F1-4ED7-A5DA-AC8125893007}">
      <dsp:nvSpPr>
        <dsp:cNvPr id="0" name=""/>
        <dsp:cNvSpPr/>
      </dsp:nvSpPr>
      <dsp:spPr>
        <a:xfrm rot="10800000">
          <a:off x="1469548" y="4310803"/>
          <a:ext cx="5405120" cy="1106170"/>
        </a:xfrm>
        <a:prstGeom prst="homePlate">
          <a:avLst/>
        </a:prstGeom>
        <a:solidFill>
          <a:srgbClr val="002060"/>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790" tIns="83820" rIns="156464" bIns="83820" numCol="1" spcCol="1270" anchor="ctr" anchorCtr="0">
          <a:noAutofit/>
        </a:bodyPr>
        <a:lstStyle/>
        <a:p>
          <a:pPr marL="0" lvl="0" indent="0" algn="ctr" defTabSz="977900">
            <a:lnSpc>
              <a:spcPct val="90000"/>
            </a:lnSpc>
            <a:spcBef>
              <a:spcPct val="0"/>
            </a:spcBef>
            <a:spcAft>
              <a:spcPct val="35000"/>
            </a:spcAft>
            <a:buNone/>
          </a:pPr>
          <a:r>
            <a:rPr lang="en-CA" sz="2200" b="1" kern="1200" dirty="0">
              <a:latin typeface="Arial" panose="020B0604020202020204" pitchFamily="34" charset="0"/>
              <a:cs typeface="Arial" panose="020B0604020202020204" pitchFamily="34" charset="0"/>
            </a:rPr>
            <a:t>Open-Source Flexibility</a:t>
          </a:r>
          <a:br>
            <a:rPr lang="en-CA" sz="2200" b="1" kern="1200" dirty="0">
              <a:latin typeface="Arial" panose="020B0604020202020204" pitchFamily="34" charset="0"/>
              <a:cs typeface="Arial" panose="020B0604020202020204" pitchFamily="34" charset="0"/>
            </a:rPr>
          </a:br>
          <a:r>
            <a:rPr lang="en-US" sz="1800" kern="1200" dirty="0">
              <a:latin typeface="Arial" panose="020B0604020202020204" pitchFamily="34" charset="0"/>
              <a:cs typeface="Arial" panose="020B0604020202020204" pitchFamily="34" charset="0"/>
            </a:rPr>
            <a:t>Customizable and adaptable to local healthcare needs</a:t>
          </a:r>
          <a:r>
            <a:rPr lang="en-CA" sz="2200" kern="1200" dirty="0">
              <a:latin typeface="Arial" panose="020B0604020202020204" pitchFamily="34" charset="0"/>
              <a:cs typeface="Arial" panose="020B0604020202020204" pitchFamily="34" charset="0"/>
            </a:rPr>
            <a:t>	</a:t>
          </a:r>
        </a:p>
      </dsp:txBody>
      <dsp:txXfrm rot="10800000">
        <a:off x="1746090" y="4310803"/>
        <a:ext cx="5128578" cy="1106170"/>
      </dsp:txXfrm>
    </dsp:sp>
    <dsp:sp modelId="{D60FFF7A-14DC-4431-A855-F78EE7754BC3}">
      <dsp:nvSpPr>
        <dsp:cNvPr id="0" name=""/>
        <dsp:cNvSpPr/>
      </dsp:nvSpPr>
      <dsp:spPr>
        <a:xfrm>
          <a:off x="593722" y="607700"/>
          <a:ext cx="432435" cy="247649"/>
        </a:xfrm>
        <a:prstGeom prst="ellipse">
          <a:avLst/>
        </a:prstGeom>
        <a:solidFill>
          <a:schemeClr val="accent1">
            <a:tint val="50000"/>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ACE8F-5AB6-4487-812B-629F71B087AD}">
      <dsp:nvSpPr>
        <dsp:cNvPr id="0" name=""/>
        <dsp:cNvSpPr/>
      </dsp:nvSpPr>
      <dsp:spPr>
        <a:xfrm>
          <a:off x="2798027" y="667386"/>
          <a:ext cx="4444589" cy="4444589"/>
        </a:xfrm>
        <a:prstGeom prst="blockArc">
          <a:avLst>
            <a:gd name="adj1" fmla="val 10800000"/>
            <a:gd name="adj2" fmla="val 162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6AD4C9-A243-4B76-A172-BB4418FC24E3}">
      <dsp:nvSpPr>
        <dsp:cNvPr id="0" name=""/>
        <dsp:cNvSpPr/>
      </dsp:nvSpPr>
      <dsp:spPr>
        <a:xfrm>
          <a:off x="2798027" y="667386"/>
          <a:ext cx="4444589" cy="4444589"/>
        </a:xfrm>
        <a:prstGeom prst="blockArc">
          <a:avLst>
            <a:gd name="adj1" fmla="val 5400000"/>
            <a:gd name="adj2" fmla="val 108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F8C3AF-E67D-4FC4-A6E9-927A1696ACFA}">
      <dsp:nvSpPr>
        <dsp:cNvPr id="0" name=""/>
        <dsp:cNvSpPr/>
      </dsp:nvSpPr>
      <dsp:spPr>
        <a:xfrm>
          <a:off x="2798027" y="667386"/>
          <a:ext cx="4444589" cy="4444589"/>
        </a:xfrm>
        <a:prstGeom prst="blockArc">
          <a:avLst>
            <a:gd name="adj1" fmla="val 0"/>
            <a:gd name="adj2" fmla="val 54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18F8ABF-5F80-4A56-A2F7-D59173C928C5}">
      <dsp:nvSpPr>
        <dsp:cNvPr id="0" name=""/>
        <dsp:cNvSpPr/>
      </dsp:nvSpPr>
      <dsp:spPr>
        <a:xfrm>
          <a:off x="2798027" y="667386"/>
          <a:ext cx="4444589" cy="4444589"/>
        </a:xfrm>
        <a:prstGeom prst="blockArc">
          <a:avLst>
            <a:gd name="adj1" fmla="val 16200000"/>
            <a:gd name="adj2" fmla="val 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048180-2BAF-4E73-B119-EAC06EAEED88}">
      <dsp:nvSpPr>
        <dsp:cNvPr id="0" name=""/>
        <dsp:cNvSpPr/>
      </dsp:nvSpPr>
      <dsp:spPr>
        <a:xfrm>
          <a:off x="4933023" y="2610029"/>
          <a:ext cx="174597" cy="559304"/>
        </a:xfrm>
        <a:prstGeom prst="ellipse">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CA" sz="2400" kern="1200" dirty="0"/>
        </a:p>
      </dsp:txBody>
      <dsp:txXfrm>
        <a:off x="4958592" y="2691937"/>
        <a:ext cx="123459" cy="395488"/>
      </dsp:txXfrm>
    </dsp:sp>
    <dsp:sp modelId="{8B7DB93C-81AF-4610-9FA8-D1F7E2C7EF48}">
      <dsp:nvSpPr>
        <dsp:cNvPr id="0" name=""/>
        <dsp:cNvSpPr/>
      </dsp:nvSpPr>
      <dsp:spPr>
        <a:xfrm>
          <a:off x="4303921" y="2566"/>
          <a:ext cx="1432801" cy="1432801"/>
        </a:xfrm>
        <a:prstGeom prst="ellipse">
          <a:avLst/>
        </a:prstGeom>
        <a:solidFill>
          <a:schemeClr val="accent3">
            <a:shade val="75000"/>
            <a:satMod val="16000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shade val="25000"/>
              <a:satMod val="140000"/>
            </a:schemeClr>
          </a:contourClr>
        </a:sp3d>
      </dsp:spPr>
      <dsp:style>
        <a:lnRef idx="0">
          <a:schemeClr val="accent3"/>
        </a:lnRef>
        <a:fillRef idx="3">
          <a:schemeClr val="accent3"/>
        </a:fillRef>
        <a:effectRef idx="3">
          <a:schemeClr val="accent3"/>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Arial" panose="020B0604020202020204" pitchFamily="34" charset="0"/>
              <a:cs typeface="Arial" panose="020B0604020202020204" pitchFamily="34" charset="0"/>
            </a:rPr>
            <a:t>Clinical Summaries</a:t>
          </a:r>
          <a:br>
            <a:rPr lang="en-CA" sz="1400" b="1" kern="1200" dirty="0">
              <a:latin typeface="Arial" panose="020B0604020202020204" pitchFamily="34" charset="0"/>
              <a:cs typeface="Arial" panose="020B0604020202020204" pitchFamily="34" charset="0"/>
            </a:rPr>
          </a:br>
          <a:endParaRPr lang="en-CA" sz="1400" b="1" kern="1200" dirty="0">
            <a:latin typeface="Arial" panose="020B0604020202020204" pitchFamily="34" charset="0"/>
            <a:cs typeface="Arial" panose="020B0604020202020204" pitchFamily="34" charset="0"/>
          </a:endParaRPr>
        </a:p>
      </dsp:txBody>
      <dsp:txXfrm>
        <a:off x="4513750" y="212395"/>
        <a:ext cx="1013143" cy="1013143"/>
      </dsp:txXfrm>
    </dsp:sp>
    <dsp:sp modelId="{33578D93-BAD5-4AC1-9EB9-B01D6BDF49D5}">
      <dsp:nvSpPr>
        <dsp:cNvPr id="0" name=""/>
        <dsp:cNvSpPr/>
      </dsp:nvSpPr>
      <dsp:spPr>
        <a:xfrm>
          <a:off x="6474634" y="2173280"/>
          <a:ext cx="1432801" cy="1432801"/>
        </a:xfrm>
        <a:prstGeom prst="ellipse">
          <a:avLst/>
        </a:prstGeom>
        <a:solidFill>
          <a:schemeClr val="accent3">
            <a:shade val="75000"/>
            <a:satMod val="16000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shade val="25000"/>
              <a:satMod val="140000"/>
            </a:schemeClr>
          </a:contourClr>
        </a:sp3d>
      </dsp:spPr>
      <dsp:style>
        <a:lnRef idx="0">
          <a:schemeClr val="accent3"/>
        </a:lnRef>
        <a:fillRef idx="3">
          <a:schemeClr val="accent3"/>
        </a:fillRef>
        <a:effectRef idx="3">
          <a:schemeClr val="accent3"/>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Arial" panose="020B0604020202020204" pitchFamily="34" charset="0"/>
              <a:cs typeface="Arial" panose="020B0604020202020204" pitchFamily="34" charset="0"/>
            </a:rPr>
            <a:t>Medical Education</a:t>
          </a:r>
          <a:br>
            <a:rPr lang="en-CA" sz="1400" b="1" kern="1200" dirty="0">
              <a:latin typeface="Arial" panose="020B0604020202020204" pitchFamily="34" charset="0"/>
              <a:cs typeface="Arial" panose="020B0604020202020204" pitchFamily="34" charset="0"/>
            </a:rPr>
          </a:br>
          <a:endParaRPr lang="en-CA" sz="1400" b="1" kern="1200" dirty="0">
            <a:latin typeface="Arial" panose="020B0604020202020204" pitchFamily="34" charset="0"/>
            <a:cs typeface="Arial" panose="020B0604020202020204" pitchFamily="34" charset="0"/>
          </a:endParaRPr>
        </a:p>
      </dsp:txBody>
      <dsp:txXfrm>
        <a:off x="6684463" y="2383109"/>
        <a:ext cx="1013143" cy="1013143"/>
      </dsp:txXfrm>
    </dsp:sp>
    <dsp:sp modelId="{4B47757F-F108-4971-B290-5979878D3D18}">
      <dsp:nvSpPr>
        <dsp:cNvPr id="0" name=""/>
        <dsp:cNvSpPr/>
      </dsp:nvSpPr>
      <dsp:spPr>
        <a:xfrm>
          <a:off x="4303921" y="4343994"/>
          <a:ext cx="1432801" cy="1432801"/>
        </a:xfrm>
        <a:prstGeom prst="ellipse">
          <a:avLst/>
        </a:prstGeom>
        <a:solidFill>
          <a:schemeClr val="accent3">
            <a:shade val="75000"/>
            <a:satMod val="16000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shade val="25000"/>
              <a:satMod val="140000"/>
            </a:schemeClr>
          </a:contourClr>
        </a:sp3d>
      </dsp:spPr>
      <dsp:style>
        <a:lnRef idx="0">
          <a:schemeClr val="accent3"/>
        </a:lnRef>
        <a:fillRef idx="3">
          <a:schemeClr val="accent3"/>
        </a:fillRef>
        <a:effectRef idx="3">
          <a:schemeClr val="accent3"/>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Arial" panose="020B0604020202020204" pitchFamily="34" charset="0"/>
              <a:cs typeface="Arial" panose="020B0604020202020204" pitchFamily="34" charset="0"/>
            </a:rPr>
            <a:t>Healthcare Apps</a:t>
          </a:r>
          <a:br>
            <a:rPr lang="en-CA" sz="1400" b="1" kern="1200" dirty="0">
              <a:latin typeface="Arial" panose="020B0604020202020204" pitchFamily="34" charset="0"/>
              <a:cs typeface="Arial" panose="020B0604020202020204" pitchFamily="34" charset="0"/>
            </a:rPr>
          </a:br>
          <a:endParaRPr lang="en-CA" sz="1400" b="1" kern="1200" dirty="0">
            <a:latin typeface="Arial" panose="020B0604020202020204" pitchFamily="34" charset="0"/>
            <a:cs typeface="Arial" panose="020B0604020202020204" pitchFamily="34" charset="0"/>
          </a:endParaRPr>
        </a:p>
      </dsp:txBody>
      <dsp:txXfrm>
        <a:off x="4513750" y="4553823"/>
        <a:ext cx="1013143" cy="1013143"/>
      </dsp:txXfrm>
    </dsp:sp>
    <dsp:sp modelId="{BEE418EC-2171-4111-BFF7-14AE226D9EEB}">
      <dsp:nvSpPr>
        <dsp:cNvPr id="0" name=""/>
        <dsp:cNvSpPr/>
      </dsp:nvSpPr>
      <dsp:spPr>
        <a:xfrm>
          <a:off x="2133207" y="2173280"/>
          <a:ext cx="1432801" cy="1432801"/>
        </a:xfrm>
        <a:prstGeom prst="ellipse">
          <a:avLst/>
        </a:prstGeom>
        <a:solidFill>
          <a:schemeClr val="accent3">
            <a:shade val="75000"/>
            <a:satMod val="16000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shade val="25000"/>
              <a:satMod val="140000"/>
            </a:schemeClr>
          </a:contourClr>
        </a:sp3d>
      </dsp:spPr>
      <dsp:style>
        <a:lnRef idx="0">
          <a:schemeClr val="accent3"/>
        </a:lnRef>
        <a:fillRef idx="3">
          <a:schemeClr val="accent3"/>
        </a:fillRef>
        <a:effectRef idx="3">
          <a:schemeClr val="accent3"/>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CA" sz="2000" b="1" i="0" kern="1200" dirty="0">
            <a:latin typeface="Arial" panose="020B0604020202020204" pitchFamily="34" charset="0"/>
            <a:cs typeface="Arial" panose="020B0604020202020204" pitchFamily="34" charset="0"/>
          </a:endParaRPr>
        </a:p>
        <a:p>
          <a:pPr marL="0" lvl="0" indent="0" algn="ctr" defTabSz="889000">
            <a:lnSpc>
              <a:spcPct val="90000"/>
            </a:lnSpc>
            <a:spcBef>
              <a:spcPct val="0"/>
            </a:spcBef>
            <a:spcAft>
              <a:spcPct val="35000"/>
            </a:spcAft>
            <a:buNone/>
          </a:pPr>
          <a:r>
            <a:rPr lang="en-CA" sz="1400" b="1" i="0" kern="1200" dirty="0">
              <a:latin typeface="Arial" panose="020B0604020202020204" pitchFamily="34" charset="0"/>
              <a:cs typeface="Arial" panose="020B0604020202020204" pitchFamily="34" charset="0"/>
            </a:rPr>
            <a:t>Radiology Reports</a:t>
          </a:r>
          <a:br>
            <a:rPr lang="en-CA" sz="1400" b="1" i="0" kern="1200" dirty="0">
              <a:latin typeface="Arial" panose="020B0604020202020204" pitchFamily="34" charset="0"/>
              <a:cs typeface="Arial" panose="020B0604020202020204" pitchFamily="34" charset="0"/>
            </a:rPr>
          </a:br>
          <a:br>
            <a:rPr lang="en-CA" sz="1400" b="1" i="0" kern="1200" dirty="0">
              <a:latin typeface="Arial" panose="020B0604020202020204" pitchFamily="34" charset="0"/>
              <a:cs typeface="Arial" panose="020B0604020202020204" pitchFamily="34" charset="0"/>
            </a:rPr>
          </a:br>
          <a:endParaRPr lang="en-CA" sz="1400" kern="1200" dirty="0">
            <a:latin typeface="Arial" panose="020B0604020202020204" pitchFamily="34" charset="0"/>
            <a:cs typeface="Arial" panose="020B0604020202020204" pitchFamily="34" charset="0"/>
          </a:endParaRPr>
        </a:p>
      </dsp:txBody>
      <dsp:txXfrm>
        <a:off x="2343036" y="2383109"/>
        <a:ext cx="1013143" cy="101314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4B76A5-08B2-4B4A-B901-BAB7D7ED1BF5}" type="datetimeFigureOut">
              <a:rPr lang="en-CA" smtClean="0"/>
              <a:t>2025-11-07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58B20-D209-4194-B41A-F1AED42CF4E9}" type="slidenum">
              <a:rPr lang="en-CA" smtClean="0"/>
              <a:t>‹#›</a:t>
            </a:fld>
            <a:endParaRPr lang="en-CA"/>
          </a:p>
        </p:txBody>
      </p:sp>
    </p:spTree>
    <p:extLst>
      <p:ext uri="{BB962C8B-B14F-4D97-AF65-F5344CB8AC3E}">
        <p14:creationId xmlns:p14="http://schemas.microsoft.com/office/powerpoint/2010/main" val="390830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1</a:t>
            </a:fld>
            <a:endParaRPr lang="en-CA"/>
          </a:p>
        </p:txBody>
      </p:sp>
    </p:spTree>
    <p:extLst>
      <p:ext uri="{BB962C8B-B14F-4D97-AF65-F5344CB8AC3E}">
        <p14:creationId xmlns:p14="http://schemas.microsoft.com/office/powerpoint/2010/main" val="306361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2</a:t>
            </a:fld>
            <a:endParaRPr lang="en-CA"/>
          </a:p>
        </p:txBody>
      </p:sp>
    </p:spTree>
    <p:extLst>
      <p:ext uri="{BB962C8B-B14F-4D97-AF65-F5344CB8AC3E}">
        <p14:creationId xmlns:p14="http://schemas.microsoft.com/office/powerpoint/2010/main" val="3819636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Large Language Models (LLMs) are advanced AI systems built on deep neural networks designed to process, understand and generate human-like text. By using massive datasets and billions of parameters, LLMs have transformed the way humans interact with technology. It learns patterns, grammar and context from text and can answer questions, write content, translate languages and many more. </a:t>
            </a:r>
            <a:r>
              <a:rPr lang="en-US" sz="1200" b="0" i="0" kern="1200" dirty="0" err="1">
                <a:solidFill>
                  <a:schemeClr val="tx1"/>
                </a:solidFill>
                <a:effectLst/>
                <a:latin typeface="+mn-lt"/>
                <a:ea typeface="+mn-ea"/>
                <a:cs typeface="+mn-cs"/>
              </a:rPr>
              <a:t>Mordern</a:t>
            </a:r>
            <a:r>
              <a:rPr lang="en-US" sz="1200" b="0" i="0" kern="1200" dirty="0">
                <a:solidFill>
                  <a:schemeClr val="tx1"/>
                </a:solidFill>
                <a:effectLst/>
                <a:latin typeface="+mn-lt"/>
                <a:ea typeface="+mn-ea"/>
                <a:cs typeface="+mn-cs"/>
              </a:rPr>
              <a:t> LLMs include ChatGPT (OpenAI), Google Gemini, Anthropic Claude, </a:t>
            </a:r>
            <a:r>
              <a:rPr lang="en-US" sz="1200" b="0" i="0" kern="1200" dirty="0" err="1">
                <a:solidFill>
                  <a:schemeClr val="tx1"/>
                </a:solidFill>
                <a:effectLst/>
                <a:latin typeface="+mn-lt"/>
                <a:ea typeface="+mn-ea"/>
                <a:cs typeface="+mn-cs"/>
              </a:rPr>
              <a:t>etc</a:t>
            </a:r>
            <a:endParaRPr lang="en-US" sz="1200" b="0" i="0" kern="1200" dirty="0">
              <a:solidFill>
                <a:schemeClr val="tx1"/>
              </a:solidFill>
              <a:effectLst/>
              <a:latin typeface="+mn-lt"/>
              <a:ea typeface="+mn-ea"/>
              <a:cs typeface="+mn-cs"/>
            </a:endParaRPr>
          </a:p>
          <a:p>
            <a:br>
              <a:rPr lang="en-US" dirty="0"/>
            </a:br>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3</a:t>
            </a:fld>
            <a:endParaRPr lang="en-CA"/>
          </a:p>
        </p:txBody>
      </p:sp>
    </p:spTree>
    <p:extLst>
      <p:ext uri="{BB962C8B-B14F-4D97-AF65-F5344CB8AC3E}">
        <p14:creationId xmlns:p14="http://schemas.microsoft.com/office/powerpoint/2010/main" val="1576322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Large Language Models function through a complex and systematic process. LLMs are primarily based on the </a:t>
            </a:r>
            <a:r>
              <a:rPr lang="en-US" sz="1200" b="0" i="0" u="none" kern="1200" dirty="0">
                <a:solidFill>
                  <a:schemeClr val="tx1"/>
                </a:solidFill>
                <a:effectLst/>
                <a:latin typeface="+mn-lt"/>
                <a:ea typeface="+mn-ea"/>
                <a:cs typeface="+mn-cs"/>
              </a:rPr>
              <a:t>transformers</a:t>
            </a:r>
            <a:r>
              <a:rPr lang="en-US" sz="1200" b="0" i="0" u="sng"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architecture which enables them to learn long-range dependencies and contextual meaning in text. The key components are: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Input Text.</a:t>
            </a:r>
            <a:r>
              <a:rPr lang="en-US" sz="1200" b="0" i="0" kern="1200" dirty="0">
                <a:solidFill>
                  <a:schemeClr val="tx1"/>
                </a:solidFill>
                <a:effectLst/>
                <a:latin typeface="+mn-lt"/>
                <a:ea typeface="+mn-ea"/>
                <a:cs typeface="+mn-cs"/>
              </a:rPr>
              <a:t> Raw text data serves as the foundation for LLMs. It represents the initial information provided for processing.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Tokenizer.</a:t>
            </a:r>
            <a:r>
              <a:rPr lang="en-US" sz="1200" b="0" i="0" kern="1200" dirty="0">
                <a:solidFill>
                  <a:schemeClr val="tx1"/>
                </a:solidFill>
                <a:effectLst/>
                <a:latin typeface="+mn-lt"/>
                <a:ea typeface="+mn-ea"/>
                <a:cs typeface="+mn-cs"/>
              </a:rPr>
              <a:t> The input text undergoes tokenization, where it is broken down into smaller units such as words, phrases, or characters. Tokenization structures the text for the model’s comprehension.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Embedding. </a:t>
            </a:r>
            <a:r>
              <a:rPr lang="en-US" sz="1200" b="0" i="0" kern="1200" dirty="0">
                <a:solidFill>
                  <a:schemeClr val="tx1"/>
                </a:solidFill>
                <a:effectLst/>
                <a:latin typeface="+mn-lt"/>
                <a:ea typeface="+mn-ea"/>
                <a:cs typeface="+mn-cs"/>
              </a:rPr>
              <a:t>Tokens are converted into numerical vectors through embedding. They capture the semantic and syntactic meanings of the text. Embeddings transform textual data into a format understandable by the neural network.</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Encoder.</a:t>
            </a:r>
            <a:r>
              <a:rPr lang="en-US" sz="1200" b="0" i="0" kern="1200" dirty="0">
                <a:solidFill>
                  <a:schemeClr val="tx1"/>
                </a:solidFill>
                <a:effectLst/>
                <a:latin typeface="+mn-lt"/>
                <a:ea typeface="+mn-ea"/>
                <a:cs typeface="+mn-cs"/>
              </a:rPr>
              <a:t> The embedded tokens are processed by the encoder. It’s a fundamental component that extracts relevant information from the input sequence. The encoder’s role is crucial in understanding the context and relationships between words.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Attention Mechanism.</a:t>
            </a:r>
            <a:r>
              <a:rPr lang="en-US" sz="1200" b="0" i="0" kern="1200" dirty="0">
                <a:solidFill>
                  <a:schemeClr val="tx1"/>
                </a:solidFill>
                <a:effectLst/>
                <a:latin typeface="+mn-lt"/>
                <a:ea typeface="+mn-ea"/>
                <a:cs typeface="+mn-cs"/>
              </a:rPr>
              <a:t> This element allows the model to focus on specific parts of the input text. It assigns varying levels of importance to different tokens. Thus, it enhances the model’s ability to weigh the significance of words and improve context understanding. </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Decoder.</a:t>
            </a:r>
            <a:r>
              <a:rPr lang="en-US" sz="1200" b="0" i="0" kern="1200" dirty="0">
                <a:solidFill>
                  <a:schemeClr val="tx1"/>
                </a:solidFill>
                <a:effectLst/>
                <a:latin typeface="+mn-lt"/>
                <a:ea typeface="+mn-ea"/>
                <a:cs typeface="+mn-cs"/>
              </a:rPr>
              <a:t> Utilizing the encoded information, the decoder generates the output sequence. This component translates the processed data back into human-readable text. It also ensures the response is coherent and contextually relevant.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Output Text. </a:t>
            </a:r>
            <a:r>
              <a:rPr lang="en-US" sz="1200" b="0" i="0" kern="1200" dirty="0">
                <a:solidFill>
                  <a:schemeClr val="tx1"/>
                </a:solidFill>
                <a:effectLst/>
                <a:latin typeface="+mn-lt"/>
                <a:ea typeface="+mn-ea"/>
                <a:cs typeface="+mn-cs"/>
              </a:rPr>
              <a:t>The final generated text is the result of the LLM’s intricate processing. It is based on the input and the model’s learned patterns and relationships.</a:t>
            </a:r>
            <a:br>
              <a:rPr lang="en-US" dirty="0"/>
            </a:br>
            <a:br>
              <a:rPr lang="en-US" dirty="0"/>
            </a:br>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4</a:t>
            </a:fld>
            <a:endParaRPr lang="en-CA"/>
          </a:p>
        </p:txBody>
      </p:sp>
    </p:spTree>
    <p:extLst>
      <p:ext uri="{BB962C8B-B14F-4D97-AF65-F5344CB8AC3E}">
        <p14:creationId xmlns:p14="http://schemas.microsoft.com/office/powerpoint/2010/main" val="397334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23C1-A0E3-A9A5-5DF8-01CE6BB9BA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EBF28-AE0C-6B9F-17CE-BB40BC3EC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5C73A-B477-2C27-DE9D-0FFD6794D09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66E7C7A-7935-E3F0-7690-69DA5C1B98EC}"/>
              </a:ext>
            </a:extLst>
          </p:cNvPr>
          <p:cNvSpPr>
            <a:spLocks noGrp="1"/>
          </p:cNvSpPr>
          <p:nvPr>
            <p:ph type="sldNum" sz="quarter" idx="5"/>
          </p:nvPr>
        </p:nvSpPr>
        <p:spPr/>
        <p:txBody>
          <a:bodyPr/>
          <a:lstStyle/>
          <a:p>
            <a:fld id="{D9A58B20-D209-4194-B41A-F1AED42CF4E9}" type="slidenum">
              <a:rPr lang="en-CA" smtClean="0"/>
              <a:t>5</a:t>
            </a:fld>
            <a:endParaRPr lang="en-CA"/>
          </a:p>
        </p:txBody>
      </p:sp>
    </p:spTree>
    <p:extLst>
      <p:ext uri="{BB962C8B-B14F-4D97-AF65-F5344CB8AC3E}">
        <p14:creationId xmlns:p14="http://schemas.microsoft.com/office/powerpoint/2010/main" val="1534220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6</a:t>
            </a:fld>
            <a:endParaRPr lang="en-CA"/>
          </a:p>
        </p:txBody>
      </p:sp>
    </p:spTree>
    <p:extLst>
      <p:ext uri="{BB962C8B-B14F-4D97-AF65-F5344CB8AC3E}">
        <p14:creationId xmlns:p14="http://schemas.microsoft.com/office/powerpoint/2010/main" val="912642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Training (Learning from Scratch)</a:t>
            </a:r>
          </a:p>
          <a:p>
            <a:pPr>
              <a:buFont typeface="Arial" panose="020B0604020202020204" pitchFamily="34" charset="0"/>
              <a:buChar char="•"/>
            </a:pPr>
            <a:r>
              <a:rPr lang="en-US" b="0" dirty="0"/>
              <a:t>Model learns everything from the ground up.</a:t>
            </a:r>
          </a:p>
          <a:p>
            <a:pPr>
              <a:buFont typeface="Arial" panose="020B0604020202020204" pitchFamily="34" charset="0"/>
              <a:buChar char="•"/>
            </a:pPr>
            <a:r>
              <a:rPr lang="en-US" b="0" dirty="0"/>
              <a:t>Requires massive datasets and huge compute.</a:t>
            </a:r>
          </a:p>
          <a:p>
            <a:pPr>
              <a:buFont typeface="Arial" panose="020B0604020202020204" pitchFamily="34" charset="0"/>
              <a:buChar char="•"/>
            </a:pPr>
            <a:r>
              <a:rPr lang="en-US" b="0" dirty="0"/>
              <a:t>Example: GPT pretraining on billions of text and image samples.</a:t>
            </a:r>
          </a:p>
          <a:p>
            <a:pPr>
              <a:buNone/>
            </a:pPr>
            <a:r>
              <a:rPr lang="en-US" b="0" dirty="0"/>
              <a:t>Produces a general foundation model, but not task-specialized.</a:t>
            </a:r>
            <a:br>
              <a:rPr lang="en-US" b="0" dirty="0"/>
            </a:br>
            <a:br>
              <a:rPr lang="en-US" b="0" dirty="0"/>
            </a:br>
            <a:r>
              <a:rPr lang="en-CA" b="1" dirty="0"/>
              <a:t>Fine-Tuning (Becoming a Specialist)</a:t>
            </a:r>
          </a:p>
          <a:p>
            <a:pPr>
              <a:buFont typeface="Arial" panose="020B0604020202020204" pitchFamily="34" charset="0"/>
              <a:buChar char="•"/>
            </a:pPr>
            <a:r>
              <a:rPr lang="en-CA" b="0" dirty="0"/>
              <a:t>Start from a pretrained model → adapt to a specific task.</a:t>
            </a:r>
          </a:p>
          <a:p>
            <a:pPr>
              <a:buFont typeface="Arial" panose="020B0604020202020204" pitchFamily="34" charset="0"/>
              <a:buChar char="•"/>
            </a:pPr>
            <a:r>
              <a:rPr lang="en-CA" b="0" dirty="0"/>
              <a:t>Use a smaller, curated dataset (e.g., 10,000 labeled X-rays).</a:t>
            </a:r>
          </a:p>
          <a:p>
            <a:pPr>
              <a:buFont typeface="Arial" panose="020B0604020202020204" pitchFamily="34" charset="0"/>
              <a:buChar char="•"/>
            </a:pPr>
            <a:r>
              <a:rPr lang="en-CA" b="0" dirty="0"/>
              <a:t>Only update parts of the model (PEFT, </a:t>
            </a:r>
            <a:r>
              <a:rPr lang="en-CA" b="0" dirty="0" err="1"/>
              <a:t>LoRA</a:t>
            </a:r>
            <a:r>
              <a:rPr lang="en-CA" b="0" dirty="0"/>
              <a:t>, adapters).</a:t>
            </a:r>
          </a:p>
          <a:p>
            <a:pPr>
              <a:buNone/>
            </a:pPr>
            <a:r>
              <a:rPr lang="en-CA" b="0" dirty="0"/>
              <a:t>Produces specialized, high-performance models (e.g., pneumonia classifier).</a:t>
            </a:r>
            <a:br>
              <a:rPr lang="en-CA" b="0" dirty="0"/>
            </a:br>
            <a:br>
              <a:rPr lang="en-CA" b="0" dirty="0"/>
            </a:br>
            <a:r>
              <a:rPr lang="en-US" b="1" dirty="0"/>
              <a:t> Zero-Shot and Few-Shot Inference</a:t>
            </a:r>
          </a:p>
          <a:p>
            <a:pPr>
              <a:buFont typeface="Arial" panose="020B0604020202020204" pitchFamily="34" charset="0"/>
              <a:buChar char="•"/>
            </a:pPr>
            <a:r>
              <a:rPr lang="en-US" b="1" dirty="0"/>
              <a:t>Zero-shot:</a:t>
            </a:r>
            <a:r>
              <a:rPr lang="en-US" dirty="0"/>
              <a:t> Model handles a task it wasn’t trained on, using its general knowledge.</a:t>
            </a:r>
          </a:p>
          <a:p>
            <a:pPr marL="742950" lvl="1" indent="-285750">
              <a:buFont typeface="Arial" panose="020B0604020202020204" pitchFamily="34" charset="0"/>
              <a:buChar char="•"/>
            </a:pPr>
            <a:r>
              <a:rPr lang="en-US" dirty="0"/>
              <a:t>Example: “Is this X-ray normal?” → model answers without retraining.</a:t>
            </a:r>
          </a:p>
          <a:p>
            <a:pPr>
              <a:buFont typeface="Arial" panose="020B0604020202020204" pitchFamily="34" charset="0"/>
              <a:buChar char="•"/>
            </a:pPr>
            <a:r>
              <a:rPr lang="en-US" b="1" dirty="0"/>
              <a:t>Few-shot:</a:t>
            </a:r>
            <a:r>
              <a:rPr lang="en-US" dirty="0"/>
              <a:t> Give a few examples in the prompt to guide the response.</a:t>
            </a:r>
          </a:p>
          <a:p>
            <a:pPr>
              <a:buFont typeface="Arial" panose="020B0604020202020204" pitchFamily="34" charset="0"/>
              <a:buChar char="•"/>
            </a:pPr>
            <a:r>
              <a:rPr lang="en-US" b="0" dirty="0"/>
              <a:t>Enables fast experimentation when no training data is available.</a:t>
            </a:r>
          </a:p>
          <a:p>
            <a:pPr>
              <a:buFont typeface="Arial" panose="020B0604020202020204" pitchFamily="34" charset="0"/>
              <a:buChar char="•"/>
            </a:pPr>
            <a:r>
              <a:rPr lang="en-US" dirty="0"/>
              <a:t>Useful for prototyping medical AI tasks.</a:t>
            </a:r>
          </a:p>
          <a:p>
            <a:pPr>
              <a:buFont typeface="Arial" panose="020B0604020202020204" pitchFamily="34" charset="0"/>
              <a:buChar char="•"/>
            </a:pPr>
            <a:endParaRPr lang="en-CA" b="0" dirty="0"/>
          </a:p>
          <a:p>
            <a:pPr>
              <a:buFont typeface="Arial" panose="020B0604020202020204" pitchFamily="34" charset="0"/>
              <a:buChar char="•"/>
            </a:pPr>
            <a:endParaRPr lang="en-US" b="0" dirty="0"/>
          </a:p>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7</a:t>
            </a:fld>
            <a:endParaRPr lang="en-CA"/>
          </a:p>
        </p:txBody>
      </p:sp>
    </p:spTree>
    <p:extLst>
      <p:ext uri="{BB962C8B-B14F-4D97-AF65-F5344CB8AC3E}">
        <p14:creationId xmlns:p14="http://schemas.microsoft.com/office/powerpoint/2010/main" val="3496007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They Are</a:t>
            </a:r>
            <a:endParaRPr lang="en-US" dirty="0"/>
          </a:p>
          <a:p>
            <a:r>
              <a:rPr lang="en-US" b="0" dirty="0"/>
              <a:t>Traditional LLMs process only text.</a:t>
            </a:r>
          </a:p>
          <a:p>
            <a:r>
              <a:rPr lang="en-US" b="0" dirty="0"/>
              <a:t>Multimodal LLMs (MLLMs) integrate text, images, audio, video, and structured data.</a:t>
            </a:r>
          </a:p>
          <a:p>
            <a:r>
              <a:rPr lang="en-US" dirty="0"/>
              <a:t>They aim to mimic how humans combine multiple information sources for reasoning.</a:t>
            </a:r>
          </a:p>
          <a:p>
            <a:pPr fontAlgn="base"/>
            <a:r>
              <a:rPr lang="en-US" sz="1200" b="0" i="0" kern="1200" dirty="0">
                <a:solidFill>
                  <a:schemeClr val="tx1"/>
                </a:solidFill>
                <a:effectLst/>
                <a:latin typeface="+mn-lt"/>
                <a:ea typeface="+mn-ea"/>
                <a:cs typeface="+mn-cs"/>
              </a:rPr>
              <a:t>Consider your thinking process. When you are presented with a picture by someone who is telling you about something, you do not simply read what they are saying or simply observe the picture. Your brain skillfully integrates the two inputs to form an understanding. This is precisely what multimodal LLMs do, i.e. they are capable of processing multiple data types at once.</a:t>
            </a:r>
          </a:p>
          <a:p>
            <a:pPr fontAlgn="base"/>
            <a:r>
              <a:rPr lang="en-US" sz="1200" b="0" i="0" kern="1200" dirty="0">
                <a:solidFill>
                  <a:schemeClr val="tx1"/>
                </a:solidFill>
                <a:effectLst/>
                <a:latin typeface="+mn-lt"/>
                <a:ea typeface="+mn-ea"/>
                <a:cs typeface="+mn-cs"/>
              </a:rPr>
              <a:t>In contrast to the traditional AI models, which were restricted to one type of data, multimodal LLMs can deal with:</a:t>
            </a:r>
          </a:p>
          <a:p>
            <a:pPr fontAlgn="base"/>
            <a:r>
              <a:rPr lang="en-US" sz="1200" b="1" i="0" kern="1200" dirty="0">
                <a:solidFill>
                  <a:schemeClr val="tx1"/>
                </a:solidFill>
                <a:effectLst/>
                <a:latin typeface="+mn-lt"/>
                <a:ea typeface="+mn-ea"/>
                <a:cs typeface="+mn-cs"/>
              </a:rPr>
              <a:t>Text</a:t>
            </a:r>
            <a:r>
              <a:rPr lang="en-US" sz="1200" b="0" i="0" kern="1200" dirty="0">
                <a:solidFill>
                  <a:schemeClr val="tx1"/>
                </a:solidFill>
                <a:effectLst/>
                <a:latin typeface="+mn-lt"/>
                <a:ea typeface="+mn-ea"/>
                <a:cs typeface="+mn-cs"/>
              </a:rPr>
              <a:t> (code, natural language, documents)</a:t>
            </a:r>
          </a:p>
          <a:p>
            <a:pPr fontAlgn="base"/>
            <a:r>
              <a:rPr lang="en-US" sz="1200" b="1" i="0" kern="1200" dirty="0">
                <a:solidFill>
                  <a:schemeClr val="tx1"/>
                </a:solidFill>
                <a:effectLst/>
                <a:latin typeface="+mn-lt"/>
                <a:ea typeface="+mn-ea"/>
                <a:cs typeface="+mn-cs"/>
              </a:rPr>
              <a:t>Photos</a:t>
            </a:r>
            <a:r>
              <a:rPr lang="en-US" sz="1200" b="0" i="0" kern="1200" dirty="0">
                <a:solidFill>
                  <a:schemeClr val="tx1"/>
                </a:solidFill>
                <a:effectLst/>
                <a:latin typeface="+mn-lt"/>
                <a:ea typeface="+mn-ea"/>
                <a:cs typeface="+mn-cs"/>
              </a:rPr>
              <a:t> (pictures, diagrams, charts)</a:t>
            </a:r>
          </a:p>
          <a:p>
            <a:pPr fontAlgn="base"/>
            <a:r>
              <a:rPr lang="en-US" sz="1200" b="1" i="0" kern="1200" dirty="0">
                <a:solidFill>
                  <a:schemeClr val="tx1"/>
                </a:solidFill>
                <a:effectLst/>
                <a:latin typeface="+mn-lt"/>
                <a:ea typeface="+mn-ea"/>
                <a:cs typeface="+mn-cs"/>
              </a:rPr>
              <a:t>Audio</a:t>
            </a:r>
            <a:r>
              <a:rPr lang="en-US" sz="1200" b="0" i="0" kern="1200" dirty="0">
                <a:solidFill>
                  <a:schemeClr val="tx1"/>
                </a:solidFill>
                <a:effectLst/>
                <a:latin typeface="+mn-lt"/>
                <a:ea typeface="+mn-ea"/>
                <a:cs typeface="+mn-cs"/>
              </a:rPr>
              <a:t> (sounding, music, background sounds)</a:t>
            </a:r>
          </a:p>
          <a:p>
            <a:pPr fontAlgn="base"/>
            <a:r>
              <a:rPr lang="en-US" sz="1200" b="1" i="0" kern="1200" dirty="0">
                <a:solidFill>
                  <a:schemeClr val="tx1"/>
                </a:solidFill>
                <a:effectLst/>
                <a:latin typeface="+mn-lt"/>
                <a:ea typeface="+mn-ea"/>
                <a:cs typeface="+mn-cs"/>
              </a:rPr>
              <a:t>Video</a:t>
            </a:r>
            <a:r>
              <a:rPr lang="en-US" sz="1200" b="0" i="0" kern="1200" dirty="0">
                <a:solidFill>
                  <a:schemeClr val="tx1"/>
                </a:solidFill>
                <a:effectLst/>
                <a:latin typeface="+mn-lt"/>
                <a:ea typeface="+mn-ea"/>
                <a:cs typeface="+mn-cs"/>
              </a:rPr>
              <a:t> (moving images and sound).</a:t>
            </a:r>
          </a:p>
          <a:p>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dirty="0"/>
            </a:br>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8</a:t>
            </a:fld>
            <a:endParaRPr lang="en-CA"/>
          </a:p>
        </p:txBody>
      </p:sp>
    </p:spTree>
    <p:extLst>
      <p:ext uri="{BB962C8B-B14F-4D97-AF65-F5344CB8AC3E}">
        <p14:creationId xmlns:p14="http://schemas.microsoft.com/office/powerpoint/2010/main" val="3901751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The Real Magic: Multimodal AI In Practice.</a:t>
            </a:r>
          </a:p>
          <a:p>
            <a:pPr fontAlgn="base"/>
            <a:r>
              <a:rPr lang="en-US" sz="1200" b="0" i="0" kern="1200" dirty="0">
                <a:solidFill>
                  <a:schemeClr val="tx1"/>
                </a:solidFill>
                <a:effectLst/>
                <a:latin typeface="+mn-lt"/>
                <a:ea typeface="+mn-ea"/>
                <a:cs typeface="+mn-cs"/>
              </a:rPr>
              <a:t>It is at this point that it becomes interesting. Multimodal LLMs do not simply load various AI systems on top of each other. They involve complex encoding, alignment and fusion algorithms:</a:t>
            </a:r>
          </a:p>
          <a:p>
            <a:pPr fontAlgn="base"/>
            <a:r>
              <a:rPr lang="en-US" sz="1200" b="1" i="0" kern="1200" dirty="0">
                <a:solidFill>
                  <a:schemeClr val="tx1"/>
                </a:solidFill>
                <a:effectLst/>
                <a:latin typeface="+mn-lt"/>
                <a:ea typeface="+mn-ea"/>
                <a:cs typeface="+mn-cs"/>
              </a:rPr>
              <a:t>Encoding Phase:</a:t>
            </a:r>
            <a:r>
              <a:rPr lang="en-US" sz="1200" b="0" i="0" kern="1200" dirty="0">
                <a:solidFill>
                  <a:schemeClr val="tx1"/>
                </a:solidFill>
                <a:effectLst/>
                <a:latin typeface="+mn-lt"/>
                <a:ea typeface="+mn-ea"/>
                <a:cs typeface="+mn-cs"/>
              </a:rPr>
              <a:t> The processing of each type of data is handled by special encoders. Images are processed by convolutional neural networks, texts by transformer networks and audio by spectral analysis.</a:t>
            </a:r>
          </a:p>
          <a:p>
            <a:pPr fontAlgn="base"/>
            <a:r>
              <a:rPr lang="en-US" sz="1200" b="1" i="0" kern="1200" dirty="0">
                <a:solidFill>
                  <a:schemeClr val="tx1"/>
                </a:solidFill>
                <a:effectLst/>
                <a:latin typeface="+mn-lt"/>
                <a:ea typeface="+mn-ea"/>
                <a:cs typeface="+mn-cs"/>
              </a:rPr>
              <a:t>Alignment Phase:</a:t>
            </a:r>
            <a:r>
              <a:rPr lang="en-US" sz="1200" b="0" i="0" kern="1200" dirty="0">
                <a:solidFill>
                  <a:schemeClr val="tx1"/>
                </a:solidFill>
                <a:effectLst/>
                <a:latin typeface="+mn-lt"/>
                <a:ea typeface="+mn-ea"/>
                <a:cs typeface="+mn-cs"/>
              </a:rPr>
              <a:t> It is the most important stage, during which various types of data are aligned into a common representation space. It is as though we are teaching the AI the language of all the inputs.</a:t>
            </a:r>
          </a:p>
          <a:p>
            <a:pPr fontAlgn="base"/>
            <a:r>
              <a:rPr lang="en-US" sz="1200" b="1" i="0" kern="1200" dirty="0">
                <a:solidFill>
                  <a:schemeClr val="tx1"/>
                </a:solidFill>
                <a:effectLst/>
                <a:latin typeface="+mn-lt"/>
                <a:ea typeface="+mn-ea"/>
                <a:cs typeface="+mn-cs"/>
              </a:rPr>
              <a:t>Fusion Phase:</a:t>
            </a:r>
            <a:r>
              <a:rPr lang="en-US" sz="1200" b="0" i="0" kern="1200" dirty="0">
                <a:solidFill>
                  <a:schemeClr val="tx1"/>
                </a:solidFill>
                <a:effectLst/>
                <a:latin typeface="+mn-lt"/>
                <a:ea typeface="+mn-ea"/>
                <a:cs typeface="+mn-cs"/>
              </a:rPr>
              <a:t> It is the combined data produced through the attention mechanisms, or concatenation techniques, that form a single understanding.</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Processing Phase:</a:t>
            </a:r>
            <a:r>
              <a:rPr lang="en-US" sz="1200" b="0" i="0" kern="1200" dirty="0">
                <a:solidFill>
                  <a:schemeClr val="tx1"/>
                </a:solidFill>
                <a:effectLst/>
                <a:latin typeface="+mn-lt"/>
                <a:ea typeface="+mn-ea"/>
                <a:cs typeface="+mn-cs"/>
              </a:rPr>
              <a:t> The merged data is fed through the language model backbone, which allows cross-modal reasoning and generation.</a:t>
            </a:r>
          </a:p>
          <a:p>
            <a:pPr fontAlgn="base"/>
            <a:endParaRPr lang="en-US" sz="1200" b="0" i="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9</a:t>
            </a:fld>
            <a:endParaRPr lang="en-CA"/>
          </a:p>
        </p:txBody>
      </p:sp>
    </p:spTree>
    <p:extLst>
      <p:ext uri="{BB962C8B-B14F-4D97-AF65-F5344CB8AC3E}">
        <p14:creationId xmlns:p14="http://schemas.microsoft.com/office/powerpoint/2010/main" val="2529048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They Matter</a:t>
            </a:r>
            <a:endParaRPr lang="en-US" dirty="0"/>
          </a:p>
          <a:p>
            <a:r>
              <a:rPr lang="en-US" dirty="0"/>
              <a:t>Healthcare is naturally </a:t>
            </a:r>
            <a:r>
              <a:rPr lang="en-US" b="1" dirty="0"/>
              <a:t>multimodal</a:t>
            </a:r>
            <a:r>
              <a:rPr lang="en-US" dirty="0"/>
              <a:t> — combining clinical notes, scans, lab data, sounds, and visuals.</a:t>
            </a:r>
          </a:p>
          <a:p>
            <a:r>
              <a:rPr lang="en-US" dirty="0"/>
              <a:t>MLLMs can </a:t>
            </a:r>
            <a:r>
              <a:rPr lang="en-US" b="1" dirty="0"/>
              <a:t>unify these data types</a:t>
            </a:r>
            <a:r>
              <a:rPr lang="en-US" dirty="0"/>
              <a:t>, offering more accurate insights and decision support.</a:t>
            </a:r>
          </a:p>
          <a:p>
            <a:r>
              <a:rPr lang="en-US" dirty="0"/>
              <a:t>Enable </a:t>
            </a:r>
            <a:r>
              <a:rPr lang="en-US" b="1" dirty="0"/>
              <a:t>context-aware analysis</a:t>
            </a:r>
            <a:r>
              <a:rPr lang="en-US" dirty="0"/>
              <a:t> (e.g., linking a radiology image to its report).</a:t>
            </a:r>
          </a:p>
          <a:p>
            <a:r>
              <a:rPr lang="en-US" b="1" dirty="0"/>
              <a:t>Key Benefits</a:t>
            </a:r>
            <a:endParaRPr lang="en-US" dirty="0"/>
          </a:p>
          <a:p>
            <a:r>
              <a:rPr lang="en-US" dirty="0"/>
              <a:t>Improve </a:t>
            </a:r>
            <a:r>
              <a:rPr lang="en-US" b="1" dirty="0"/>
              <a:t>diagnostic accuracy</a:t>
            </a:r>
            <a:r>
              <a:rPr lang="en-US" dirty="0"/>
              <a:t> and </a:t>
            </a:r>
            <a:r>
              <a:rPr lang="en-US" b="1" dirty="0"/>
              <a:t>clinical efficiency</a:t>
            </a:r>
            <a:r>
              <a:rPr lang="en-US" dirty="0"/>
              <a:t>.</a:t>
            </a:r>
          </a:p>
          <a:p>
            <a:r>
              <a:rPr lang="en-US" dirty="0"/>
              <a:t>Reduce </a:t>
            </a:r>
            <a:r>
              <a:rPr lang="en-US" b="1" dirty="0"/>
              <a:t>administrative burden</a:t>
            </a:r>
            <a:r>
              <a:rPr lang="en-US" dirty="0"/>
              <a:t> through automation.</a:t>
            </a:r>
          </a:p>
          <a:p>
            <a:r>
              <a:rPr lang="en-US" dirty="0"/>
              <a:t>Support </a:t>
            </a:r>
            <a:r>
              <a:rPr lang="en-US" b="1" dirty="0"/>
              <a:t>multilingual and multimodal communication</a:t>
            </a:r>
            <a:r>
              <a:rPr lang="en-US" dirty="0"/>
              <a:t> between clinicians and patients.</a:t>
            </a:r>
          </a:p>
          <a:p>
            <a:r>
              <a:rPr lang="en-US" dirty="0"/>
              <a:t>Enhance </a:t>
            </a:r>
            <a:r>
              <a:rPr lang="en-US" b="1" dirty="0"/>
              <a:t>data integration</a:t>
            </a:r>
            <a:r>
              <a:rPr lang="en-US" dirty="0"/>
              <a:t> across fragmented healthcare systems.</a:t>
            </a:r>
          </a:p>
          <a:p>
            <a:r>
              <a:rPr lang="en-US" b="1" dirty="0"/>
              <a:t>Challenges</a:t>
            </a:r>
            <a:endParaRPr lang="en-US" dirty="0"/>
          </a:p>
          <a:p>
            <a:r>
              <a:rPr lang="en-US" b="1" dirty="0"/>
              <a:t>Data privacy &amp; regulation</a:t>
            </a:r>
            <a:r>
              <a:rPr lang="en-US" dirty="0"/>
              <a:t> — sensitive medical data needs secure handling.</a:t>
            </a:r>
          </a:p>
          <a:p>
            <a:r>
              <a:rPr lang="en-US" b="1" dirty="0"/>
              <a:t>Bias and transparency</a:t>
            </a:r>
            <a:r>
              <a:rPr lang="en-US" dirty="0"/>
              <a:t> — models must be explainable and fair.</a:t>
            </a:r>
          </a:p>
          <a:p>
            <a:r>
              <a:rPr lang="en-US" b="1" dirty="0"/>
              <a:t>Integration complexity</a:t>
            </a:r>
            <a:r>
              <a:rPr lang="en-US" dirty="0"/>
              <a:t> — combining multimodal data is technically demanding.</a:t>
            </a:r>
          </a:p>
          <a:p>
            <a:r>
              <a:rPr lang="en-US" b="1" dirty="0"/>
              <a:t>Clinical validation</a:t>
            </a:r>
            <a:r>
              <a:rPr lang="en-US" dirty="0"/>
              <a:t> is essential before deployment.</a:t>
            </a:r>
          </a:p>
          <a:p>
            <a:r>
              <a:rPr lang="en-US" b="1" dirty="0"/>
              <a:t>Takeaway</a:t>
            </a:r>
            <a:endParaRPr lang="en-US" dirty="0"/>
          </a:p>
          <a:p>
            <a:r>
              <a:rPr lang="en-US" dirty="0"/>
              <a:t>MLLMs could </a:t>
            </a:r>
            <a:r>
              <a:rPr lang="en-US" b="1" dirty="0"/>
              <a:t>redefine medical AI</a:t>
            </a:r>
            <a:r>
              <a:rPr lang="en-US" dirty="0"/>
              <a:t>, moving from single-modality tools to </a:t>
            </a:r>
            <a:r>
              <a:rPr lang="en-US" b="1" dirty="0"/>
              <a:t>holistic, context-aware assistants</a:t>
            </a:r>
            <a:r>
              <a:rPr lang="en-US" dirty="0"/>
              <a:t>.</a:t>
            </a:r>
          </a:p>
          <a:p>
            <a:r>
              <a:rPr lang="en-US" dirty="0"/>
              <a:t>Understanding these models helps clinicians become </a:t>
            </a:r>
            <a:r>
              <a:rPr lang="en-US" b="1" dirty="0"/>
              <a:t>informed adopters</a:t>
            </a:r>
            <a:r>
              <a:rPr lang="en-US" dirty="0"/>
              <a:t>, not just passive users.</a:t>
            </a:r>
          </a:p>
          <a:p>
            <a:br>
              <a:rPr lang="en-CA" sz="1200" b="1"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Multimodal LLMs excel in analyzing medical images and reports, aiding healthcare professionals in accurate diagnosis and treatment planning. The integration of textual patient history with visual data enhances the overall diagnostic accuracy.</a:t>
            </a:r>
          </a:p>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10</a:t>
            </a:fld>
            <a:endParaRPr lang="en-CA"/>
          </a:p>
        </p:txBody>
      </p:sp>
    </p:spTree>
    <p:extLst>
      <p:ext uri="{BB962C8B-B14F-4D97-AF65-F5344CB8AC3E}">
        <p14:creationId xmlns:p14="http://schemas.microsoft.com/office/powerpoint/2010/main" val="1850273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Key Milestones</a:t>
            </a:r>
          </a:p>
          <a:p>
            <a:r>
              <a:rPr lang="en-US" sz="1200" b="1" i="0" kern="1200" dirty="0">
                <a:solidFill>
                  <a:schemeClr val="tx1"/>
                </a:solidFill>
                <a:effectLst/>
                <a:latin typeface="+mn-lt"/>
                <a:ea typeface="+mn-ea"/>
                <a:cs typeface="+mn-cs"/>
              </a:rPr>
              <a:t>Early 2025:</a:t>
            </a:r>
            <a:r>
              <a:rPr lang="en-US" sz="1200" b="0" i="0" kern="1200" dirty="0">
                <a:solidFill>
                  <a:schemeClr val="tx1"/>
                </a:solidFill>
                <a:effectLst/>
                <a:latin typeface="+mn-lt"/>
                <a:ea typeface="+mn-ea"/>
                <a:cs typeface="+mn-cs"/>
              </a:rPr>
              <a:t> Google released the general-purpose, open-source </a:t>
            </a:r>
            <a:r>
              <a:rPr lang="en-US" sz="1200" b="1" i="0" kern="1200" dirty="0">
                <a:solidFill>
                  <a:schemeClr val="tx1"/>
                </a:solidFill>
                <a:effectLst/>
                <a:latin typeface="+mn-lt"/>
                <a:ea typeface="+mn-ea"/>
                <a:cs typeface="+mn-cs"/>
              </a:rPr>
              <a:t>Gemma</a:t>
            </a:r>
            <a:r>
              <a:rPr lang="en-US" sz="1200" b="0" i="0" kern="1200" dirty="0">
                <a:solidFill>
                  <a:schemeClr val="tx1"/>
                </a:solidFill>
                <a:effectLst/>
                <a:latin typeface="+mn-lt"/>
                <a:ea typeface="+mn-ea"/>
                <a:cs typeface="+mn-cs"/>
              </a:rPr>
              <a:t> models. These models provided the architectural foundation for </a:t>
            </a: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They were built on research from the Gemini models.</a:t>
            </a:r>
          </a:p>
          <a:p>
            <a:r>
              <a:rPr lang="en-US" sz="1200" b="1" i="0" kern="1200" dirty="0">
                <a:solidFill>
                  <a:schemeClr val="tx1"/>
                </a:solidFill>
                <a:effectLst/>
                <a:latin typeface="+mn-lt"/>
                <a:ea typeface="+mn-ea"/>
                <a:cs typeface="+mn-cs"/>
              </a:rPr>
              <a:t>May 20–22, 2025:</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was officially announced and first released at the Google I/O event. The initial release included:</a:t>
            </a:r>
          </a:p>
          <a:p>
            <a:pPr lvl="1"/>
            <a:r>
              <a:rPr lang="en-US" sz="1200" b="1" i="0" kern="1200" dirty="0" err="1">
                <a:solidFill>
                  <a:schemeClr val="tx1"/>
                </a:solidFill>
                <a:effectLst/>
                <a:latin typeface="+mn-lt"/>
                <a:ea typeface="+mn-ea"/>
                <a:cs typeface="+mn-cs"/>
              </a:rPr>
              <a:t>MedGemma</a:t>
            </a:r>
            <a:r>
              <a:rPr lang="en-US" sz="1200" b="1" i="0" kern="1200" dirty="0">
                <a:solidFill>
                  <a:schemeClr val="tx1"/>
                </a:solidFill>
                <a:effectLst/>
                <a:latin typeface="+mn-lt"/>
                <a:ea typeface="+mn-ea"/>
                <a:cs typeface="+mn-cs"/>
              </a:rPr>
              <a:t> 4B:</a:t>
            </a:r>
            <a:r>
              <a:rPr lang="en-US" sz="1200" b="0" i="0" kern="1200" dirty="0">
                <a:solidFill>
                  <a:schemeClr val="tx1"/>
                </a:solidFill>
                <a:effectLst/>
                <a:latin typeface="+mn-lt"/>
                <a:ea typeface="+mn-ea"/>
                <a:cs typeface="+mn-cs"/>
              </a:rPr>
              <a:t> A 4 billion parameter multimodal model capable of processing images (like X-rays and dermatology photos) and text.</a:t>
            </a:r>
          </a:p>
          <a:p>
            <a:pPr lvl="1"/>
            <a:r>
              <a:rPr lang="en-US" sz="1200" b="1" i="0" kern="1200" dirty="0" err="1">
                <a:solidFill>
                  <a:schemeClr val="tx1"/>
                </a:solidFill>
                <a:effectLst/>
                <a:latin typeface="+mn-lt"/>
                <a:ea typeface="+mn-ea"/>
                <a:cs typeface="+mn-cs"/>
              </a:rPr>
              <a:t>MedGemma</a:t>
            </a:r>
            <a:r>
              <a:rPr lang="en-US" sz="1200" b="1" i="0" kern="1200" dirty="0">
                <a:solidFill>
                  <a:schemeClr val="tx1"/>
                </a:solidFill>
                <a:effectLst/>
                <a:latin typeface="+mn-lt"/>
                <a:ea typeface="+mn-ea"/>
                <a:cs typeface="+mn-cs"/>
              </a:rPr>
              <a:t> 27B Text-Only:</a:t>
            </a:r>
            <a:r>
              <a:rPr lang="en-US" sz="1200" b="0" i="0" kern="1200" dirty="0">
                <a:solidFill>
                  <a:schemeClr val="tx1"/>
                </a:solidFill>
                <a:effectLst/>
                <a:latin typeface="+mn-lt"/>
                <a:ea typeface="+mn-ea"/>
                <a:cs typeface="+mn-cs"/>
              </a:rPr>
              <a:t> A 27 billion parameter model optimized exclusively for medical text comprehension and clinical reasoning tasks.</a:t>
            </a:r>
          </a:p>
          <a:p>
            <a:r>
              <a:rPr lang="en-US" sz="1200" b="1" i="0" kern="1200" dirty="0">
                <a:solidFill>
                  <a:schemeClr val="tx1"/>
                </a:solidFill>
                <a:effectLst/>
                <a:latin typeface="+mn-lt"/>
                <a:ea typeface="+mn-ea"/>
                <a:cs typeface="+mn-cs"/>
              </a:rPr>
              <a:t>July 7, 2025:</a:t>
            </a:r>
            <a:r>
              <a:rPr lang="en-US" sz="1200" b="0" i="0" kern="1200" dirty="0">
                <a:solidFill>
                  <a:schemeClr val="tx1"/>
                </a:solidFill>
                <a:effectLst/>
                <a:latin typeface="+mn-lt"/>
                <a:ea typeface="+mn-ea"/>
                <a:cs typeface="+mn-cs"/>
              </a:rPr>
              <a:t> The initial "</a:t>
            </a: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Technical Report" was submitted to </a:t>
            </a:r>
            <a:r>
              <a:rPr lang="en-US" sz="1200" b="0" i="0" kern="1200" dirty="0" err="1">
                <a:solidFill>
                  <a:schemeClr val="tx1"/>
                </a:solidFill>
                <a:effectLst/>
                <a:latin typeface="+mn-lt"/>
                <a:ea typeface="+mn-ea"/>
                <a:cs typeface="+mn-cs"/>
              </a:rPr>
              <a:t>arXiv</a:t>
            </a:r>
            <a:r>
              <a:rPr lang="en-US" sz="1200" b="0" i="0" kern="1200" dirty="0">
                <a:solidFill>
                  <a:schemeClr val="tx1"/>
                </a:solidFill>
                <a:effectLst/>
                <a:latin typeface="+mn-lt"/>
                <a:ea typeface="+mn-ea"/>
                <a:cs typeface="+mn-cs"/>
              </a:rPr>
              <a:t>. The report detailed the models' architecture, training, and performance benchmarks.</a:t>
            </a:r>
          </a:p>
          <a:p>
            <a:r>
              <a:rPr lang="en-US" sz="1200" b="1" i="0" kern="1200" dirty="0">
                <a:solidFill>
                  <a:schemeClr val="tx1"/>
                </a:solidFill>
                <a:effectLst/>
                <a:latin typeface="+mn-lt"/>
                <a:ea typeface="+mn-ea"/>
                <a:cs typeface="+mn-cs"/>
              </a:rPr>
              <a:t>July 9, 2025:</a:t>
            </a:r>
            <a:r>
              <a:rPr lang="en-US" sz="1200" b="0" i="0" kern="1200" dirty="0">
                <a:solidFill>
                  <a:schemeClr val="tx1"/>
                </a:solidFill>
                <a:effectLst/>
                <a:latin typeface="+mn-lt"/>
                <a:ea typeface="+mn-ea"/>
                <a:cs typeface="+mn-cs"/>
              </a:rPr>
              <a:t> Google released the flagship </a:t>
            </a:r>
            <a:r>
              <a:rPr lang="en-US" sz="1200" b="1" i="0" kern="1200" dirty="0" err="1">
                <a:solidFill>
                  <a:schemeClr val="tx1"/>
                </a:solidFill>
                <a:effectLst/>
                <a:latin typeface="+mn-lt"/>
                <a:ea typeface="+mn-ea"/>
                <a:cs typeface="+mn-cs"/>
              </a:rPr>
              <a:t>MedGemma</a:t>
            </a:r>
            <a:r>
              <a:rPr lang="en-US" sz="1200" b="1" i="0" kern="1200" dirty="0">
                <a:solidFill>
                  <a:schemeClr val="tx1"/>
                </a:solidFill>
                <a:effectLst/>
                <a:latin typeface="+mn-lt"/>
                <a:ea typeface="+mn-ea"/>
                <a:cs typeface="+mn-cs"/>
              </a:rPr>
              <a:t> 27B multimodal instruction-tuned model</a:t>
            </a:r>
            <a:r>
              <a:rPr lang="en-US" sz="1200" b="0" i="0" kern="1200" dirty="0">
                <a:solidFill>
                  <a:schemeClr val="tx1"/>
                </a:solidFill>
                <a:effectLst/>
                <a:latin typeface="+mn-lt"/>
                <a:ea typeface="+mn-ea"/>
                <a:cs typeface="+mn-cs"/>
              </a:rPr>
              <a:t>, completing the initial collection. This version integrates image, text, and electronic health record (EHR) data capabilities, offering the most comprehensive feature set in the family</a:t>
            </a:r>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11</a:t>
            </a:fld>
            <a:endParaRPr lang="en-CA"/>
          </a:p>
        </p:txBody>
      </p:sp>
    </p:spTree>
    <p:extLst>
      <p:ext uri="{BB962C8B-B14F-4D97-AF65-F5344CB8AC3E}">
        <p14:creationId xmlns:p14="http://schemas.microsoft.com/office/powerpoint/2010/main" val="1731750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Medical Image Analysis</a:t>
            </a:r>
            <a:br>
              <a:rPr lang="en-US" sz="1200" b="1"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4B can interpret medical scans like X-rays, MRIs, and CT images. It helps radiologists generate detailed reports and identify key findings.</a:t>
            </a:r>
          </a:p>
          <a:p>
            <a:pPr fontAlgn="base"/>
            <a:r>
              <a:rPr lang="en-US" sz="1200" b="1" i="0" kern="1200" dirty="0">
                <a:solidFill>
                  <a:schemeClr val="tx1"/>
                </a:solidFill>
                <a:effectLst/>
                <a:latin typeface="+mn-lt"/>
                <a:ea typeface="+mn-ea"/>
                <a:cs typeface="+mn-cs"/>
              </a:rPr>
              <a:t>Text Summarization</a:t>
            </a:r>
            <a:br>
              <a:rPr lang="en-US" sz="1200" b="1"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27B can take long clinical documents and turn them into concise, easy-to-read summaries. This saves time for doctors who need quick information.</a:t>
            </a:r>
          </a:p>
          <a:p>
            <a:pPr fontAlgn="base"/>
            <a:r>
              <a:rPr lang="en-US" sz="1200" b="1" i="0" kern="1200" dirty="0">
                <a:solidFill>
                  <a:schemeClr val="tx1"/>
                </a:solidFill>
                <a:effectLst/>
                <a:latin typeface="+mn-lt"/>
                <a:ea typeface="+mn-ea"/>
                <a:cs typeface="+mn-cs"/>
              </a:rPr>
              <a:t>Medical Question Answering</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Both versions can answer questions like “What are the symptoms of heart failure?” or “How is asthma treated?” This helps doctors, students, and even patients.</a:t>
            </a:r>
          </a:p>
          <a:p>
            <a:pPr fontAlgn="base"/>
            <a:r>
              <a:rPr lang="en-US" sz="1200" b="1" i="0" kern="1200" dirty="0">
                <a:solidFill>
                  <a:schemeClr val="tx1"/>
                </a:solidFill>
                <a:effectLst/>
                <a:latin typeface="+mn-lt"/>
                <a:ea typeface="+mn-ea"/>
                <a:cs typeface="+mn-cs"/>
              </a:rPr>
              <a:t>Open-Source and Flexible</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Being open-source means you can fine-tune </a:t>
            </a: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with your own medical data to make it even more accurate for your specific needs.</a:t>
            </a:r>
          </a:p>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12</a:t>
            </a:fld>
            <a:endParaRPr lang="en-CA"/>
          </a:p>
        </p:txBody>
      </p:sp>
    </p:spTree>
    <p:extLst>
      <p:ext uri="{BB962C8B-B14F-4D97-AF65-F5344CB8AC3E}">
        <p14:creationId xmlns:p14="http://schemas.microsoft.com/office/powerpoint/2010/main" val="3788629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has many potential uses in healthcare. Here are some ways it can help:</a:t>
            </a:r>
          </a:p>
          <a:p>
            <a:pPr fontAlgn="base"/>
            <a:r>
              <a:rPr lang="en-US" sz="1200" b="1" i="0" kern="1200" dirty="0">
                <a:solidFill>
                  <a:schemeClr val="tx1"/>
                </a:solidFill>
                <a:effectLst/>
                <a:latin typeface="+mn-lt"/>
                <a:ea typeface="+mn-ea"/>
                <a:cs typeface="+mn-cs"/>
              </a:rPr>
              <a:t>Radiology Reports</a:t>
            </a:r>
            <a:br>
              <a:rPr lang="en-US" sz="1200" b="1"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4B can generate detailed reports from medical images, helping radiologists save time and focus on critical cases.</a:t>
            </a:r>
          </a:p>
          <a:p>
            <a:pPr fontAlgn="base"/>
            <a:r>
              <a:rPr lang="en-US" sz="1200" b="1" i="0" kern="1200" dirty="0">
                <a:solidFill>
                  <a:schemeClr val="tx1"/>
                </a:solidFill>
                <a:effectLst/>
                <a:latin typeface="+mn-lt"/>
                <a:ea typeface="+mn-ea"/>
                <a:cs typeface="+mn-cs"/>
              </a:rPr>
              <a:t>Clinical Summaries</a:t>
            </a:r>
            <a:br>
              <a:rPr lang="en-US" sz="1200" b="1"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MedGemma</a:t>
            </a:r>
            <a:r>
              <a:rPr lang="en-US" sz="1200" b="0" i="0" kern="1200" dirty="0">
                <a:solidFill>
                  <a:schemeClr val="tx1"/>
                </a:solidFill>
                <a:effectLst/>
                <a:latin typeface="+mn-lt"/>
                <a:ea typeface="+mn-ea"/>
                <a:cs typeface="+mn-cs"/>
              </a:rPr>
              <a:t> 27B can process long patient records and create summaries, making it easier for doctors to get key information fast.</a:t>
            </a:r>
          </a:p>
          <a:p>
            <a:pPr fontAlgn="base"/>
            <a:r>
              <a:rPr lang="en-US" sz="1200" b="1" i="0" kern="1200" dirty="0">
                <a:solidFill>
                  <a:schemeClr val="tx1"/>
                </a:solidFill>
                <a:effectLst/>
                <a:latin typeface="+mn-lt"/>
                <a:ea typeface="+mn-ea"/>
                <a:cs typeface="+mn-cs"/>
              </a:rPr>
              <a:t>Medical Education</a:t>
            </a:r>
            <a:br>
              <a:rPr lang="en-US" sz="1200" b="1"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MedGemma’s</a:t>
            </a:r>
            <a:r>
              <a:rPr lang="en-US" sz="1200" b="0" i="0" kern="1200" dirty="0">
                <a:solidFill>
                  <a:schemeClr val="tx1"/>
                </a:solidFill>
                <a:effectLst/>
                <a:latin typeface="+mn-lt"/>
                <a:ea typeface="+mn-ea"/>
                <a:cs typeface="+mn-cs"/>
              </a:rPr>
              <a:t> question-answering features make it a helpful tool for teaching students and training new healthcare professionals.</a:t>
            </a:r>
          </a:p>
          <a:p>
            <a:pPr fontAlgn="base"/>
            <a:r>
              <a:rPr lang="en-US" sz="1200" b="1" i="0" kern="1200" dirty="0">
                <a:solidFill>
                  <a:schemeClr val="tx1"/>
                </a:solidFill>
                <a:effectLst/>
                <a:latin typeface="+mn-lt"/>
                <a:ea typeface="+mn-ea"/>
                <a:cs typeface="+mn-cs"/>
              </a:rPr>
              <a:t>Healthcare Apps</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Developers can build apps that integrate </a:t>
            </a:r>
            <a:r>
              <a:rPr lang="en-US" sz="1200" b="0" i="0" kern="1200" dirty="0" err="1">
                <a:solidFill>
                  <a:schemeClr val="tx1"/>
                </a:solidFill>
                <a:effectLst/>
                <a:latin typeface="+mn-lt"/>
                <a:ea typeface="+mn-ea"/>
                <a:cs typeface="+mn-cs"/>
              </a:rPr>
              <a:t>MedGemma’s</a:t>
            </a:r>
            <a:r>
              <a:rPr lang="en-US" sz="1200" b="0" i="0" kern="1200" dirty="0">
                <a:solidFill>
                  <a:schemeClr val="tx1"/>
                </a:solidFill>
                <a:effectLst/>
                <a:latin typeface="+mn-lt"/>
                <a:ea typeface="+mn-ea"/>
                <a:cs typeface="+mn-cs"/>
              </a:rPr>
              <a:t> features, supporting telehealth, patient monitoring, and decision support systems.</a:t>
            </a:r>
          </a:p>
          <a:p>
            <a:endParaRPr lang="en-CA" dirty="0"/>
          </a:p>
          <a:p>
            <a:endParaRPr lang="en-CA" dirty="0"/>
          </a:p>
        </p:txBody>
      </p:sp>
      <p:sp>
        <p:nvSpPr>
          <p:cNvPr id="4" name="Slide Number Placeholder 3"/>
          <p:cNvSpPr>
            <a:spLocks noGrp="1"/>
          </p:cNvSpPr>
          <p:nvPr>
            <p:ph type="sldNum" sz="quarter" idx="5"/>
          </p:nvPr>
        </p:nvSpPr>
        <p:spPr/>
        <p:txBody>
          <a:bodyPr/>
          <a:lstStyle/>
          <a:p>
            <a:fld id="{D9A58B20-D209-4194-B41A-F1AED42CF4E9}" type="slidenum">
              <a:rPr lang="en-CA" smtClean="0"/>
              <a:t>13</a:t>
            </a:fld>
            <a:endParaRPr lang="en-CA"/>
          </a:p>
        </p:txBody>
      </p:sp>
    </p:spTree>
    <p:extLst>
      <p:ext uri="{BB962C8B-B14F-4D97-AF65-F5344CB8AC3E}">
        <p14:creationId xmlns:p14="http://schemas.microsoft.com/office/powerpoint/2010/main" val="3962308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9B1F13F-8E9E-4047-8B89-084549C01EA4}" type="datetime1">
              <a:rPr lang="en-CA" smtClean="0"/>
              <a:t>2025-11-07</a:t>
            </a:fld>
            <a:endParaRPr lang="en-CA"/>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173A67E-7BE0-4063-9D6C-5FC41475A3ED}"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240175560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7C131A-DDE0-41B9-9D12-7F3DA3CFAF12}" type="datetime1">
              <a:rPr lang="en-CA" smtClean="0"/>
              <a:t>2025-11-07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3495167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A19BE8-44D5-4B8E-9E8B-8DE8A45F13AE}" type="datetime1">
              <a:rPr lang="en-CA" smtClean="0"/>
              <a:t>2025-11-07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173A67E-7BE0-4063-9D6C-5FC41475A3ED}"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136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2F5CCB-B6C6-41A0-9DBE-603BC5E63F59}" type="datetime1">
              <a:rPr lang="en-CA" smtClean="0"/>
              <a:t>2025-11-07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1535459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FEC3C9-EC23-49AF-98EC-075B1EF2FD1E}" type="datetime1">
              <a:rPr lang="en-CA" smtClean="0"/>
              <a:t>2025-11-07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405539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FECE3-1FAF-40D9-8AD9-109AC9D5BBD0}" type="datetime1">
              <a:rPr lang="en-CA" smtClean="0"/>
              <a:t>2025-11-07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3501701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C1273D-C2CA-4582-86FB-CC5B07D2722E}" type="datetime1">
              <a:rPr lang="en-CA" smtClean="0"/>
              <a:t>2025-11-07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2243955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98E404-82BC-4A23-9445-0EA274BB3461}" type="datetime1">
              <a:rPr lang="en-CA" smtClean="0"/>
              <a:t>2025-11-07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360347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65B10F-A82C-467F-B9B0-3AB66E817A71}" type="datetime1">
              <a:rPr lang="en-CA" smtClean="0"/>
              <a:t>2025-11-07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1334043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B5CD60-B9EE-4A48-AA8E-5F41E2B1DD8C}" type="datetime1">
              <a:rPr lang="en-CA" smtClean="0"/>
              <a:t>2025-11-07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1300353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D6D3B-C3C2-401F-A391-3501903F5A3A}" type="datetime1">
              <a:rPr lang="en-CA" smtClean="0"/>
              <a:t>2025-11-07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173A67E-7BE0-4063-9D6C-5FC41475A3ED}" type="slidenum">
              <a:rPr lang="en-CA" smtClean="0"/>
              <a:t>‹#›</a:t>
            </a:fld>
            <a:endParaRPr lang="en-CA"/>
          </a:p>
        </p:txBody>
      </p:sp>
    </p:spTree>
    <p:extLst>
      <p:ext uri="{BB962C8B-B14F-4D97-AF65-F5344CB8AC3E}">
        <p14:creationId xmlns:p14="http://schemas.microsoft.com/office/powerpoint/2010/main" val="374806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9B23E09-CE32-4071-9591-8A1CD0F665F9}" type="datetime1">
              <a:rPr lang="en-CA" smtClean="0"/>
              <a:t>2025-11-07</a:t>
            </a:fld>
            <a:endParaRPr lang="en-CA"/>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CA"/>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173A67E-7BE0-4063-9D6C-5FC41475A3ED}" type="slidenum">
              <a:rPr lang="en-CA" smtClean="0"/>
              <a:t>‹#›</a:t>
            </a:fld>
            <a:endParaRPr lang="en-CA"/>
          </a:p>
        </p:txBody>
      </p:sp>
    </p:spTree>
    <p:extLst>
      <p:ext uri="{BB962C8B-B14F-4D97-AF65-F5344CB8AC3E}">
        <p14:creationId xmlns:p14="http://schemas.microsoft.com/office/powerpoint/2010/main" val="1983252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9.png"/><Relationship Id="rId4" Type="http://schemas.openxmlformats.org/officeDocument/2006/relationships/diagramLayout" Target="../diagrams/layout2.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6.xml"/><Relationship Id="rId11" Type="http://schemas.openxmlformats.org/officeDocument/2006/relationships/image" Target="../media/image13.png"/><Relationship Id="rId5" Type="http://schemas.openxmlformats.org/officeDocument/2006/relationships/diagramQuickStyle" Target="../diagrams/quickStyle6.xml"/><Relationship Id="rId10" Type="http://schemas.openxmlformats.org/officeDocument/2006/relationships/image" Target="../media/image12.png"/><Relationship Id="rId4" Type="http://schemas.openxmlformats.org/officeDocument/2006/relationships/diagramLayout" Target="../diagrams/layout6.xml"/><Relationship Id="rId9"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1221-3F2C-F3A5-6040-B27E9BD3320C}"/>
              </a:ext>
            </a:extLst>
          </p:cNvPr>
          <p:cNvSpPr>
            <a:spLocks noGrp="1"/>
          </p:cNvSpPr>
          <p:nvPr>
            <p:ph type="ctrTitle"/>
          </p:nvPr>
        </p:nvSpPr>
        <p:spPr>
          <a:xfrm>
            <a:off x="2290071" y="2814638"/>
            <a:ext cx="9144000" cy="2387600"/>
          </a:xfrm>
        </p:spPr>
        <p:txBody>
          <a:bodyPr>
            <a:noAutofit/>
          </a:bodyPr>
          <a:lstStyle/>
          <a:p>
            <a:r>
              <a:rPr lang="en-US" sz="6000" dirty="0"/>
              <a:t>The New Stethoscope: LLMs, Multimodal Models, and the Future of Clinical AI</a:t>
            </a:r>
            <a:endParaRPr lang="en-CA" sz="6000" dirty="0"/>
          </a:p>
        </p:txBody>
      </p:sp>
      <p:sp>
        <p:nvSpPr>
          <p:cNvPr id="3" name="Subtitle 2">
            <a:extLst>
              <a:ext uri="{FF2B5EF4-FFF2-40B4-BE49-F238E27FC236}">
                <a16:creationId xmlns:a16="http://schemas.microsoft.com/office/drawing/2014/main" id="{A2A95CA0-59A0-0B8D-2DA7-FAB335CC83C1}"/>
              </a:ext>
            </a:extLst>
          </p:cNvPr>
          <p:cNvSpPr>
            <a:spLocks noGrp="1"/>
          </p:cNvSpPr>
          <p:nvPr>
            <p:ph type="subTitle" idx="1"/>
          </p:nvPr>
        </p:nvSpPr>
        <p:spPr>
          <a:xfrm>
            <a:off x="2290071" y="5202238"/>
            <a:ext cx="9144000" cy="1655762"/>
          </a:xfrm>
        </p:spPr>
        <p:txBody>
          <a:bodyPr/>
          <a:lstStyle/>
          <a:p>
            <a:r>
              <a:rPr lang="en-US" dirty="0"/>
              <a:t>A Gentle Introduction to LLMs and Their Role in Medicine</a:t>
            </a:r>
            <a:endParaRPr lang="en-CA" dirty="0"/>
          </a:p>
        </p:txBody>
      </p:sp>
      <p:pic>
        <p:nvPicPr>
          <p:cNvPr id="1026" name="Picture 2" descr="An AI Stethoscope Improves Home Asthma ...">
            <a:extLst>
              <a:ext uri="{FF2B5EF4-FFF2-40B4-BE49-F238E27FC236}">
                <a16:creationId xmlns:a16="http://schemas.microsoft.com/office/drawing/2014/main" id="{2FFF3745-73DC-E992-D897-48BE57840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3360" y="0"/>
            <a:ext cx="2128640" cy="2128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tificial Intelligence in Medicine ...">
            <a:extLst>
              <a:ext uri="{FF2B5EF4-FFF2-40B4-BE49-F238E27FC236}">
                <a16:creationId xmlns:a16="http://schemas.microsoft.com/office/drawing/2014/main" id="{C5F0EA15-D103-5071-C7AD-88950D0C35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16" y="0"/>
            <a:ext cx="2128640" cy="18625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ACDE01-0F75-712E-5AED-C5226F903F61}"/>
              </a:ext>
            </a:extLst>
          </p:cNvPr>
          <p:cNvSpPr txBox="1"/>
          <p:nvPr/>
        </p:nvSpPr>
        <p:spPr>
          <a:xfrm>
            <a:off x="6172781" y="6052101"/>
            <a:ext cx="6097162" cy="369332"/>
          </a:xfrm>
          <a:prstGeom prst="rect">
            <a:avLst/>
          </a:prstGeom>
          <a:noFill/>
        </p:spPr>
        <p:txBody>
          <a:bodyPr wrap="square">
            <a:spAutoFit/>
          </a:bodyPr>
          <a:lstStyle/>
          <a:p>
            <a:pPr algn="ctr">
              <a:buNone/>
            </a:pPr>
            <a:r>
              <a:rPr lang="en-CA" sz="1800" b="1" dirty="0">
                <a:solidFill>
                  <a:schemeClr val="tx1">
                    <a:lumMod val="75000"/>
                  </a:schemeClr>
                </a:solidFill>
                <a:effectLst/>
                <a:latin typeface="Century Gothic" panose="020B0502020202020204" pitchFamily="34" charset="0"/>
                <a:ea typeface="Times New Roman" panose="02020603050405020304" pitchFamily="18" charset="0"/>
              </a:rPr>
              <a:t>IMPACT-MED 2025: FROM IMAGE TO IMPACT</a:t>
            </a:r>
            <a:endParaRPr lang="en-CA" sz="1100" dirty="0">
              <a:solidFill>
                <a:schemeClr val="tx1">
                  <a:lumMod val="75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64185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267845-8C14-2E66-5B42-E0CDC69637BA}"/>
              </a:ext>
            </a:extLst>
          </p:cNvPr>
          <p:cNvSpPr txBox="1"/>
          <p:nvPr/>
        </p:nvSpPr>
        <p:spPr>
          <a:xfrm>
            <a:off x="346229" y="328474"/>
            <a:ext cx="5264458" cy="369332"/>
          </a:xfrm>
          <a:prstGeom prst="rect">
            <a:avLst/>
          </a:prstGeom>
          <a:noFill/>
        </p:spPr>
        <p:txBody>
          <a:bodyPr wrap="square" rtlCol="0">
            <a:spAutoFit/>
          </a:bodyPr>
          <a:lstStyle/>
          <a:p>
            <a:r>
              <a:rPr lang="en-CA" b="1" dirty="0">
                <a:latin typeface="Arial" panose="020B0604020202020204" pitchFamily="34" charset="0"/>
                <a:cs typeface="Arial" panose="020B0604020202020204" pitchFamily="34" charset="0"/>
              </a:rPr>
              <a:t>Presenters:</a:t>
            </a:r>
          </a:p>
        </p:txBody>
      </p:sp>
      <p:sp>
        <p:nvSpPr>
          <p:cNvPr id="7" name="TextBox 6">
            <a:extLst>
              <a:ext uri="{FF2B5EF4-FFF2-40B4-BE49-F238E27FC236}">
                <a16:creationId xmlns:a16="http://schemas.microsoft.com/office/drawing/2014/main" id="{67FA9B68-BCAF-D685-EB99-97C3537D622C}"/>
              </a:ext>
            </a:extLst>
          </p:cNvPr>
          <p:cNvSpPr txBox="1"/>
          <p:nvPr/>
        </p:nvSpPr>
        <p:spPr>
          <a:xfrm>
            <a:off x="5902740" y="2531041"/>
            <a:ext cx="5422778" cy="2308324"/>
          </a:xfrm>
          <a:prstGeom prst="rect">
            <a:avLst/>
          </a:prstGeom>
          <a:noFill/>
        </p:spPr>
        <p:txBody>
          <a:bodyPr wrap="square" rtlCol="0">
            <a:spAutoFit/>
          </a:bodyPr>
          <a:lstStyle/>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PhD in Medical Science, University of Toronto</a:t>
            </a:r>
          </a:p>
          <a:p>
            <a:pPr marL="285750" indent="-285750">
              <a:buFont typeface="Wingdings" panose="05000000000000000000" pitchFamily="2" charset="2"/>
              <a:buChar char="Ø"/>
            </a:pPr>
            <a:endParaRPr lang="en-CA"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NVIDIA Healthcare Ambassador. Instructor and course designer for NVIDIA Deep Learning Institute.</a:t>
            </a:r>
          </a:p>
          <a:p>
            <a:pPr marL="285750" indent="-285750">
              <a:buFont typeface="Wingdings" panose="05000000000000000000" pitchFamily="2" charset="2"/>
              <a:buChar char="Ø"/>
            </a:pPr>
            <a:endParaRPr lang="en-CA"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Translational medicine postdoctoral researcher with a focus on AI and statistics.</a:t>
            </a:r>
          </a:p>
        </p:txBody>
      </p:sp>
      <p:sp>
        <p:nvSpPr>
          <p:cNvPr id="10" name="TextBox 9">
            <a:extLst>
              <a:ext uri="{FF2B5EF4-FFF2-40B4-BE49-F238E27FC236}">
                <a16:creationId xmlns:a16="http://schemas.microsoft.com/office/drawing/2014/main" id="{37E1852A-B70C-F73A-1CE4-7134B652E06A}"/>
              </a:ext>
            </a:extLst>
          </p:cNvPr>
          <p:cNvSpPr txBox="1"/>
          <p:nvPr/>
        </p:nvSpPr>
        <p:spPr>
          <a:xfrm>
            <a:off x="1167547" y="2531041"/>
            <a:ext cx="4535600" cy="2862322"/>
          </a:xfrm>
          <a:prstGeom prst="rect">
            <a:avLst/>
          </a:prstGeom>
          <a:noFill/>
        </p:spPr>
        <p:txBody>
          <a:bodyPr wrap="square">
            <a:spAutoFit/>
          </a:bodyPr>
          <a:lstStyle/>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PhD in Electrical and Computer Engineering, Concordia University, Montreal</a:t>
            </a:r>
          </a:p>
          <a:p>
            <a:pPr marL="285750" indent="-285750">
              <a:buFont typeface="Wingdings" panose="05000000000000000000" pitchFamily="2" charset="2"/>
              <a:buChar char="Ø"/>
            </a:pPr>
            <a:endParaRPr lang="en-CA"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 Postdoctoral researcher at the University of Toronto.</a:t>
            </a:r>
          </a:p>
          <a:p>
            <a:pPr marL="285750" indent="-285750">
              <a:buFont typeface="Wingdings" panose="05000000000000000000" pitchFamily="2" charset="2"/>
              <a:buChar char="Ø"/>
            </a:pPr>
            <a:endParaRPr lang="en-CA"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CA" dirty="0">
                <a:latin typeface="Arial" panose="020B0604020202020204" pitchFamily="34" charset="0"/>
                <a:cs typeface="Arial" panose="020B0604020202020204" pitchFamily="34" charset="0"/>
              </a:rPr>
              <a:t>Current research focuses on deep learning, medical image analysis, and generative AI.</a:t>
            </a:r>
          </a:p>
        </p:txBody>
      </p:sp>
      <p:pic>
        <p:nvPicPr>
          <p:cNvPr id="18435" name="Picture 3" descr="Noushin Jafarpisheh">
            <a:extLst>
              <a:ext uri="{FF2B5EF4-FFF2-40B4-BE49-F238E27FC236}">
                <a16:creationId xmlns:a16="http://schemas.microsoft.com/office/drawing/2014/main" id="{F2301A11-CAD3-3AED-3A4E-213333406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206" y="328474"/>
            <a:ext cx="1341749" cy="156959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C97BA69-E04F-50A6-0602-F08255F24D4C}"/>
              </a:ext>
            </a:extLst>
          </p:cNvPr>
          <p:cNvSpPr txBox="1"/>
          <p:nvPr/>
        </p:nvSpPr>
        <p:spPr>
          <a:xfrm>
            <a:off x="1819105" y="2055025"/>
            <a:ext cx="3410712" cy="369332"/>
          </a:xfrm>
          <a:prstGeom prst="rect">
            <a:avLst/>
          </a:prstGeom>
          <a:noFill/>
        </p:spPr>
        <p:txBody>
          <a:bodyPr wrap="square" rtlCol="0">
            <a:spAutoFit/>
          </a:bodyPr>
          <a:lstStyle/>
          <a:p>
            <a:r>
              <a:rPr lang="en-CA" b="1" dirty="0">
                <a:latin typeface="Arial" panose="020B0604020202020204" pitchFamily="34" charset="0"/>
                <a:cs typeface="Arial" panose="020B0604020202020204" pitchFamily="34" charset="0"/>
              </a:rPr>
              <a:t>Noushin </a:t>
            </a:r>
            <a:r>
              <a:rPr lang="en-CA" b="1" dirty="0" err="1">
                <a:latin typeface="Arial" panose="020B0604020202020204" pitchFamily="34" charset="0"/>
                <a:cs typeface="Arial" panose="020B0604020202020204" pitchFamily="34" charset="0"/>
              </a:rPr>
              <a:t>Jafarpisheh</a:t>
            </a:r>
            <a:endParaRPr lang="en-CA"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32A1E6B-4196-3584-FB67-9DA32DBD8145}"/>
              </a:ext>
            </a:extLst>
          </p:cNvPr>
          <p:cNvSpPr txBox="1"/>
          <p:nvPr/>
        </p:nvSpPr>
        <p:spPr>
          <a:xfrm>
            <a:off x="7153226" y="2055025"/>
            <a:ext cx="3410712" cy="369332"/>
          </a:xfrm>
          <a:prstGeom prst="rect">
            <a:avLst/>
          </a:prstGeom>
          <a:noFill/>
        </p:spPr>
        <p:txBody>
          <a:bodyPr wrap="square" rtlCol="0">
            <a:spAutoFit/>
          </a:bodyPr>
          <a:lstStyle/>
          <a:p>
            <a:r>
              <a:rPr lang="en-CA" b="1" dirty="0">
                <a:latin typeface="Arial" panose="020B0604020202020204" pitchFamily="34" charset="0"/>
                <a:cs typeface="Arial" panose="020B0604020202020204" pitchFamily="34" charset="0"/>
              </a:rPr>
              <a:t>Ernest Namdar</a:t>
            </a:r>
          </a:p>
        </p:txBody>
      </p:sp>
      <p:pic>
        <p:nvPicPr>
          <p:cNvPr id="18437" name="Picture 5" descr="Ernest Namdar">
            <a:extLst>
              <a:ext uri="{FF2B5EF4-FFF2-40B4-BE49-F238E27FC236}">
                <a16:creationId xmlns:a16="http://schemas.microsoft.com/office/drawing/2014/main" id="{8422A2DE-8CAD-CD48-CEA5-21AE838825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0813" y="294041"/>
            <a:ext cx="1569594" cy="1569594"/>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12">
            <a:extLst>
              <a:ext uri="{FF2B5EF4-FFF2-40B4-BE49-F238E27FC236}">
                <a16:creationId xmlns:a16="http://schemas.microsoft.com/office/drawing/2014/main" id="{E870B21A-5DB2-313A-A6F1-122C0719CE30}"/>
              </a:ext>
            </a:extLst>
          </p:cNvPr>
          <p:cNvSpPr>
            <a:spLocks noGrp="1"/>
          </p:cNvSpPr>
          <p:nvPr>
            <p:ph type="sldNum" sz="quarter" idx="12"/>
          </p:nvPr>
        </p:nvSpPr>
        <p:spPr/>
        <p:txBody>
          <a:bodyPr>
            <a:normAutofit lnSpcReduction="10000"/>
          </a:bodyPr>
          <a:lstStyle/>
          <a:p>
            <a:fld id="{7173A67E-7BE0-4063-9D6C-5FC41475A3ED}" type="slidenum">
              <a:rPr lang="en-CA" smtClean="0"/>
              <a:t>2</a:t>
            </a:fld>
            <a:endParaRPr lang="en-CA"/>
          </a:p>
        </p:txBody>
      </p:sp>
    </p:spTree>
    <p:extLst>
      <p:ext uri="{BB962C8B-B14F-4D97-AF65-F5344CB8AC3E}">
        <p14:creationId xmlns:p14="http://schemas.microsoft.com/office/powerpoint/2010/main" val="382505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65AC49-6F2F-09F6-6413-843ED80C7994}"/>
              </a:ext>
            </a:extLst>
          </p:cNvPr>
          <p:cNvSpPr txBox="1"/>
          <p:nvPr/>
        </p:nvSpPr>
        <p:spPr>
          <a:xfrm>
            <a:off x="698015" y="537472"/>
            <a:ext cx="9891327" cy="553998"/>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What Are Large Language Models (LLMs)?</a:t>
            </a:r>
            <a:endParaRPr lang="en-CA" sz="30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2F97FDE-56B2-5E1D-25C8-5CEA81E82416}"/>
              </a:ext>
            </a:extLst>
          </p:cNvPr>
          <p:cNvSpPr txBox="1"/>
          <p:nvPr/>
        </p:nvSpPr>
        <p:spPr>
          <a:xfrm>
            <a:off x="788757" y="1214547"/>
            <a:ext cx="10016519" cy="3831818"/>
          </a:xfrm>
          <a:prstGeom prst="rect">
            <a:avLst/>
          </a:prstGeom>
          <a:noFill/>
        </p:spPr>
        <p:txBody>
          <a:bodyPr wrap="square" rtlCol="0">
            <a:spAutoFit/>
          </a:bodyPr>
          <a:lstStyle/>
          <a:p>
            <a:pPr marL="342900" indent="-342900">
              <a:buFont typeface="Wingdings" panose="05000000000000000000" pitchFamily="2" charset="2"/>
              <a:buChar char="Ø"/>
            </a:pPr>
            <a:r>
              <a:rPr lang="en-US" sz="2300" dirty="0">
                <a:latin typeface="Arial" panose="020B0604020202020204" pitchFamily="34" charset="0"/>
                <a:cs typeface="Arial" panose="020B0604020202020204" pitchFamily="34" charset="0"/>
              </a:rPr>
              <a:t>LLMs are AI systems trained on vast text data to understand and generate language.</a:t>
            </a:r>
          </a:p>
          <a:p>
            <a:pPr marL="342900" indent="-342900">
              <a:buFont typeface="Wingdings" panose="05000000000000000000" pitchFamily="2" charset="2"/>
              <a:buChar char="Ø"/>
            </a:pPr>
            <a:endParaRPr lang="en-US" sz="23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300" dirty="0">
                <a:latin typeface="Arial" panose="020B0604020202020204" pitchFamily="34" charset="0"/>
                <a:cs typeface="Arial" panose="020B0604020202020204" pitchFamily="34" charset="0"/>
              </a:rPr>
              <a:t>Built using the Transformer architecture → self-attention helps the model focus on relevant words.</a:t>
            </a:r>
          </a:p>
          <a:p>
            <a:pPr marL="342900" indent="-342900">
              <a:buFont typeface="Wingdings" panose="05000000000000000000" pitchFamily="2" charset="2"/>
              <a:buChar char="Ø"/>
            </a:pPr>
            <a:endParaRPr lang="en-US" sz="23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300" dirty="0">
                <a:latin typeface="Arial" panose="020B0604020202020204" pitchFamily="34" charset="0"/>
                <a:cs typeface="Arial" panose="020B0604020202020204" pitchFamily="34" charset="0"/>
              </a:rPr>
              <a:t>Learn the statistical patterns of language by predicting the next word.</a:t>
            </a:r>
          </a:p>
          <a:p>
            <a:pPr marL="342900" indent="-342900">
              <a:buFont typeface="Wingdings" panose="05000000000000000000" pitchFamily="2" charset="2"/>
              <a:buChar char="Ø"/>
            </a:pPr>
            <a:endParaRPr lang="en-US" sz="23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300" dirty="0">
                <a:latin typeface="Arial" panose="020B0604020202020204" pitchFamily="34" charset="0"/>
                <a:cs typeface="Arial" panose="020B0604020202020204" pitchFamily="34" charset="0"/>
              </a:rPr>
              <a:t>Examples: ChatGPT (OpenAI), Google Gemini, Claude, etc.</a:t>
            </a:r>
          </a:p>
          <a:p>
            <a:pPr marL="285750" indent="-285750">
              <a:buFont typeface="Arial" panose="020B0604020202020204" pitchFamily="34" charset="0"/>
              <a:buChar char="•"/>
            </a:pPr>
            <a:endParaRPr lang="en-US" dirty="0"/>
          </a:p>
          <a:p>
            <a:endParaRPr lang="en-CA" dirty="0"/>
          </a:p>
        </p:txBody>
      </p:sp>
      <p:pic>
        <p:nvPicPr>
          <p:cNvPr id="8" name="Picture 7">
            <a:extLst>
              <a:ext uri="{FF2B5EF4-FFF2-40B4-BE49-F238E27FC236}">
                <a16:creationId xmlns:a16="http://schemas.microsoft.com/office/drawing/2014/main" id="{9420968B-77C0-868A-69B1-0B346E446AE3}"/>
              </a:ext>
            </a:extLst>
          </p:cNvPr>
          <p:cNvPicPr>
            <a:picLocks noChangeAspect="1"/>
          </p:cNvPicPr>
          <p:nvPr/>
        </p:nvPicPr>
        <p:blipFill>
          <a:blip r:embed="rId3"/>
          <a:srcRect r="1538"/>
          <a:stretch>
            <a:fillRect/>
          </a:stretch>
        </p:blipFill>
        <p:spPr>
          <a:xfrm>
            <a:off x="2568431" y="4698124"/>
            <a:ext cx="7410485" cy="1757591"/>
          </a:xfrm>
          <a:prstGeom prst="rect">
            <a:avLst/>
          </a:prstGeom>
        </p:spPr>
      </p:pic>
      <p:sp>
        <p:nvSpPr>
          <p:cNvPr id="9" name="Slide Number Placeholder 8">
            <a:extLst>
              <a:ext uri="{FF2B5EF4-FFF2-40B4-BE49-F238E27FC236}">
                <a16:creationId xmlns:a16="http://schemas.microsoft.com/office/drawing/2014/main" id="{45FA5758-1C4B-7582-8104-58B8CA0556EE}"/>
              </a:ext>
            </a:extLst>
          </p:cNvPr>
          <p:cNvSpPr>
            <a:spLocks noGrp="1"/>
          </p:cNvSpPr>
          <p:nvPr>
            <p:ph type="sldNum" sz="quarter" idx="12"/>
          </p:nvPr>
        </p:nvSpPr>
        <p:spPr/>
        <p:txBody>
          <a:bodyPr>
            <a:normAutofit lnSpcReduction="10000"/>
          </a:bodyPr>
          <a:lstStyle/>
          <a:p>
            <a:fld id="{7173A67E-7BE0-4063-9D6C-5FC41475A3ED}" type="slidenum">
              <a:rPr lang="en-CA" smtClean="0"/>
              <a:t>3</a:t>
            </a:fld>
            <a:endParaRPr lang="en-CA"/>
          </a:p>
        </p:txBody>
      </p:sp>
    </p:spTree>
    <p:extLst>
      <p:ext uri="{BB962C8B-B14F-4D97-AF65-F5344CB8AC3E}">
        <p14:creationId xmlns:p14="http://schemas.microsoft.com/office/powerpoint/2010/main" val="3244456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9BBC0F7-5668-7D5E-AEA3-3A54816C3BD2}"/>
              </a:ext>
            </a:extLst>
          </p:cNvPr>
          <p:cNvGraphicFramePr/>
          <p:nvPr>
            <p:extLst>
              <p:ext uri="{D42A27DB-BD31-4B8C-83A1-F6EECF244321}">
                <p14:modId xmlns:p14="http://schemas.microsoft.com/office/powerpoint/2010/main" val="1516820413"/>
              </p:ext>
            </p:extLst>
          </p:nvPr>
        </p:nvGraphicFramePr>
        <p:xfrm>
          <a:off x="357120" y="894283"/>
          <a:ext cx="8785555" cy="5556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194" name="Picture 2" descr="Beginner's Guide to Large Language Models (LLM)">
            <a:extLst>
              <a:ext uri="{FF2B5EF4-FFF2-40B4-BE49-F238E27FC236}">
                <a16:creationId xmlns:a16="http://schemas.microsoft.com/office/drawing/2014/main" id="{D8505799-7410-3119-85E2-EBD8DD5E9EC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1961" y="3021670"/>
            <a:ext cx="2511925" cy="16746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74A6482-64E8-9B06-A637-A8C4CD2493A7}"/>
              </a:ext>
            </a:extLst>
          </p:cNvPr>
          <p:cNvSpPr txBox="1"/>
          <p:nvPr/>
        </p:nvSpPr>
        <p:spPr>
          <a:xfrm>
            <a:off x="520954" y="256537"/>
            <a:ext cx="4303293" cy="553998"/>
          </a:xfrm>
          <a:prstGeom prst="rect">
            <a:avLst/>
          </a:prstGeom>
          <a:noFill/>
        </p:spPr>
        <p:txBody>
          <a:bodyPr wrap="square" rtlCol="0">
            <a:spAutoFit/>
          </a:bodyPr>
          <a:lstStyle/>
          <a:p>
            <a:r>
              <a:rPr lang="en-CA" sz="3000" b="1" dirty="0">
                <a:latin typeface="Arial" panose="020B0604020202020204" pitchFamily="34" charset="0"/>
                <a:cs typeface="Arial" panose="020B0604020202020204" pitchFamily="34" charset="0"/>
              </a:rPr>
              <a:t>How Does LMM work?</a:t>
            </a:r>
          </a:p>
        </p:txBody>
      </p:sp>
      <p:sp>
        <p:nvSpPr>
          <p:cNvPr id="5" name="Scroll: Horizontal 4">
            <a:extLst>
              <a:ext uri="{FF2B5EF4-FFF2-40B4-BE49-F238E27FC236}">
                <a16:creationId xmlns:a16="http://schemas.microsoft.com/office/drawing/2014/main" id="{A06BFED1-9DC6-7D94-5681-3DAE7E71844F}"/>
              </a:ext>
            </a:extLst>
          </p:cNvPr>
          <p:cNvSpPr/>
          <p:nvPr/>
        </p:nvSpPr>
        <p:spPr>
          <a:xfrm>
            <a:off x="8726213" y="1541078"/>
            <a:ext cx="2538249" cy="3775843"/>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atin typeface="Arial" panose="020B0604020202020204" pitchFamily="34" charset="0"/>
                <a:cs typeface="Arial" panose="020B0604020202020204" pitchFamily="34" charset="0"/>
              </a:rPr>
              <a:t>LLMs are like digital chefs: They take your words as ingredients, chop them into tokens, mix them with attention and context, and serve up a perfectly seasoned sentence!”</a:t>
            </a:r>
            <a:endParaRPr lang="en-CA" sz="1500" dirty="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69A8FE56-1507-25A0-BF50-647DC25CBC09}"/>
              </a:ext>
            </a:extLst>
          </p:cNvPr>
          <p:cNvSpPr>
            <a:spLocks noGrp="1"/>
          </p:cNvSpPr>
          <p:nvPr>
            <p:ph type="sldNum" sz="quarter" idx="12"/>
          </p:nvPr>
        </p:nvSpPr>
        <p:spPr/>
        <p:txBody>
          <a:bodyPr>
            <a:normAutofit lnSpcReduction="10000"/>
          </a:bodyPr>
          <a:lstStyle/>
          <a:p>
            <a:fld id="{7173A67E-7BE0-4063-9D6C-5FC41475A3ED}" type="slidenum">
              <a:rPr lang="en-CA" smtClean="0"/>
              <a:t>4</a:t>
            </a:fld>
            <a:endParaRPr lang="en-CA"/>
          </a:p>
        </p:txBody>
      </p:sp>
    </p:spTree>
    <p:extLst>
      <p:ext uri="{BB962C8B-B14F-4D97-AF65-F5344CB8AC3E}">
        <p14:creationId xmlns:p14="http://schemas.microsoft.com/office/powerpoint/2010/main" val="2397015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AA454-DD73-2A30-8DC0-AC8357BB67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3EB7B3-D01C-29B6-11C7-00ADF4902498}"/>
              </a:ext>
            </a:extLst>
          </p:cNvPr>
          <p:cNvSpPr txBox="1"/>
          <p:nvPr/>
        </p:nvSpPr>
        <p:spPr>
          <a:xfrm>
            <a:off x="1332224" y="1397832"/>
            <a:ext cx="9689737" cy="4324261"/>
          </a:xfrm>
          <a:prstGeom prst="rect">
            <a:avLst/>
          </a:prstGeom>
          <a:noFill/>
        </p:spPr>
        <p:txBody>
          <a:bodyPr wrap="square">
            <a:spAutoFit/>
          </a:bodyPr>
          <a:lstStyle/>
          <a:p>
            <a:pPr marL="342900" indent="-342900">
              <a:buFont typeface="Wingdings" panose="05000000000000000000" pitchFamily="2" charset="2"/>
              <a:buChar char="Ø"/>
            </a:pPr>
            <a:r>
              <a:rPr lang="en-US" sz="2500" dirty="0">
                <a:latin typeface="Arial" panose="020B0604020202020204" pitchFamily="34" charset="0"/>
                <a:cs typeface="Arial" panose="020B0604020202020204" pitchFamily="34" charset="0"/>
              </a:rPr>
              <a:t>Medicine is language-heavy — reports, notes, guidelines, and research papers.</a:t>
            </a:r>
          </a:p>
          <a:p>
            <a:pPr>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500" dirty="0">
                <a:latin typeface="Arial" panose="020B0604020202020204" pitchFamily="34" charset="0"/>
                <a:cs typeface="Arial" panose="020B0604020202020204" pitchFamily="34" charset="0"/>
              </a:rPr>
              <a:t>LLMs can:</a:t>
            </a:r>
          </a:p>
          <a:p>
            <a:pPr marL="800100" lvl="1" indent="-342900">
              <a:buFont typeface="Wingdings" panose="05000000000000000000" pitchFamily="2" charset="2"/>
              <a:buChar char="q"/>
            </a:pPr>
            <a:r>
              <a:rPr lang="en-US" sz="2500" dirty="0">
                <a:latin typeface="Arial" panose="020B0604020202020204" pitchFamily="34" charset="0"/>
                <a:cs typeface="Arial" panose="020B0604020202020204" pitchFamily="34" charset="0"/>
              </a:rPr>
              <a:t>Summarize patient records.</a:t>
            </a:r>
          </a:p>
          <a:p>
            <a:pPr marL="800100" lvl="1" indent="-342900">
              <a:buFont typeface="Wingdings" panose="05000000000000000000" pitchFamily="2" charset="2"/>
              <a:buChar char="q"/>
            </a:pPr>
            <a:r>
              <a:rPr lang="en-US" sz="2500" dirty="0">
                <a:latin typeface="Arial" panose="020B0604020202020204" pitchFamily="34" charset="0"/>
                <a:cs typeface="Arial" panose="020B0604020202020204" pitchFamily="34" charset="0"/>
              </a:rPr>
              <a:t>Generate structured reports from free text.</a:t>
            </a:r>
          </a:p>
          <a:p>
            <a:pPr marL="800100" lvl="1" indent="-342900">
              <a:buFont typeface="Wingdings" panose="05000000000000000000" pitchFamily="2" charset="2"/>
              <a:buChar char="q"/>
            </a:pPr>
            <a:r>
              <a:rPr lang="en-US" sz="2500" dirty="0">
                <a:latin typeface="Arial" panose="020B0604020202020204" pitchFamily="34" charset="0"/>
                <a:cs typeface="Arial" panose="020B0604020202020204" pitchFamily="34" charset="0"/>
              </a:rPr>
              <a:t>Explain findings in plain language for patients.</a:t>
            </a:r>
          </a:p>
          <a:p>
            <a:pPr marL="800100" lvl="1" indent="-342900">
              <a:buFont typeface="Wingdings" panose="05000000000000000000" pitchFamily="2" charset="2"/>
              <a:buChar char="Ø"/>
            </a:pPr>
            <a:endParaRPr lang="en-US" sz="2500" dirty="0">
              <a:latin typeface="Arial" panose="020B0604020202020204" pitchFamily="34" charset="0"/>
              <a:cs typeface="Arial" panose="020B0604020202020204" pitchFamily="34" charset="0"/>
            </a:endParaRPr>
          </a:p>
          <a:p>
            <a:pPr marL="800100" lvl="1" indent="-342900">
              <a:buFont typeface="Wingdings" panose="05000000000000000000" pitchFamily="2" charset="2"/>
              <a:buChar char="Ø"/>
            </a:pPr>
            <a:endParaRPr lang="en-US" sz="25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500" dirty="0">
                <a:latin typeface="Arial" panose="020B0604020202020204" pitchFamily="34" charset="0"/>
                <a:cs typeface="Arial" panose="020B0604020202020204" pitchFamily="34" charset="0"/>
              </a:rPr>
              <a:t>They turn unstructured medical data into usable insight.</a:t>
            </a:r>
          </a:p>
        </p:txBody>
      </p:sp>
      <p:sp>
        <p:nvSpPr>
          <p:cNvPr id="2" name="TextBox 1">
            <a:extLst>
              <a:ext uri="{FF2B5EF4-FFF2-40B4-BE49-F238E27FC236}">
                <a16:creationId xmlns:a16="http://schemas.microsoft.com/office/drawing/2014/main" id="{C2733A02-5342-7692-66D7-DC291945F432}"/>
              </a:ext>
            </a:extLst>
          </p:cNvPr>
          <p:cNvSpPr txBox="1"/>
          <p:nvPr/>
        </p:nvSpPr>
        <p:spPr>
          <a:xfrm>
            <a:off x="688258" y="304800"/>
            <a:ext cx="6233652" cy="830997"/>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Why LLMs Matter in Medicine</a:t>
            </a:r>
          </a:p>
          <a:p>
            <a:endParaRPr lang="en-CA" dirty="0"/>
          </a:p>
        </p:txBody>
      </p:sp>
      <p:sp>
        <p:nvSpPr>
          <p:cNvPr id="4" name="Slide Number Placeholder 3">
            <a:extLst>
              <a:ext uri="{FF2B5EF4-FFF2-40B4-BE49-F238E27FC236}">
                <a16:creationId xmlns:a16="http://schemas.microsoft.com/office/drawing/2014/main" id="{F4E08677-D7EF-550B-741E-49F002165BF7}"/>
              </a:ext>
            </a:extLst>
          </p:cNvPr>
          <p:cNvSpPr>
            <a:spLocks noGrp="1"/>
          </p:cNvSpPr>
          <p:nvPr>
            <p:ph type="sldNum" sz="quarter" idx="12"/>
          </p:nvPr>
        </p:nvSpPr>
        <p:spPr/>
        <p:txBody>
          <a:bodyPr>
            <a:normAutofit lnSpcReduction="10000"/>
          </a:bodyPr>
          <a:lstStyle/>
          <a:p>
            <a:fld id="{7173A67E-7BE0-4063-9D6C-5FC41475A3ED}" type="slidenum">
              <a:rPr lang="en-CA" smtClean="0"/>
              <a:t>5</a:t>
            </a:fld>
            <a:endParaRPr lang="en-CA"/>
          </a:p>
        </p:txBody>
      </p:sp>
    </p:spTree>
    <p:extLst>
      <p:ext uri="{BB962C8B-B14F-4D97-AF65-F5344CB8AC3E}">
        <p14:creationId xmlns:p14="http://schemas.microsoft.com/office/powerpoint/2010/main" val="290431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7D00B367-D8D8-D6C9-61A6-39DA469F6AD5}"/>
              </a:ext>
            </a:extLst>
          </p:cNvPr>
          <p:cNvGraphicFramePr/>
          <p:nvPr>
            <p:extLst>
              <p:ext uri="{D42A27DB-BD31-4B8C-83A1-F6EECF244321}">
                <p14:modId xmlns:p14="http://schemas.microsoft.com/office/powerpoint/2010/main" val="3985849531"/>
              </p:ext>
            </p:extLst>
          </p:nvPr>
        </p:nvGraphicFramePr>
        <p:xfrm>
          <a:off x="1771326" y="92849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21E8AA15-70AD-302B-8758-F76583C6144D}"/>
              </a:ext>
            </a:extLst>
          </p:cNvPr>
          <p:cNvSpPr txBox="1"/>
          <p:nvPr/>
        </p:nvSpPr>
        <p:spPr>
          <a:xfrm>
            <a:off x="270661" y="226771"/>
            <a:ext cx="7909777" cy="553998"/>
          </a:xfrm>
          <a:prstGeom prst="rect">
            <a:avLst/>
          </a:prstGeom>
          <a:noFill/>
        </p:spPr>
        <p:txBody>
          <a:bodyPr wrap="square" rtlCol="0">
            <a:spAutoFit/>
          </a:bodyPr>
          <a:lstStyle/>
          <a:p>
            <a:r>
              <a:rPr lang="en-CA" sz="3000" b="1" dirty="0">
                <a:latin typeface="Arial" panose="020B0604020202020204" pitchFamily="34" charset="0"/>
                <a:cs typeface="Arial" panose="020B0604020202020204" pitchFamily="34" charset="0"/>
              </a:rPr>
              <a:t>Medical Applications of LLMs</a:t>
            </a:r>
          </a:p>
        </p:txBody>
      </p:sp>
      <p:pic>
        <p:nvPicPr>
          <p:cNvPr id="12298" name="Picture 10" descr="Nursing ">
            <a:extLst>
              <a:ext uri="{FF2B5EF4-FFF2-40B4-BE49-F238E27FC236}">
                <a16:creationId xmlns:a16="http://schemas.microsoft.com/office/drawing/2014/main" id="{67043202-E159-82C0-FEA9-4875CB0559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2372" y="1763334"/>
            <a:ext cx="887102" cy="887102"/>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14" descr="Education ">
            <a:extLst>
              <a:ext uri="{FF2B5EF4-FFF2-40B4-BE49-F238E27FC236}">
                <a16:creationId xmlns:a16="http://schemas.microsoft.com/office/drawing/2014/main" id="{ABD7A128-030E-3375-8F3A-48EB86DDB6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49987" y="1763334"/>
            <a:ext cx="887101" cy="887101"/>
          </a:xfrm>
          <a:prstGeom prst="rect">
            <a:avLst/>
          </a:prstGeom>
          <a:noFill/>
          <a:extLst>
            <a:ext uri="{909E8E84-426E-40DD-AFC4-6F175D3DCCD1}">
              <a14:hiddenFill xmlns:a14="http://schemas.microsoft.com/office/drawing/2010/main">
                <a:solidFill>
                  <a:srgbClr val="FFFFFF"/>
                </a:solidFill>
              </a14:hiddenFill>
            </a:ext>
          </a:extLst>
        </p:spPr>
      </p:pic>
      <p:pic>
        <p:nvPicPr>
          <p:cNvPr id="12304" name="Picture 16" descr="Research ">
            <a:extLst>
              <a:ext uri="{FF2B5EF4-FFF2-40B4-BE49-F238E27FC236}">
                <a16:creationId xmlns:a16="http://schemas.microsoft.com/office/drawing/2014/main" id="{A0F8BB36-91CE-0478-D051-1ED1F52A9C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87601" y="1763335"/>
            <a:ext cx="887100" cy="887100"/>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a:extLst>
              <a:ext uri="{FF2B5EF4-FFF2-40B4-BE49-F238E27FC236}">
                <a16:creationId xmlns:a16="http://schemas.microsoft.com/office/drawing/2014/main" id="{BEC29FE9-C98B-D4F1-8AC4-CA4D12B502C1}"/>
              </a:ext>
            </a:extLst>
          </p:cNvPr>
          <p:cNvSpPr>
            <a:spLocks noGrp="1"/>
          </p:cNvSpPr>
          <p:nvPr>
            <p:ph type="sldNum" sz="quarter" idx="12"/>
          </p:nvPr>
        </p:nvSpPr>
        <p:spPr/>
        <p:txBody>
          <a:bodyPr>
            <a:normAutofit lnSpcReduction="10000"/>
          </a:bodyPr>
          <a:lstStyle/>
          <a:p>
            <a:fld id="{7173A67E-7BE0-4063-9D6C-5FC41475A3ED}" type="slidenum">
              <a:rPr lang="en-CA" smtClean="0"/>
              <a:t>6</a:t>
            </a:fld>
            <a:endParaRPr lang="en-CA"/>
          </a:p>
        </p:txBody>
      </p:sp>
    </p:spTree>
    <p:extLst>
      <p:ext uri="{BB962C8B-B14F-4D97-AF65-F5344CB8AC3E}">
        <p14:creationId xmlns:p14="http://schemas.microsoft.com/office/powerpoint/2010/main" val="116440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5E9AD47-7F70-97B3-4882-C19255275181}"/>
              </a:ext>
            </a:extLst>
          </p:cNvPr>
          <p:cNvGraphicFramePr/>
          <p:nvPr>
            <p:extLst>
              <p:ext uri="{D42A27DB-BD31-4B8C-83A1-F6EECF244321}">
                <p14:modId xmlns:p14="http://schemas.microsoft.com/office/powerpoint/2010/main" val="2845071873"/>
              </p:ext>
            </p:extLst>
          </p:nvPr>
        </p:nvGraphicFramePr>
        <p:xfrm>
          <a:off x="1945289" y="87832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0F82C2C8-C27A-6B67-D140-5D0791BEAFF0}"/>
              </a:ext>
            </a:extLst>
          </p:cNvPr>
          <p:cNvSpPr txBox="1"/>
          <p:nvPr/>
        </p:nvSpPr>
        <p:spPr>
          <a:xfrm>
            <a:off x="717331" y="370490"/>
            <a:ext cx="9191297" cy="553998"/>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The Lifecycle of Large Language Models</a:t>
            </a:r>
            <a:endParaRPr lang="en-CA" sz="30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53158D9-87D6-917E-0C56-04A725B95EC2}"/>
              </a:ext>
            </a:extLst>
          </p:cNvPr>
          <p:cNvSpPr txBox="1"/>
          <p:nvPr/>
        </p:nvSpPr>
        <p:spPr>
          <a:xfrm>
            <a:off x="2183523" y="1389138"/>
            <a:ext cx="1411015" cy="1077218"/>
          </a:xfrm>
          <a:prstGeom prst="rect">
            <a:avLst/>
          </a:prstGeom>
          <a:noFill/>
        </p:spPr>
        <p:txBody>
          <a:bodyPr wrap="square" rtlCol="0">
            <a:spAutoFit/>
          </a:bodyPr>
          <a:lstStyle/>
          <a:p>
            <a:r>
              <a:rPr lang="en-CA" sz="1600" b="1" dirty="0">
                <a:latin typeface="Arial" panose="020B0604020202020204" pitchFamily="34" charset="0"/>
                <a:cs typeface="Arial" panose="020B0604020202020204" pitchFamily="34" charset="0"/>
              </a:rPr>
              <a:t>Training </a:t>
            </a:r>
            <a:br>
              <a:rPr lang="en-CA" sz="1600" b="1" dirty="0">
                <a:latin typeface="Arial" panose="020B0604020202020204" pitchFamily="34" charset="0"/>
                <a:cs typeface="Arial" panose="020B0604020202020204" pitchFamily="34" charset="0"/>
              </a:rPr>
            </a:br>
            <a:r>
              <a:rPr lang="en-CA" sz="1600" b="1" dirty="0">
                <a:latin typeface="Arial" panose="020B0604020202020204" pitchFamily="34" charset="0"/>
                <a:cs typeface="Arial" panose="020B0604020202020204" pitchFamily="34" charset="0"/>
              </a:rPr>
              <a:t>(Learning from Scratch)</a:t>
            </a:r>
          </a:p>
        </p:txBody>
      </p:sp>
      <p:sp>
        <p:nvSpPr>
          <p:cNvPr id="8" name="TextBox 7">
            <a:extLst>
              <a:ext uri="{FF2B5EF4-FFF2-40B4-BE49-F238E27FC236}">
                <a16:creationId xmlns:a16="http://schemas.microsoft.com/office/drawing/2014/main" id="{D26C03DC-77BE-DE06-DFCC-ACF726FD0F32}"/>
              </a:ext>
            </a:extLst>
          </p:cNvPr>
          <p:cNvSpPr txBox="1"/>
          <p:nvPr/>
        </p:nvSpPr>
        <p:spPr>
          <a:xfrm>
            <a:off x="2475185" y="3114371"/>
            <a:ext cx="1529255" cy="830997"/>
          </a:xfrm>
          <a:prstGeom prst="rect">
            <a:avLst/>
          </a:prstGeom>
          <a:noFill/>
        </p:spPr>
        <p:txBody>
          <a:bodyPr wrap="square" rtlCol="0">
            <a:spAutoFit/>
          </a:bodyPr>
          <a:lstStyle/>
          <a:p>
            <a:r>
              <a:rPr lang="en-CA" sz="1600" b="1" dirty="0">
                <a:latin typeface="Arial" panose="020B0604020202020204" pitchFamily="34" charset="0"/>
                <a:cs typeface="Arial" panose="020B0604020202020204" pitchFamily="34" charset="0"/>
              </a:rPr>
              <a:t>Fine-Tuning (Becoming a Specialist)</a:t>
            </a:r>
          </a:p>
        </p:txBody>
      </p:sp>
      <p:sp>
        <p:nvSpPr>
          <p:cNvPr id="9" name="TextBox 8">
            <a:extLst>
              <a:ext uri="{FF2B5EF4-FFF2-40B4-BE49-F238E27FC236}">
                <a16:creationId xmlns:a16="http://schemas.microsoft.com/office/drawing/2014/main" id="{EFB75119-B37C-6A53-7A9B-952E815A5FE4}"/>
              </a:ext>
            </a:extLst>
          </p:cNvPr>
          <p:cNvSpPr txBox="1"/>
          <p:nvPr/>
        </p:nvSpPr>
        <p:spPr>
          <a:xfrm>
            <a:off x="2118711" y="4502351"/>
            <a:ext cx="1529255" cy="1323439"/>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Zero-/Few</a:t>
            </a: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-Shot</a:t>
            </a: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 Inference (Applying Knowledge)</a:t>
            </a:r>
            <a:endParaRPr lang="en-CA" sz="1600" b="1" dirty="0">
              <a:latin typeface="Arial" panose="020B0604020202020204" pitchFamily="34" charset="0"/>
              <a:cs typeface="Arial" panose="020B0604020202020204" pitchFamily="34" charset="0"/>
            </a:endParaRPr>
          </a:p>
        </p:txBody>
      </p:sp>
      <p:sp>
        <p:nvSpPr>
          <p:cNvPr id="10" name="Slide Number Placeholder 9">
            <a:extLst>
              <a:ext uri="{FF2B5EF4-FFF2-40B4-BE49-F238E27FC236}">
                <a16:creationId xmlns:a16="http://schemas.microsoft.com/office/drawing/2014/main" id="{C0251B62-16EA-4144-FC30-443241288CB0}"/>
              </a:ext>
            </a:extLst>
          </p:cNvPr>
          <p:cNvSpPr>
            <a:spLocks noGrp="1"/>
          </p:cNvSpPr>
          <p:nvPr>
            <p:ph type="sldNum" sz="quarter" idx="12"/>
          </p:nvPr>
        </p:nvSpPr>
        <p:spPr/>
        <p:txBody>
          <a:bodyPr>
            <a:normAutofit lnSpcReduction="10000"/>
          </a:bodyPr>
          <a:lstStyle/>
          <a:p>
            <a:fld id="{7173A67E-7BE0-4063-9D6C-5FC41475A3ED}" type="slidenum">
              <a:rPr lang="en-CA" smtClean="0"/>
              <a:t>7</a:t>
            </a:fld>
            <a:endParaRPr lang="en-CA"/>
          </a:p>
        </p:txBody>
      </p:sp>
    </p:spTree>
    <p:extLst>
      <p:ext uri="{BB962C8B-B14F-4D97-AF65-F5344CB8AC3E}">
        <p14:creationId xmlns:p14="http://schemas.microsoft.com/office/powerpoint/2010/main" val="219011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a:extLst>
              <a:ext uri="{FF2B5EF4-FFF2-40B4-BE49-F238E27FC236}">
                <a16:creationId xmlns:a16="http://schemas.microsoft.com/office/drawing/2014/main" id="{BA52D8B6-A577-57DD-0947-C6BFD3A5C5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8" name="Picture 7">
            <a:extLst>
              <a:ext uri="{FF2B5EF4-FFF2-40B4-BE49-F238E27FC236}">
                <a16:creationId xmlns:a16="http://schemas.microsoft.com/office/drawing/2014/main" id="{F2CAE64D-5343-F413-6C0E-ECAD6B57853F}"/>
              </a:ext>
            </a:extLst>
          </p:cNvPr>
          <p:cNvPicPr>
            <a:picLocks noChangeAspect="1"/>
          </p:cNvPicPr>
          <p:nvPr/>
        </p:nvPicPr>
        <p:blipFill>
          <a:blip r:embed="rId3"/>
          <a:srcRect t="-1115" b="-1"/>
          <a:stretch>
            <a:fillRect/>
          </a:stretch>
        </p:blipFill>
        <p:spPr>
          <a:xfrm>
            <a:off x="0" y="-79899"/>
            <a:ext cx="11301274" cy="6937899"/>
          </a:xfrm>
          <a:prstGeom prst="rect">
            <a:avLst/>
          </a:prstGeom>
        </p:spPr>
      </p:pic>
      <p:sp>
        <p:nvSpPr>
          <p:cNvPr id="9" name="Slide Number Placeholder 8">
            <a:extLst>
              <a:ext uri="{FF2B5EF4-FFF2-40B4-BE49-F238E27FC236}">
                <a16:creationId xmlns:a16="http://schemas.microsoft.com/office/drawing/2014/main" id="{01D26D7D-7CC0-88B2-AE7C-8EE89FCA2B03}"/>
              </a:ext>
            </a:extLst>
          </p:cNvPr>
          <p:cNvSpPr>
            <a:spLocks noGrp="1"/>
          </p:cNvSpPr>
          <p:nvPr>
            <p:ph type="sldNum" sz="quarter" idx="12"/>
          </p:nvPr>
        </p:nvSpPr>
        <p:spPr/>
        <p:txBody>
          <a:bodyPr>
            <a:normAutofit lnSpcReduction="10000"/>
          </a:bodyPr>
          <a:lstStyle/>
          <a:p>
            <a:fld id="{7173A67E-7BE0-4063-9D6C-5FC41475A3ED}" type="slidenum">
              <a:rPr lang="en-CA" smtClean="0"/>
              <a:t>8</a:t>
            </a:fld>
            <a:endParaRPr lang="en-CA"/>
          </a:p>
        </p:txBody>
      </p:sp>
    </p:spTree>
    <p:extLst>
      <p:ext uri="{BB962C8B-B14F-4D97-AF65-F5344CB8AC3E}">
        <p14:creationId xmlns:p14="http://schemas.microsoft.com/office/powerpoint/2010/main" val="1063884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0849A2-11D9-3089-B74A-045ED695F283}"/>
              </a:ext>
            </a:extLst>
          </p:cNvPr>
          <p:cNvSpPr txBox="1"/>
          <p:nvPr/>
        </p:nvSpPr>
        <p:spPr>
          <a:xfrm>
            <a:off x="106016" y="291548"/>
            <a:ext cx="11106481" cy="861774"/>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The Real Magic: Multimodal (MLLMs</a:t>
            </a:r>
            <a:r>
              <a:rPr lang="en-CA" sz="3000" b="1" dirty="0">
                <a:latin typeface="Arial" panose="020B0604020202020204" pitchFamily="34" charset="0"/>
                <a:cs typeface="Arial" panose="020B0604020202020204" pitchFamily="34" charset="0"/>
              </a:rPr>
              <a:t>)</a:t>
            </a:r>
            <a:r>
              <a:rPr lang="en-US" sz="3000" b="1" dirty="0">
                <a:latin typeface="Arial" panose="020B0604020202020204" pitchFamily="34" charset="0"/>
                <a:cs typeface="Arial" panose="020B0604020202020204" pitchFamily="34" charset="0"/>
              </a:rPr>
              <a:t> AI In Practice.</a:t>
            </a:r>
          </a:p>
          <a:p>
            <a:endParaRPr lang="en-CA" dirty="0"/>
          </a:p>
        </p:txBody>
      </p:sp>
      <p:graphicFrame>
        <p:nvGraphicFramePr>
          <p:cNvPr id="3" name="Diagram 2">
            <a:extLst>
              <a:ext uri="{FF2B5EF4-FFF2-40B4-BE49-F238E27FC236}">
                <a16:creationId xmlns:a16="http://schemas.microsoft.com/office/drawing/2014/main" id="{0EC0BBAF-7C7C-3F82-02A9-A57B64958528}"/>
              </a:ext>
            </a:extLst>
          </p:cNvPr>
          <p:cNvGraphicFramePr/>
          <p:nvPr>
            <p:extLst>
              <p:ext uri="{D42A27DB-BD31-4B8C-83A1-F6EECF244321}">
                <p14:modId xmlns:p14="http://schemas.microsoft.com/office/powerpoint/2010/main" val="3997830586"/>
              </p:ext>
            </p:extLst>
          </p:nvPr>
        </p:nvGraphicFramePr>
        <p:xfrm>
          <a:off x="372863" y="577623"/>
          <a:ext cx="10573304" cy="6076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9711F0E6-28A6-4457-7B05-52331DE5F2DB}"/>
              </a:ext>
            </a:extLst>
          </p:cNvPr>
          <p:cNvSpPr>
            <a:spLocks noGrp="1"/>
          </p:cNvSpPr>
          <p:nvPr>
            <p:ph type="sldNum" sz="quarter" idx="12"/>
          </p:nvPr>
        </p:nvSpPr>
        <p:spPr/>
        <p:txBody>
          <a:bodyPr>
            <a:normAutofit lnSpcReduction="10000"/>
          </a:bodyPr>
          <a:lstStyle/>
          <a:p>
            <a:fld id="{7173A67E-7BE0-4063-9D6C-5FC41475A3ED}" type="slidenum">
              <a:rPr lang="en-CA" smtClean="0"/>
              <a:t>9</a:t>
            </a:fld>
            <a:endParaRPr lang="en-CA"/>
          </a:p>
        </p:txBody>
      </p:sp>
    </p:spTree>
    <p:extLst>
      <p:ext uri="{BB962C8B-B14F-4D97-AF65-F5344CB8AC3E}">
        <p14:creationId xmlns:p14="http://schemas.microsoft.com/office/powerpoint/2010/main" val="2822291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E1A2DE-8ABB-CA7F-C84C-BCA0291ADBF5}"/>
              </a:ext>
            </a:extLst>
          </p:cNvPr>
          <p:cNvSpPr txBox="1"/>
          <p:nvPr/>
        </p:nvSpPr>
        <p:spPr>
          <a:xfrm>
            <a:off x="381740" y="284085"/>
            <a:ext cx="7617041" cy="553998"/>
          </a:xfrm>
          <a:prstGeom prst="rect">
            <a:avLst/>
          </a:prstGeom>
          <a:noFill/>
        </p:spPr>
        <p:txBody>
          <a:bodyPr wrap="square" rtlCol="0">
            <a:spAutoFit/>
          </a:bodyPr>
          <a:lstStyle/>
          <a:p>
            <a:r>
              <a:rPr lang="en-US" sz="3000" b="1" dirty="0">
                <a:latin typeface="Arial" panose="020B0604020202020204" pitchFamily="34" charset="0"/>
                <a:cs typeface="Arial" panose="020B0604020202020204" pitchFamily="34" charset="0"/>
              </a:rPr>
              <a:t>MLLMs </a:t>
            </a:r>
            <a:r>
              <a:rPr lang="en-CA" sz="3000" b="1" dirty="0">
                <a:latin typeface="Arial" panose="020B0604020202020204" pitchFamily="34" charset="0"/>
                <a:cs typeface="Arial" panose="020B0604020202020204" pitchFamily="34" charset="0"/>
              </a:rPr>
              <a:t>in Healthcare</a:t>
            </a:r>
          </a:p>
        </p:txBody>
      </p:sp>
      <p:graphicFrame>
        <p:nvGraphicFramePr>
          <p:cNvPr id="8" name="Diagram 7">
            <a:extLst>
              <a:ext uri="{FF2B5EF4-FFF2-40B4-BE49-F238E27FC236}">
                <a16:creationId xmlns:a16="http://schemas.microsoft.com/office/drawing/2014/main" id="{3D820186-FC3F-153B-49EA-12FD299DCE75}"/>
              </a:ext>
            </a:extLst>
          </p:cNvPr>
          <p:cNvGraphicFramePr/>
          <p:nvPr>
            <p:extLst>
              <p:ext uri="{D42A27DB-BD31-4B8C-83A1-F6EECF244321}">
                <p14:modId xmlns:p14="http://schemas.microsoft.com/office/powerpoint/2010/main" val="4264224853"/>
              </p:ext>
            </p:extLst>
          </p:nvPr>
        </p:nvGraphicFramePr>
        <p:xfrm>
          <a:off x="1225119" y="1224694"/>
          <a:ext cx="8872738" cy="31697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0" name="Group 9">
            <a:extLst>
              <a:ext uri="{FF2B5EF4-FFF2-40B4-BE49-F238E27FC236}">
                <a16:creationId xmlns:a16="http://schemas.microsoft.com/office/drawing/2014/main" id="{CE7AA05A-216E-1BCF-22A9-530289F81A48}"/>
              </a:ext>
            </a:extLst>
          </p:cNvPr>
          <p:cNvGrpSpPr/>
          <p:nvPr/>
        </p:nvGrpSpPr>
        <p:grpSpPr>
          <a:xfrm>
            <a:off x="2395986" y="4674795"/>
            <a:ext cx="1995534" cy="336600"/>
            <a:chOff x="3016" y="1686884"/>
            <a:chExt cx="1837531" cy="336600"/>
          </a:xfrm>
        </p:grpSpPr>
        <p:sp>
          <p:nvSpPr>
            <p:cNvPr id="15" name="Rectangle 14">
              <a:extLst>
                <a:ext uri="{FF2B5EF4-FFF2-40B4-BE49-F238E27FC236}">
                  <a16:creationId xmlns:a16="http://schemas.microsoft.com/office/drawing/2014/main" id="{AED50219-21FD-B345-E641-B9F96BC0C72C}"/>
                </a:ext>
              </a:extLst>
            </p:cNvPr>
            <p:cNvSpPr/>
            <p:nvPr/>
          </p:nvSpPr>
          <p:spPr>
            <a:xfrm>
              <a:off x="3016" y="1686884"/>
              <a:ext cx="1837531" cy="3366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CA"/>
            </a:p>
          </p:txBody>
        </p:sp>
        <p:sp>
          <p:nvSpPr>
            <p:cNvPr id="16" name="TextBox 15">
              <a:extLst>
                <a:ext uri="{FF2B5EF4-FFF2-40B4-BE49-F238E27FC236}">
                  <a16:creationId xmlns:a16="http://schemas.microsoft.com/office/drawing/2014/main" id="{48D741C4-5ABD-98B7-F88F-10684546C7FE}"/>
                </a:ext>
              </a:extLst>
            </p:cNvPr>
            <p:cNvSpPr txBox="1"/>
            <p:nvPr/>
          </p:nvSpPr>
          <p:spPr>
            <a:xfrm>
              <a:off x="3016" y="1686884"/>
              <a:ext cx="1837531" cy="3366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0904" tIns="43180" rIns="120904" bIns="43180" numCol="1" spcCol="1270" anchor="ctr" anchorCtr="0">
              <a:noAutofit/>
            </a:bodyPr>
            <a:lstStyle/>
            <a:p>
              <a:pPr marL="0" lvl="0" indent="0" algn="r" defTabSz="755650">
                <a:lnSpc>
                  <a:spcPct val="90000"/>
                </a:lnSpc>
                <a:spcBef>
                  <a:spcPct val="0"/>
                </a:spcBef>
                <a:spcAft>
                  <a:spcPct val="35000"/>
                </a:spcAft>
                <a:buNone/>
              </a:pPr>
              <a:endParaRPr lang="en-CA" sz="1700" kern="1200"/>
            </a:p>
          </p:txBody>
        </p:sp>
      </p:grpSp>
      <p:sp>
        <p:nvSpPr>
          <p:cNvPr id="11" name="Left Brace 10">
            <a:extLst>
              <a:ext uri="{FF2B5EF4-FFF2-40B4-BE49-F238E27FC236}">
                <a16:creationId xmlns:a16="http://schemas.microsoft.com/office/drawing/2014/main" id="{96421E47-3CBB-735A-44BA-33AD91E8E840}"/>
              </a:ext>
            </a:extLst>
          </p:cNvPr>
          <p:cNvSpPr/>
          <p:nvPr/>
        </p:nvSpPr>
        <p:spPr>
          <a:xfrm>
            <a:off x="3224573" y="4554244"/>
            <a:ext cx="399107" cy="1945471"/>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CA"/>
          </a:p>
        </p:txBody>
      </p:sp>
      <p:sp>
        <p:nvSpPr>
          <p:cNvPr id="14" name="TextBox 13">
            <a:extLst>
              <a:ext uri="{FF2B5EF4-FFF2-40B4-BE49-F238E27FC236}">
                <a16:creationId xmlns:a16="http://schemas.microsoft.com/office/drawing/2014/main" id="{E890F35F-73C8-C877-4744-517E01754D96}"/>
              </a:ext>
            </a:extLst>
          </p:cNvPr>
          <p:cNvSpPr txBox="1"/>
          <p:nvPr/>
        </p:nvSpPr>
        <p:spPr>
          <a:xfrm>
            <a:off x="3781887" y="4435097"/>
            <a:ext cx="6315970" cy="2064618"/>
          </a:xfrm>
          <a:prstGeom prst="rect">
            <a:avLst/>
          </a:prstGeom>
          <a:solidFill>
            <a:schemeClr val="accent5">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342900" lvl="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Privacy &amp; regulation concerns with medical data</a:t>
            </a:r>
            <a:endParaRPr lang="en-CA" sz="22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CA" sz="2200" dirty="0">
                <a:latin typeface="Arial" panose="020B0604020202020204" pitchFamily="34" charset="0"/>
                <a:cs typeface="Arial" panose="020B0604020202020204" pitchFamily="34" charset="0"/>
              </a:rPr>
              <a:t>Need for transparency &amp; fairness</a:t>
            </a:r>
          </a:p>
          <a:p>
            <a:pPr marL="342900" lvl="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Complex integration of multimodal inputs</a:t>
            </a:r>
          </a:p>
          <a:p>
            <a:pPr marL="342900" lvl="0" indent="-342900">
              <a:buFont typeface="Arial" panose="020B0604020202020204" pitchFamily="34" charset="0"/>
              <a:buChar char="•"/>
            </a:pPr>
            <a:r>
              <a:rPr lang="en-CA" sz="2200" dirty="0">
                <a:latin typeface="Arial" panose="020B0604020202020204" pitchFamily="34" charset="0"/>
                <a:cs typeface="Arial" panose="020B0604020202020204" pitchFamily="34" charset="0"/>
              </a:rPr>
              <a:t>Require rigorous clinical validation</a:t>
            </a:r>
          </a:p>
        </p:txBody>
      </p:sp>
      <p:sp>
        <p:nvSpPr>
          <p:cNvPr id="18" name="TextBox 17">
            <a:extLst>
              <a:ext uri="{FF2B5EF4-FFF2-40B4-BE49-F238E27FC236}">
                <a16:creationId xmlns:a16="http://schemas.microsoft.com/office/drawing/2014/main" id="{8ACAE338-693F-88D8-D2C0-0928AB5F68E4}"/>
              </a:ext>
            </a:extLst>
          </p:cNvPr>
          <p:cNvSpPr txBox="1"/>
          <p:nvPr/>
        </p:nvSpPr>
        <p:spPr>
          <a:xfrm>
            <a:off x="1383590" y="5202419"/>
            <a:ext cx="1840983" cy="430887"/>
          </a:xfrm>
          <a:prstGeom prst="rect">
            <a:avLst/>
          </a:prstGeom>
          <a:noFill/>
        </p:spPr>
        <p:txBody>
          <a:bodyPr wrap="square">
            <a:spAutoFit/>
          </a:bodyPr>
          <a:lstStyle/>
          <a:p>
            <a:r>
              <a:rPr lang="en-CA" sz="2100" b="1" dirty="0">
                <a:latin typeface="Arial" panose="020B0604020202020204" pitchFamily="34" charset="0"/>
                <a:cs typeface="Arial" panose="020B0604020202020204" pitchFamily="34" charset="0"/>
              </a:rPr>
              <a:t>Challenges</a:t>
            </a:r>
          </a:p>
        </p:txBody>
      </p:sp>
      <p:sp>
        <p:nvSpPr>
          <p:cNvPr id="20" name="Slide Number Placeholder 19">
            <a:extLst>
              <a:ext uri="{FF2B5EF4-FFF2-40B4-BE49-F238E27FC236}">
                <a16:creationId xmlns:a16="http://schemas.microsoft.com/office/drawing/2014/main" id="{586BCADD-D626-BD8E-8F20-1319FFEEAEC0}"/>
              </a:ext>
            </a:extLst>
          </p:cNvPr>
          <p:cNvSpPr>
            <a:spLocks noGrp="1"/>
          </p:cNvSpPr>
          <p:nvPr>
            <p:ph type="sldNum" sz="quarter" idx="12"/>
          </p:nvPr>
        </p:nvSpPr>
        <p:spPr/>
        <p:txBody>
          <a:bodyPr>
            <a:normAutofit lnSpcReduction="10000"/>
          </a:bodyPr>
          <a:lstStyle/>
          <a:p>
            <a:fld id="{7173A67E-7BE0-4063-9D6C-5FC41475A3ED}" type="slidenum">
              <a:rPr lang="en-CA" smtClean="0"/>
              <a:t>10</a:t>
            </a:fld>
            <a:endParaRPr lang="en-CA"/>
          </a:p>
        </p:txBody>
      </p:sp>
    </p:spTree>
    <p:extLst>
      <p:ext uri="{BB962C8B-B14F-4D97-AF65-F5344CB8AC3E}">
        <p14:creationId xmlns:p14="http://schemas.microsoft.com/office/powerpoint/2010/main" val="342944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14739CD1-386A-6112-670C-DAC36A13A65D}"/>
              </a:ext>
            </a:extLst>
          </p:cNvPr>
          <p:cNvSpPr/>
          <p:nvPr/>
        </p:nvSpPr>
        <p:spPr>
          <a:xfrm>
            <a:off x="576381" y="3372251"/>
            <a:ext cx="10227075" cy="915584"/>
          </a:xfrm>
          <a:prstGeom prst="flowChartAlternateProcess">
            <a:avLst/>
          </a:prstGeom>
          <a:solidFill>
            <a:schemeClr val="accent2">
              <a:lumMod val="60000"/>
              <a:lumOff val="4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CA" dirty="0"/>
          </a:p>
        </p:txBody>
      </p:sp>
      <p:sp>
        <p:nvSpPr>
          <p:cNvPr id="2" name="Slide Number Placeholder 1">
            <a:extLst>
              <a:ext uri="{FF2B5EF4-FFF2-40B4-BE49-F238E27FC236}">
                <a16:creationId xmlns:a16="http://schemas.microsoft.com/office/drawing/2014/main" id="{5C9C0DBD-8769-1F9B-73E6-C5095A14314E}"/>
              </a:ext>
            </a:extLst>
          </p:cNvPr>
          <p:cNvSpPr>
            <a:spLocks noGrp="1"/>
          </p:cNvSpPr>
          <p:nvPr>
            <p:ph type="sldNum" sz="quarter" idx="12"/>
          </p:nvPr>
        </p:nvSpPr>
        <p:spPr/>
        <p:txBody>
          <a:bodyPr>
            <a:normAutofit lnSpcReduction="10000"/>
          </a:bodyPr>
          <a:lstStyle/>
          <a:p>
            <a:fld id="{7173A67E-7BE0-4063-9D6C-5FC41475A3ED}" type="slidenum">
              <a:rPr lang="en-CA" smtClean="0"/>
              <a:t>11</a:t>
            </a:fld>
            <a:endParaRPr lang="en-CA"/>
          </a:p>
        </p:txBody>
      </p:sp>
      <p:sp>
        <p:nvSpPr>
          <p:cNvPr id="3" name="Flowchart: Alternate Process 2">
            <a:extLst>
              <a:ext uri="{FF2B5EF4-FFF2-40B4-BE49-F238E27FC236}">
                <a16:creationId xmlns:a16="http://schemas.microsoft.com/office/drawing/2014/main" id="{0B0D56FB-448F-1467-19F9-036F7DBB8DB6}"/>
              </a:ext>
            </a:extLst>
          </p:cNvPr>
          <p:cNvSpPr/>
          <p:nvPr/>
        </p:nvSpPr>
        <p:spPr>
          <a:xfrm>
            <a:off x="958120" y="3519409"/>
            <a:ext cx="2308194" cy="621437"/>
          </a:xfrm>
          <a:prstGeom prst="flowChartAlternateProces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solidFill>
                  <a:schemeClr val="tx1"/>
                </a:solidFill>
                <a:latin typeface="Arial" panose="020B0604020202020204" pitchFamily="34" charset="0"/>
                <a:cs typeface="Arial" panose="020B0604020202020204" pitchFamily="34" charset="0"/>
              </a:rPr>
              <a:t>Early 2025</a:t>
            </a:r>
          </a:p>
        </p:txBody>
      </p:sp>
      <p:sp>
        <p:nvSpPr>
          <p:cNvPr id="4" name="Flowchart: Alternate Process 3">
            <a:extLst>
              <a:ext uri="{FF2B5EF4-FFF2-40B4-BE49-F238E27FC236}">
                <a16:creationId xmlns:a16="http://schemas.microsoft.com/office/drawing/2014/main" id="{77C352B0-6078-DE10-FCAB-162A1C3FEE14}"/>
              </a:ext>
            </a:extLst>
          </p:cNvPr>
          <p:cNvSpPr/>
          <p:nvPr/>
        </p:nvSpPr>
        <p:spPr>
          <a:xfrm>
            <a:off x="8228935" y="3538643"/>
            <a:ext cx="2308194" cy="621437"/>
          </a:xfrm>
          <a:prstGeom prst="flowChartAlternateProces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July 9, 2025</a:t>
            </a:r>
            <a:endParaRPr lang="en-CA" dirty="0">
              <a:latin typeface="Arial" panose="020B0604020202020204" pitchFamily="34" charset="0"/>
              <a:cs typeface="Arial" panose="020B0604020202020204" pitchFamily="34" charset="0"/>
            </a:endParaRPr>
          </a:p>
        </p:txBody>
      </p:sp>
      <p:sp>
        <p:nvSpPr>
          <p:cNvPr id="5" name="Flowchart: Alternate Process 4">
            <a:extLst>
              <a:ext uri="{FF2B5EF4-FFF2-40B4-BE49-F238E27FC236}">
                <a16:creationId xmlns:a16="http://schemas.microsoft.com/office/drawing/2014/main" id="{75224A53-424E-9C8B-DE24-E69AB8696F42}"/>
              </a:ext>
            </a:extLst>
          </p:cNvPr>
          <p:cNvSpPr/>
          <p:nvPr/>
        </p:nvSpPr>
        <p:spPr>
          <a:xfrm>
            <a:off x="5805330" y="3519408"/>
            <a:ext cx="2308194" cy="621437"/>
          </a:xfrm>
          <a:prstGeom prst="flowChartAlternateProces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July 7, 2025</a:t>
            </a:r>
            <a:r>
              <a:rPr lang="en-US" dirty="0">
                <a:solidFill>
                  <a:schemeClr val="tx1"/>
                </a:solidFill>
                <a:latin typeface="Arial" panose="020B0604020202020204" pitchFamily="34" charset="0"/>
                <a:cs typeface="Arial" panose="020B0604020202020204" pitchFamily="34" charset="0"/>
              </a:rPr>
              <a:t> </a:t>
            </a:r>
            <a:endParaRPr lang="en-CA" dirty="0">
              <a:latin typeface="Arial" panose="020B0604020202020204" pitchFamily="34" charset="0"/>
              <a:cs typeface="Arial" panose="020B0604020202020204" pitchFamily="34" charset="0"/>
            </a:endParaRPr>
          </a:p>
        </p:txBody>
      </p:sp>
      <p:sp>
        <p:nvSpPr>
          <p:cNvPr id="6" name="Flowchart: Alternate Process 5">
            <a:extLst>
              <a:ext uri="{FF2B5EF4-FFF2-40B4-BE49-F238E27FC236}">
                <a16:creationId xmlns:a16="http://schemas.microsoft.com/office/drawing/2014/main" id="{E23E47FB-0C7C-ABF4-AC4A-CBBAE5B94EFB}"/>
              </a:ext>
            </a:extLst>
          </p:cNvPr>
          <p:cNvSpPr/>
          <p:nvPr/>
        </p:nvSpPr>
        <p:spPr>
          <a:xfrm>
            <a:off x="3381725" y="3528286"/>
            <a:ext cx="2308194" cy="621437"/>
          </a:xfrm>
          <a:prstGeom prst="flowChartAlternateProces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May 20–22, 2025</a:t>
            </a:r>
            <a:endParaRPr lang="en-CA"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1A2A68D2-9A55-D2B9-B93C-86F6CB661427}"/>
              </a:ext>
            </a:extLst>
          </p:cNvPr>
          <p:cNvSpPr txBox="1"/>
          <p:nvPr/>
        </p:nvSpPr>
        <p:spPr>
          <a:xfrm>
            <a:off x="1190421" y="855872"/>
            <a:ext cx="4905580" cy="20313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CA" dirty="0" err="1">
                <a:latin typeface="Arial" panose="020B0604020202020204" pitchFamily="34" charset="0"/>
                <a:cs typeface="Arial" panose="020B0604020202020204" pitchFamily="34" charset="0"/>
              </a:rPr>
              <a:t>MedGemma</a:t>
            </a:r>
            <a:r>
              <a:rPr lang="en-CA" dirty="0">
                <a:latin typeface="Arial" panose="020B0604020202020204" pitchFamily="34" charset="0"/>
                <a:cs typeface="Arial" panose="020B0604020202020204" pitchFamily="34" charset="0"/>
              </a:rPr>
              <a:t> officially announced at Google I/O 2025, featuring:</a:t>
            </a:r>
          </a:p>
          <a:p>
            <a:pPr marL="285750" indent="-285750">
              <a:buFont typeface="Arial" panose="020B0604020202020204" pitchFamily="34" charset="0"/>
              <a:buChar char="•"/>
            </a:pPr>
            <a:r>
              <a:rPr lang="en-CA" dirty="0" err="1">
                <a:latin typeface="Arial" panose="020B0604020202020204" pitchFamily="34" charset="0"/>
                <a:cs typeface="Arial" panose="020B0604020202020204" pitchFamily="34" charset="0"/>
              </a:rPr>
              <a:t>MedGemma</a:t>
            </a:r>
            <a:r>
              <a:rPr lang="en-CA" dirty="0">
                <a:latin typeface="Arial" panose="020B0604020202020204" pitchFamily="34" charset="0"/>
                <a:cs typeface="Arial" panose="020B0604020202020204" pitchFamily="34" charset="0"/>
              </a:rPr>
              <a:t> 4B: 4B-parameter multimodal model (images + text).</a:t>
            </a:r>
          </a:p>
          <a:p>
            <a:pPr marL="285750" indent="-285750">
              <a:buFont typeface="Arial" panose="020B0604020202020204" pitchFamily="34" charset="0"/>
              <a:buChar char="•"/>
            </a:pPr>
            <a:r>
              <a:rPr lang="en-CA" dirty="0" err="1">
                <a:latin typeface="Arial" panose="020B0604020202020204" pitchFamily="34" charset="0"/>
                <a:cs typeface="Arial" panose="020B0604020202020204" pitchFamily="34" charset="0"/>
              </a:rPr>
              <a:t>MedGemma</a:t>
            </a:r>
            <a:r>
              <a:rPr lang="en-CA" dirty="0">
                <a:latin typeface="Arial" panose="020B0604020202020204" pitchFamily="34" charset="0"/>
                <a:cs typeface="Arial" panose="020B0604020202020204" pitchFamily="34" charset="0"/>
              </a:rPr>
              <a:t> 27B Text-Only: 27B-parameter model for medical text comprehension and clinical reasoning.</a:t>
            </a:r>
          </a:p>
        </p:txBody>
      </p:sp>
      <p:sp>
        <p:nvSpPr>
          <p:cNvPr id="17" name="Arrow: Up 16">
            <a:extLst>
              <a:ext uri="{FF2B5EF4-FFF2-40B4-BE49-F238E27FC236}">
                <a16:creationId xmlns:a16="http://schemas.microsoft.com/office/drawing/2014/main" id="{393C9672-EC3E-E0A3-4F06-2FA426496DAB}"/>
              </a:ext>
            </a:extLst>
          </p:cNvPr>
          <p:cNvSpPr/>
          <p:nvPr/>
        </p:nvSpPr>
        <p:spPr>
          <a:xfrm>
            <a:off x="4251736" y="2896075"/>
            <a:ext cx="338019" cy="61149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3AC247D2-D2D9-0AED-1596-6574D7D0C52D}"/>
              </a:ext>
            </a:extLst>
          </p:cNvPr>
          <p:cNvSpPr txBox="1"/>
          <p:nvPr/>
        </p:nvSpPr>
        <p:spPr>
          <a:xfrm>
            <a:off x="345564" y="4872499"/>
            <a:ext cx="3906172"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sz="1800" dirty="0">
                <a:latin typeface="Arial" panose="020B0604020202020204" pitchFamily="34" charset="0"/>
                <a:cs typeface="Arial" panose="020B0604020202020204" pitchFamily="34" charset="0"/>
              </a:rPr>
              <a:t>Google released the open-source Gemma models, providing the architectural foundation for </a:t>
            </a:r>
            <a:r>
              <a:rPr lang="en-US" sz="1800" dirty="0" err="1">
                <a:latin typeface="Arial" panose="020B0604020202020204" pitchFamily="34" charset="0"/>
                <a:cs typeface="Arial" panose="020B0604020202020204" pitchFamily="34" charset="0"/>
              </a:rPr>
              <a:t>MedGemma</a:t>
            </a:r>
            <a:r>
              <a:rPr lang="en-US" sz="1800" dirty="0">
                <a:latin typeface="Arial" panose="020B0604020202020204" pitchFamily="34" charset="0"/>
                <a:cs typeface="Arial" panose="020B0604020202020204" pitchFamily="34" charset="0"/>
              </a:rPr>
              <a:t> — built on research from the Gemini family.</a:t>
            </a:r>
            <a:endParaRPr lang="en-CA" sz="1800" dirty="0">
              <a:latin typeface="Arial" panose="020B0604020202020204" pitchFamily="34" charset="0"/>
              <a:cs typeface="Arial" panose="020B0604020202020204" pitchFamily="34" charset="0"/>
            </a:endParaRPr>
          </a:p>
        </p:txBody>
      </p:sp>
      <p:sp>
        <p:nvSpPr>
          <p:cNvPr id="20" name="Arrow: Down 19">
            <a:extLst>
              <a:ext uri="{FF2B5EF4-FFF2-40B4-BE49-F238E27FC236}">
                <a16:creationId xmlns:a16="http://schemas.microsoft.com/office/drawing/2014/main" id="{4698C14F-675D-261B-48D3-80B1BD58D8E2}"/>
              </a:ext>
            </a:extLst>
          </p:cNvPr>
          <p:cNvSpPr/>
          <p:nvPr/>
        </p:nvSpPr>
        <p:spPr>
          <a:xfrm>
            <a:off x="1816667" y="4140845"/>
            <a:ext cx="393873" cy="7227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Box 21">
            <a:extLst>
              <a:ext uri="{FF2B5EF4-FFF2-40B4-BE49-F238E27FC236}">
                <a16:creationId xmlns:a16="http://schemas.microsoft.com/office/drawing/2014/main" id="{DE8F859D-1EA4-AA17-35E1-D6C1892D2952}"/>
              </a:ext>
            </a:extLst>
          </p:cNvPr>
          <p:cNvSpPr txBox="1"/>
          <p:nvPr/>
        </p:nvSpPr>
        <p:spPr>
          <a:xfrm>
            <a:off x="5648121" y="4872499"/>
            <a:ext cx="3355755" cy="120032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MedGemma</a:t>
            </a:r>
            <a:r>
              <a:rPr lang="en-US" sz="1800" dirty="0">
                <a:latin typeface="Arial" panose="020B0604020202020204" pitchFamily="34" charset="0"/>
                <a:cs typeface="Arial" panose="020B0604020202020204" pitchFamily="34" charset="0"/>
              </a:rPr>
              <a:t> Technical Report” submitted to </a:t>
            </a:r>
            <a:r>
              <a:rPr lang="en-US" sz="1800" dirty="0" err="1">
                <a:latin typeface="Arial" panose="020B0604020202020204" pitchFamily="34" charset="0"/>
                <a:cs typeface="Arial" panose="020B0604020202020204" pitchFamily="34" charset="0"/>
              </a:rPr>
              <a:t>arXiv</a:t>
            </a:r>
            <a:r>
              <a:rPr lang="en-US" sz="1800" dirty="0">
                <a:latin typeface="Arial" panose="020B0604020202020204" pitchFamily="34" charset="0"/>
                <a:cs typeface="Arial" panose="020B0604020202020204" pitchFamily="34" charset="0"/>
              </a:rPr>
              <a:t>, detailing architecture, training, and performance.</a:t>
            </a:r>
            <a:endParaRPr lang="en-CA" sz="1800" dirty="0">
              <a:latin typeface="Arial" panose="020B0604020202020204" pitchFamily="34" charset="0"/>
              <a:cs typeface="Arial" panose="020B0604020202020204" pitchFamily="34" charset="0"/>
            </a:endParaRPr>
          </a:p>
        </p:txBody>
      </p:sp>
      <p:sp>
        <p:nvSpPr>
          <p:cNvPr id="23" name="Arrow: Down 22">
            <a:extLst>
              <a:ext uri="{FF2B5EF4-FFF2-40B4-BE49-F238E27FC236}">
                <a16:creationId xmlns:a16="http://schemas.microsoft.com/office/drawing/2014/main" id="{6DEAF3FC-5A9F-F9D7-B2B9-32882663CC6E}"/>
              </a:ext>
            </a:extLst>
          </p:cNvPr>
          <p:cNvSpPr/>
          <p:nvPr/>
        </p:nvSpPr>
        <p:spPr>
          <a:xfrm>
            <a:off x="6592855" y="4149723"/>
            <a:ext cx="393873" cy="7227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B2B7537D-E5C0-5FE0-7F72-A28717651ACC}"/>
              </a:ext>
            </a:extLst>
          </p:cNvPr>
          <p:cNvSpPr txBox="1"/>
          <p:nvPr/>
        </p:nvSpPr>
        <p:spPr>
          <a:xfrm>
            <a:off x="7611382" y="1301381"/>
            <a:ext cx="3543300"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sz="1800" dirty="0">
                <a:latin typeface="Arial" panose="020B0604020202020204" pitchFamily="34" charset="0"/>
                <a:cs typeface="Arial" panose="020B0604020202020204" pitchFamily="34" charset="0"/>
              </a:rPr>
              <a:t>Release of </a:t>
            </a:r>
            <a:r>
              <a:rPr lang="en-US" sz="1800" dirty="0" err="1">
                <a:latin typeface="Arial" panose="020B0604020202020204" pitchFamily="34" charset="0"/>
                <a:cs typeface="Arial" panose="020B0604020202020204" pitchFamily="34" charset="0"/>
              </a:rPr>
              <a:t>MedGemma</a:t>
            </a:r>
            <a:r>
              <a:rPr lang="en-US" sz="1800" dirty="0">
                <a:latin typeface="Arial" panose="020B0604020202020204" pitchFamily="34" charset="0"/>
                <a:cs typeface="Arial" panose="020B0604020202020204" pitchFamily="34" charset="0"/>
              </a:rPr>
              <a:t> 27B Multimodal (instruction-tuned), flagship model integrating image, text, and EHR data, completing the initial </a:t>
            </a:r>
            <a:r>
              <a:rPr lang="en-US" sz="1800" dirty="0" err="1">
                <a:latin typeface="Arial" panose="020B0604020202020204" pitchFamily="34" charset="0"/>
                <a:cs typeface="Arial" panose="020B0604020202020204" pitchFamily="34" charset="0"/>
              </a:rPr>
              <a:t>MedGemma</a:t>
            </a:r>
            <a:r>
              <a:rPr lang="en-US" sz="1800" dirty="0">
                <a:latin typeface="Arial" panose="020B0604020202020204" pitchFamily="34" charset="0"/>
                <a:cs typeface="Arial" panose="020B0604020202020204" pitchFamily="34" charset="0"/>
              </a:rPr>
              <a:t> lineup.</a:t>
            </a:r>
            <a:endParaRPr lang="en-CA" sz="1800" dirty="0">
              <a:latin typeface="Arial" panose="020B0604020202020204" pitchFamily="34" charset="0"/>
              <a:cs typeface="Arial" panose="020B0604020202020204" pitchFamily="34" charset="0"/>
            </a:endParaRPr>
          </a:p>
        </p:txBody>
      </p:sp>
      <p:sp>
        <p:nvSpPr>
          <p:cNvPr id="26" name="Arrow: Up 25">
            <a:extLst>
              <a:ext uri="{FF2B5EF4-FFF2-40B4-BE49-F238E27FC236}">
                <a16:creationId xmlns:a16="http://schemas.microsoft.com/office/drawing/2014/main" id="{C93A36B3-9AF8-4782-2D84-5C5BB18BC3D9}"/>
              </a:ext>
            </a:extLst>
          </p:cNvPr>
          <p:cNvSpPr/>
          <p:nvPr/>
        </p:nvSpPr>
        <p:spPr>
          <a:xfrm>
            <a:off x="9130016" y="2787587"/>
            <a:ext cx="338019" cy="75105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E9E557BF-9655-34F6-CF10-9FD40FB8253A}"/>
              </a:ext>
            </a:extLst>
          </p:cNvPr>
          <p:cNvSpPr txBox="1"/>
          <p:nvPr/>
        </p:nvSpPr>
        <p:spPr>
          <a:xfrm>
            <a:off x="280997" y="92075"/>
            <a:ext cx="10620475" cy="830997"/>
          </a:xfrm>
          <a:prstGeom prst="rect">
            <a:avLst/>
          </a:prstGeom>
          <a:noFill/>
        </p:spPr>
        <p:txBody>
          <a:bodyPr wrap="square" rtlCol="0">
            <a:spAutoFit/>
          </a:bodyPr>
          <a:lstStyle/>
          <a:p>
            <a:pPr>
              <a:buNone/>
            </a:pPr>
            <a:r>
              <a:rPr lang="en-CA" sz="3000" b="1" dirty="0" err="1">
                <a:latin typeface="Arial" panose="020B0604020202020204" pitchFamily="34" charset="0"/>
                <a:cs typeface="Arial" panose="020B0604020202020204" pitchFamily="34" charset="0"/>
              </a:rPr>
              <a:t>MedGemma</a:t>
            </a:r>
            <a:r>
              <a:rPr lang="en-CA" sz="3000" b="1" dirty="0">
                <a:latin typeface="Arial" panose="020B0604020202020204" pitchFamily="34" charset="0"/>
                <a:cs typeface="Arial" panose="020B0604020202020204" pitchFamily="34" charset="0"/>
              </a:rPr>
              <a:t>: A Multimodal Medical Foundation Model</a:t>
            </a:r>
          </a:p>
          <a:p>
            <a:endParaRPr lang="en-CA" dirty="0"/>
          </a:p>
        </p:txBody>
      </p:sp>
    </p:spTree>
    <p:extLst>
      <p:ext uri="{BB962C8B-B14F-4D97-AF65-F5344CB8AC3E}">
        <p14:creationId xmlns:p14="http://schemas.microsoft.com/office/powerpoint/2010/main" val="3638510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84C057F-BFB7-B3F6-6303-204064514C20}"/>
              </a:ext>
            </a:extLst>
          </p:cNvPr>
          <p:cNvGraphicFramePr/>
          <p:nvPr>
            <p:extLst>
              <p:ext uri="{D42A27DB-BD31-4B8C-83A1-F6EECF244321}">
                <p14:modId xmlns:p14="http://schemas.microsoft.com/office/powerpoint/2010/main" val="270888793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218" name="Picture 2" descr="Bones ">
            <a:extLst>
              <a:ext uri="{FF2B5EF4-FFF2-40B4-BE49-F238E27FC236}">
                <a16:creationId xmlns:a16="http://schemas.microsoft.com/office/drawing/2014/main" id="{8FE7F1B0-2113-BF0F-BD8C-DB5159E144FB}"/>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395217" y="719666"/>
            <a:ext cx="1141307" cy="108627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File ">
            <a:extLst>
              <a:ext uri="{FF2B5EF4-FFF2-40B4-BE49-F238E27FC236}">
                <a16:creationId xmlns:a16="http://schemas.microsoft.com/office/drawing/2014/main" id="{7A3ABD57-901C-EA64-1B8C-B376658C1513}"/>
              </a:ext>
            </a:extLst>
          </p:cNvPr>
          <p:cNvPicPr>
            <a:picLocks noChangeAspect="1" noChangeArrowheads="1"/>
          </p:cNvPicPr>
          <p:nvPr/>
        </p:nvPicPr>
        <p:blipFill>
          <a:blip r:embed="rId10">
            <a:grayscl/>
            <a:extLst>
              <a:ext uri="{28A0092B-C50C-407E-A947-70E740481C1C}">
                <a14:useLocalDpi xmlns:a14="http://schemas.microsoft.com/office/drawing/2010/main" val="0"/>
              </a:ext>
            </a:extLst>
          </a:blip>
          <a:srcRect/>
          <a:stretch>
            <a:fillRect/>
          </a:stretch>
        </p:blipFill>
        <p:spPr bwMode="auto">
          <a:xfrm>
            <a:off x="2317324" y="21336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Telemedicine ">
            <a:extLst>
              <a:ext uri="{FF2B5EF4-FFF2-40B4-BE49-F238E27FC236}">
                <a16:creationId xmlns:a16="http://schemas.microsoft.com/office/drawing/2014/main" id="{B87AC564-51C2-3F71-F637-0F53AD401F8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8518" y="3505201"/>
            <a:ext cx="1532348" cy="1354611"/>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Open folder with document ">
            <a:extLst>
              <a:ext uri="{FF2B5EF4-FFF2-40B4-BE49-F238E27FC236}">
                <a16:creationId xmlns:a16="http://schemas.microsoft.com/office/drawing/2014/main" id="{377890DF-01F0-E9ED-04E7-D57BE10B64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62952" y="4972893"/>
            <a:ext cx="1368209" cy="13292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3CE3D2-7549-0C4F-54EF-42EDA91155E5}"/>
              </a:ext>
            </a:extLst>
          </p:cNvPr>
          <p:cNvSpPr txBox="1"/>
          <p:nvPr/>
        </p:nvSpPr>
        <p:spPr>
          <a:xfrm>
            <a:off x="274320" y="167640"/>
            <a:ext cx="4671060" cy="754053"/>
          </a:xfrm>
          <a:prstGeom prst="rect">
            <a:avLst/>
          </a:prstGeom>
          <a:noFill/>
        </p:spPr>
        <p:txBody>
          <a:bodyPr wrap="square" rtlCol="0">
            <a:spAutoFit/>
          </a:bodyPr>
          <a:lstStyle/>
          <a:p>
            <a:r>
              <a:rPr lang="en-CA" sz="2500" b="1" dirty="0">
                <a:latin typeface="Arial" panose="020B0604020202020204" pitchFamily="34" charset="0"/>
                <a:cs typeface="Arial" panose="020B0604020202020204" pitchFamily="34" charset="0"/>
              </a:rPr>
              <a:t>Key Features of </a:t>
            </a:r>
            <a:r>
              <a:rPr lang="en-CA" sz="2500" b="1" dirty="0" err="1">
                <a:latin typeface="Arial" panose="020B0604020202020204" pitchFamily="34" charset="0"/>
                <a:cs typeface="Arial" panose="020B0604020202020204" pitchFamily="34" charset="0"/>
              </a:rPr>
              <a:t>MedGemma</a:t>
            </a:r>
            <a:endParaRPr lang="en-CA" sz="2500" b="1" dirty="0">
              <a:latin typeface="Arial" panose="020B0604020202020204" pitchFamily="34" charset="0"/>
              <a:cs typeface="Arial" panose="020B0604020202020204" pitchFamily="34" charset="0"/>
            </a:endParaRPr>
          </a:p>
          <a:p>
            <a:endParaRPr lang="en-CA" dirty="0"/>
          </a:p>
        </p:txBody>
      </p:sp>
      <p:sp>
        <p:nvSpPr>
          <p:cNvPr id="4" name="Slide Number Placeholder 3">
            <a:extLst>
              <a:ext uri="{FF2B5EF4-FFF2-40B4-BE49-F238E27FC236}">
                <a16:creationId xmlns:a16="http://schemas.microsoft.com/office/drawing/2014/main" id="{465CEEA1-518A-DB95-80EC-305A5D87EF00}"/>
              </a:ext>
            </a:extLst>
          </p:cNvPr>
          <p:cNvSpPr>
            <a:spLocks noGrp="1"/>
          </p:cNvSpPr>
          <p:nvPr>
            <p:ph type="sldNum" sz="quarter" idx="12"/>
          </p:nvPr>
        </p:nvSpPr>
        <p:spPr/>
        <p:txBody>
          <a:bodyPr>
            <a:normAutofit lnSpcReduction="10000"/>
          </a:bodyPr>
          <a:lstStyle/>
          <a:p>
            <a:fld id="{7173A67E-7BE0-4063-9D6C-5FC41475A3ED}" type="slidenum">
              <a:rPr lang="en-CA" smtClean="0"/>
              <a:t>12</a:t>
            </a:fld>
            <a:endParaRPr lang="en-CA"/>
          </a:p>
        </p:txBody>
      </p:sp>
    </p:spTree>
    <p:extLst>
      <p:ext uri="{BB962C8B-B14F-4D97-AF65-F5344CB8AC3E}">
        <p14:creationId xmlns:p14="http://schemas.microsoft.com/office/powerpoint/2010/main" val="379878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9CCD0-10DD-D190-8664-05EC66C4ED1B}"/>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B4225C2-D54D-2374-8FA9-8771380AEF53}"/>
              </a:ext>
            </a:extLst>
          </p:cNvPr>
          <p:cNvGraphicFramePr/>
          <p:nvPr>
            <p:extLst>
              <p:ext uri="{D42A27DB-BD31-4B8C-83A1-F6EECF244321}">
                <p14:modId xmlns:p14="http://schemas.microsoft.com/office/powerpoint/2010/main" val="358641949"/>
              </p:ext>
            </p:extLst>
          </p:nvPr>
        </p:nvGraphicFramePr>
        <p:xfrm>
          <a:off x="1162975" y="692458"/>
          <a:ext cx="10040644" cy="5779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MedGemma: a New Era of Open Medical AI from Google DeepMind - VProexpert">
            <a:extLst>
              <a:ext uri="{FF2B5EF4-FFF2-40B4-BE49-F238E27FC236}">
                <a16:creationId xmlns:a16="http://schemas.microsoft.com/office/drawing/2014/main" id="{91AB89FB-587B-B5A9-4048-5E8FC66BF99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3837" t="21820" b="5587"/>
          <a:stretch>
            <a:fillRect/>
          </a:stretch>
        </p:blipFill>
        <p:spPr bwMode="auto">
          <a:xfrm>
            <a:off x="5158305" y="2673246"/>
            <a:ext cx="2152455" cy="16679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4A06B6-BB1F-DE24-B76A-BCBE7531B067}"/>
              </a:ext>
            </a:extLst>
          </p:cNvPr>
          <p:cNvSpPr txBox="1"/>
          <p:nvPr/>
        </p:nvSpPr>
        <p:spPr>
          <a:xfrm>
            <a:off x="257452" y="168676"/>
            <a:ext cx="3915053" cy="1477328"/>
          </a:xfrm>
          <a:prstGeom prst="rect">
            <a:avLst/>
          </a:prstGeom>
          <a:noFill/>
        </p:spPr>
        <p:txBody>
          <a:bodyPr wrap="square" rtlCol="0">
            <a:spAutoFit/>
          </a:bodyPr>
          <a:lstStyle/>
          <a:p>
            <a:r>
              <a:rPr lang="en-CA" sz="3000" b="1" dirty="0" err="1">
                <a:latin typeface="Arial" panose="020B0604020202020204" pitchFamily="34" charset="0"/>
                <a:cs typeface="Arial" panose="020B0604020202020204" pitchFamily="34" charset="0"/>
              </a:rPr>
              <a:t>MedGemma</a:t>
            </a:r>
            <a:r>
              <a:rPr lang="en-CA" sz="3000" b="1" dirty="0">
                <a:latin typeface="Arial" panose="020B0604020202020204" pitchFamily="34" charset="0"/>
                <a:cs typeface="Arial" panose="020B0604020202020204" pitchFamily="34" charset="0"/>
              </a:rPr>
              <a:t> Real World Application</a:t>
            </a:r>
            <a:endParaRPr lang="en-CA" sz="3000" dirty="0">
              <a:latin typeface="Arial" panose="020B0604020202020204" pitchFamily="34" charset="0"/>
              <a:cs typeface="Arial" panose="020B0604020202020204" pitchFamily="34" charset="0"/>
            </a:endParaRPr>
          </a:p>
          <a:p>
            <a:endParaRPr lang="en-CA" sz="3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C8DBB60-6031-F7AB-9D9D-D34A6E3E7CD4}"/>
              </a:ext>
            </a:extLst>
          </p:cNvPr>
          <p:cNvSpPr>
            <a:spLocks noGrp="1"/>
          </p:cNvSpPr>
          <p:nvPr>
            <p:ph type="sldNum" sz="quarter" idx="12"/>
          </p:nvPr>
        </p:nvSpPr>
        <p:spPr/>
        <p:txBody>
          <a:bodyPr>
            <a:normAutofit lnSpcReduction="10000"/>
          </a:bodyPr>
          <a:lstStyle/>
          <a:p>
            <a:fld id="{7173A67E-7BE0-4063-9D6C-5FC41475A3ED}" type="slidenum">
              <a:rPr lang="en-CA" smtClean="0"/>
              <a:t>13</a:t>
            </a:fld>
            <a:endParaRPr lang="en-CA"/>
          </a:p>
        </p:txBody>
      </p:sp>
    </p:spTree>
    <p:extLst>
      <p:ext uri="{BB962C8B-B14F-4D97-AF65-F5344CB8AC3E}">
        <p14:creationId xmlns:p14="http://schemas.microsoft.com/office/powerpoint/2010/main" val="156423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Interpreting Chest X-rays: Illustrated With 100 Cases">
            <a:extLst>
              <a:ext uri="{FF2B5EF4-FFF2-40B4-BE49-F238E27FC236}">
                <a16:creationId xmlns:a16="http://schemas.microsoft.com/office/drawing/2014/main" id="{18CC7134-5E47-A6AD-297A-966E221A1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322" y="1041980"/>
            <a:ext cx="3719744" cy="55852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777253C-F274-5FB5-FA2F-4340B3F0883A}"/>
              </a:ext>
            </a:extLst>
          </p:cNvPr>
          <p:cNvSpPr txBox="1"/>
          <p:nvPr/>
        </p:nvSpPr>
        <p:spPr>
          <a:xfrm>
            <a:off x="5294050" y="1041980"/>
            <a:ext cx="5832628" cy="5078313"/>
          </a:xfrm>
          <a:prstGeom prst="rect">
            <a:avLst/>
          </a:prstGeom>
          <a:noFill/>
        </p:spPr>
        <p:txBody>
          <a:bodyPr wrap="square" rtlCol="0">
            <a:spAutoFit/>
          </a:bodyPr>
          <a:lstStyle/>
          <a:p>
            <a:br>
              <a:rPr lang="en-US" altLang="en-US" dirty="0">
                <a:latin typeface="Arial" panose="020B0604020202020204" pitchFamily="34" charset="0"/>
              </a:rPr>
            </a:br>
            <a:br>
              <a:rPr lang="en-US" altLang="en-US" dirty="0">
                <a:latin typeface="Arial" panose="020B0604020202020204" pitchFamily="34" charset="0"/>
              </a:rPr>
            </a:br>
            <a:br>
              <a:rPr lang="en-US" altLang="en-US" dirty="0">
                <a:latin typeface="Arial" panose="020B0604020202020204" pitchFamily="34" charset="0"/>
              </a:rPr>
            </a:br>
            <a:br>
              <a:rPr lang="en-US" altLang="en-US" dirty="0">
                <a:latin typeface="Arial" panose="020B0604020202020204" pitchFamily="34" charset="0"/>
              </a:rPr>
            </a:br>
            <a:endParaRPr lang="en-US" dirty="0">
              <a:latin typeface="Arial" panose="020B0604020202020204" pitchFamily="34" charset="0"/>
            </a:endParaRPr>
          </a:p>
          <a:p>
            <a:pPr marL="285750" indent="-285750">
              <a:buFont typeface="Wingdings" panose="05000000000000000000" pitchFamily="2" charset="2"/>
              <a:buChar char="Ø"/>
            </a:pPr>
            <a:r>
              <a:rPr lang="en-US" altLang="en-US" dirty="0">
                <a:latin typeface="Arial" panose="020B0604020202020204" pitchFamily="34" charset="0"/>
              </a:rPr>
              <a:t>Contains 100 clinical cases with questions, chest X-rays, and expert radiologic impressions.</a:t>
            </a:r>
            <a:br>
              <a:rPr lang="en-US" altLang="en-US" dirty="0">
                <a:latin typeface="Arial" panose="020B0604020202020204" pitchFamily="34" charset="0"/>
              </a:rPr>
            </a:br>
            <a:endParaRPr lang="en-US" altLang="en-US" dirty="0">
              <a:latin typeface="Arial" panose="020B0604020202020204" pitchFamily="34" charset="0"/>
            </a:endParaRPr>
          </a:p>
          <a:p>
            <a:pPr marL="285750" indent="-285750">
              <a:buFont typeface="Wingdings" panose="05000000000000000000" pitchFamily="2" charset="2"/>
              <a:buChar char="Ø"/>
            </a:pPr>
            <a:r>
              <a:rPr lang="en-US" altLang="en-US" dirty="0">
                <a:latin typeface="Arial" panose="020B0604020202020204" pitchFamily="34" charset="0"/>
              </a:rPr>
              <a:t>Use the book’s expert explanations as a reference to evaluate </a:t>
            </a:r>
            <a:r>
              <a:rPr lang="en-US" altLang="en-US" dirty="0" err="1">
                <a:latin typeface="Arial" panose="020B0604020202020204" pitchFamily="34" charset="0"/>
              </a:rPr>
              <a:t>MedGemma’s</a:t>
            </a:r>
            <a:r>
              <a:rPr lang="en-US" altLang="en-US" dirty="0">
                <a:latin typeface="Arial" panose="020B0604020202020204" pitchFamily="34" charset="0"/>
              </a:rPr>
              <a:t> X-ray outputs for accuracy and completeness.</a:t>
            </a:r>
            <a:br>
              <a:rPr lang="en-US" altLang="en-US" dirty="0">
                <a:latin typeface="Arial" panose="020B0604020202020204" pitchFamily="34" charset="0"/>
              </a:rPr>
            </a:br>
            <a:endParaRPr lang="en-US" altLang="en-US" dirty="0">
              <a:latin typeface="Arial" panose="020B0604020202020204" pitchFamily="34" charset="0"/>
            </a:endParaRPr>
          </a:p>
          <a:p>
            <a:pPr marL="285750" indent="-285750">
              <a:buFont typeface="Wingdings" panose="05000000000000000000" pitchFamily="2" charset="2"/>
              <a:buChar char="Ø"/>
            </a:pPr>
            <a:r>
              <a:rPr lang="en-US" altLang="en-US" dirty="0">
                <a:latin typeface="Arial" panose="020B0604020202020204" pitchFamily="34" charset="0"/>
              </a:rPr>
              <a:t>Compare model interpretations with the book’s findings to determine clinical correctness and areas for improvement.</a:t>
            </a:r>
          </a:p>
          <a:p>
            <a:pPr marL="285750" indent="-285750">
              <a:buFont typeface="Wingdings" panose="05000000000000000000" pitchFamily="2" charset="2"/>
              <a:buChar char="Ø"/>
            </a:pPr>
            <a:endParaRPr lang="en-US" altLang="en-US" dirty="0">
              <a:latin typeface="Arial" panose="020B0604020202020204" pitchFamily="34" charset="0"/>
            </a:endParaRPr>
          </a:p>
          <a:p>
            <a:pPr marL="285750" indent="-285750">
              <a:buFont typeface="Wingdings" panose="05000000000000000000" pitchFamily="2" charset="2"/>
              <a:buChar char="Ø"/>
            </a:pPr>
            <a:endParaRPr lang="en-US" dirty="0"/>
          </a:p>
          <a:p>
            <a:endParaRPr lang="en-CA" dirty="0"/>
          </a:p>
        </p:txBody>
      </p:sp>
      <p:sp>
        <p:nvSpPr>
          <p:cNvPr id="4" name="TextBox 3">
            <a:extLst>
              <a:ext uri="{FF2B5EF4-FFF2-40B4-BE49-F238E27FC236}">
                <a16:creationId xmlns:a16="http://schemas.microsoft.com/office/drawing/2014/main" id="{B2940244-F568-4FD6-D641-00AB48471E0F}"/>
              </a:ext>
            </a:extLst>
          </p:cNvPr>
          <p:cNvSpPr txBox="1"/>
          <p:nvPr/>
        </p:nvSpPr>
        <p:spPr>
          <a:xfrm>
            <a:off x="1189607" y="230819"/>
            <a:ext cx="10182687" cy="830997"/>
          </a:xfrm>
          <a:prstGeom prst="rect">
            <a:avLst/>
          </a:prstGeom>
          <a:noFill/>
        </p:spPr>
        <p:txBody>
          <a:bodyPr wrap="square" rtlCol="0">
            <a:spAutoFit/>
          </a:bodyPr>
          <a:lstStyle/>
          <a:p>
            <a:r>
              <a:rPr lang="en-CA" sz="3000" b="1" dirty="0">
                <a:latin typeface="Arial" panose="020B0604020202020204" pitchFamily="34" charset="0"/>
                <a:cs typeface="Arial" panose="020B0604020202020204" pitchFamily="34" charset="0"/>
              </a:rPr>
              <a:t>Reference Dataset for Evaluating </a:t>
            </a:r>
            <a:r>
              <a:rPr lang="en-CA" sz="3000" b="1" dirty="0" err="1">
                <a:latin typeface="Arial" panose="020B0604020202020204" pitchFamily="34" charset="0"/>
                <a:cs typeface="Arial" panose="020B0604020202020204" pitchFamily="34" charset="0"/>
              </a:rPr>
              <a:t>MedGemma</a:t>
            </a:r>
            <a:endParaRPr lang="en-CA" sz="3000" b="1" dirty="0">
              <a:latin typeface="Arial" panose="020B0604020202020204" pitchFamily="34" charset="0"/>
              <a:cs typeface="Arial" panose="020B0604020202020204" pitchFamily="34" charset="0"/>
            </a:endParaRPr>
          </a:p>
          <a:p>
            <a:endParaRPr lang="en-CA" dirty="0"/>
          </a:p>
        </p:txBody>
      </p:sp>
      <p:sp>
        <p:nvSpPr>
          <p:cNvPr id="6" name="Slide Number Placeholder 5">
            <a:extLst>
              <a:ext uri="{FF2B5EF4-FFF2-40B4-BE49-F238E27FC236}">
                <a16:creationId xmlns:a16="http://schemas.microsoft.com/office/drawing/2014/main" id="{9442E7B3-FD42-52EB-2BA6-741D1E69F7F8}"/>
              </a:ext>
            </a:extLst>
          </p:cNvPr>
          <p:cNvSpPr>
            <a:spLocks noGrp="1"/>
          </p:cNvSpPr>
          <p:nvPr>
            <p:ph type="sldNum" sz="quarter" idx="12"/>
          </p:nvPr>
        </p:nvSpPr>
        <p:spPr/>
        <p:txBody>
          <a:bodyPr>
            <a:normAutofit lnSpcReduction="10000"/>
          </a:bodyPr>
          <a:lstStyle/>
          <a:p>
            <a:fld id="{7173A67E-7BE0-4063-9D6C-5FC41475A3ED}" type="slidenum">
              <a:rPr lang="en-CA" smtClean="0"/>
              <a:t>14</a:t>
            </a:fld>
            <a:endParaRPr lang="en-CA"/>
          </a:p>
        </p:txBody>
      </p:sp>
    </p:spTree>
    <p:extLst>
      <p:ext uri="{BB962C8B-B14F-4D97-AF65-F5344CB8AC3E}">
        <p14:creationId xmlns:p14="http://schemas.microsoft.com/office/powerpoint/2010/main" val="1635288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person smiling for a picture&#10;&#10;AI-generated content may be incorrect.">
            <a:extLst>
              <a:ext uri="{FF2B5EF4-FFF2-40B4-BE49-F238E27FC236}">
                <a16:creationId xmlns:a16="http://schemas.microsoft.com/office/drawing/2014/main" id="{5B08C64D-16A2-0DD1-0CD6-3DEB3CCB715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9576" t="5947" b="14237"/>
          <a:stretch>
            <a:fillRect/>
          </a:stretch>
        </p:blipFill>
        <p:spPr>
          <a:xfrm>
            <a:off x="224590" y="1061817"/>
            <a:ext cx="1852293" cy="2044240"/>
          </a:xfrm>
        </p:spPr>
      </p:pic>
      <p:sp>
        <p:nvSpPr>
          <p:cNvPr id="2" name="Slide Number Placeholder 1">
            <a:extLst>
              <a:ext uri="{FF2B5EF4-FFF2-40B4-BE49-F238E27FC236}">
                <a16:creationId xmlns:a16="http://schemas.microsoft.com/office/drawing/2014/main" id="{B82536F5-59FB-AE58-242D-809A5AC213E6}"/>
              </a:ext>
            </a:extLst>
          </p:cNvPr>
          <p:cNvSpPr>
            <a:spLocks noGrp="1"/>
          </p:cNvSpPr>
          <p:nvPr>
            <p:ph type="sldNum" sz="quarter" idx="12"/>
          </p:nvPr>
        </p:nvSpPr>
        <p:spPr/>
        <p:txBody>
          <a:bodyPr>
            <a:normAutofit lnSpcReduction="10000"/>
          </a:bodyPr>
          <a:lstStyle/>
          <a:p>
            <a:fld id="{7173A67E-7BE0-4063-9D6C-5FC41475A3ED}" type="slidenum">
              <a:rPr lang="en-CA" smtClean="0"/>
              <a:t>15</a:t>
            </a:fld>
            <a:endParaRPr lang="en-CA"/>
          </a:p>
        </p:txBody>
      </p:sp>
      <p:sp>
        <p:nvSpPr>
          <p:cNvPr id="5" name="TextBox 4">
            <a:extLst>
              <a:ext uri="{FF2B5EF4-FFF2-40B4-BE49-F238E27FC236}">
                <a16:creationId xmlns:a16="http://schemas.microsoft.com/office/drawing/2014/main" id="{E90C5F84-FFCA-35A3-6232-37976712320E}"/>
              </a:ext>
            </a:extLst>
          </p:cNvPr>
          <p:cNvSpPr txBox="1"/>
          <p:nvPr/>
        </p:nvSpPr>
        <p:spPr>
          <a:xfrm>
            <a:off x="1189607" y="230819"/>
            <a:ext cx="10182687" cy="830997"/>
          </a:xfrm>
          <a:prstGeom prst="rect">
            <a:avLst/>
          </a:prstGeom>
          <a:noFill/>
        </p:spPr>
        <p:txBody>
          <a:bodyPr wrap="square" rtlCol="0">
            <a:spAutoFit/>
          </a:bodyPr>
          <a:lstStyle/>
          <a:p>
            <a:r>
              <a:rPr lang="en-CA" sz="3000" b="1" dirty="0">
                <a:latin typeface="Arial" panose="020B0604020202020204" pitchFamily="34" charset="0"/>
                <a:cs typeface="Arial" panose="020B0604020202020204" pitchFamily="34" charset="0"/>
              </a:rPr>
              <a:t>Anastasia Oikonomou, MD PhD FRCPC</a:t>
            </a:r>
          </a:p>
          <a:p>
            <a:endParaRPr lang="en-CA" dirty="0"/>
          </a:p>
        </p:txBody>
      </p:sp>
      <p:sp>
        <p:nvSpPr>
          <p:cNvPr id="8" name="TextBox 7">
            <a:extLst>
              <a:ext uri="{FF2B5EF4-FFF2-40B4-BE49-F238E27FC236}">
                <a16:creationId xmlns:a16="http://schemas.microsoft.com/office/drawing/2014/main" id="{6729A1F8-9173-51BC-F65D-04D4B5E75840}"/>
              </a:ext>
            </a:extLst>
          </p:cNvPr>
          <p:cNvSpPr txBox="1"/>
          <p:nvPr/>
        </p:nvSpPr>
        <p:spPr>
          <a:xfrm>
            <a:off x="2567280" y="931579"/>
            <a:ext cx="7427339" cy="2308324"/>
          </a:xfrm>
          <a:prstGeom prst="rect">
            <a:avLst/>
          </a:prstGeom>
          <a:noFill/>
        </p:spPr>
        <p:txBody>
          <a:bodyPr wrap="square" rtlCol="0">
            <a:spAutoFit/>
          </a:bodyPr>
          <a:lstStyle/>
          <a:p>
            <a:pPr marL="342900" indent="-342900">
              <a:buFont typeface="Wingdings" pitchFamily="2" charset="2"/>
              <a:buChar char="§"/>
            </a:pPr>
            <a:r>
              <a:rPr lang="en-US" dirty="0">
                <a:latin typeface="Arial" panose="020B0604020202020204" pitchFamily="34" charset="0"/>
                <a:cs typeface="Arial" panose="020B0604020202020204" pitchFamily="34" charset="0"/>
              </a:rPr>
              <a:t>Professor of Radiology, University of Toronto</a:t>
            </a:r>
          </a:p>
          <a:p>
            <a:pPr marL="342900" indent="-342900">
              <a:buFont typeface="Wingdings" pitchFamily="2" charset="2"/>
              <a:buChar char="§"/>
            </a:pPr>
            <a:endParaRPr lang="en-US" dirty="0">
              <a:latin typeface="Arial" panose="020B0604020202020204" pitchFamily="34" charset="0"/>
              <a:cs typeface="Arial" panose="020B0604020202020204" pitchFamily="34" charset="0"/>
            </a:endParaRPr>
          </a:p>
          <a:p>
            <a:pPr marL="342900" indent="-342900">
              <a:buFont typeface="Wingdings" pitchFamily="2" charset="2"/>
              <a:buChar char="§"/>
            </a:pPr>
            <a:r>
              <a:rPr lang="en-US" dirty="0">
                <a:latin typeface="Arial" panose="020B0604020202020204" pitchFamily="34" charset="0"/>
                <a:cs typeface="Arial" panose="020B0604020202020204" pitchFamily="34" charset="0"/>
              </a:rPr>
              <a:t>Staff Cardiothoracic Radiologist and Cardiothoracic Imaging Division Head, Department of Medical Imaging, Sunnybrook Health Sciences Centre</a:t>
            </a:r>
          </a:p>
          <a:p>
            <a:pPr marL="342900" indent="-342900">
              <a:buFont typeface="Wingdings" pitchFamily="2" charset="2"/>
              <a:buChar char="§"/>
            </a:pPr>
            <a:endParaRPr lang="en-US" dirty="0">
              <a:latin typeface="Arial" panose="020B0604020202020204" pitchFamily="34" charset="0"/>
              <a:cs typeface="Arial" panose="020B0604020202020204" pitchFamily="34" charset="0"/>
            </a:endParaRPr>
          </a:p>
          <a:p>
            <a:pPr marL="342900" indent="-342900">
              <a:buFont typeface="Wingdings" pitchFamily="2" charset="2"/>
              <a:buChar char="§"/>
            </a:pPr>
            <a:r>
              <a:rPr lang="en-US" dirty="0">
                <a:latin typeface="Arial" panose="020B0604020202020204" pitchFamily="34" charset="0"/>
                <a:cs typeface="Arial" panose="020B0604020202020204" pitchFamily="34" charset="0"/>
              </a:rPr>
              <a:t>Affiliated Scientist, Sunnybrook Research Institute</a:t>
            </a:r>
          </a:p>
          <a:p>
            <a:endParaRPr lang="en-CA" dirty="0"/>
          </a:p>
        </p:txBody>
      </p:sp>
      <p:sp>
        <p:nvSpPr>
          <p:cNvPr id="9" name="TextBox 8">
            <a:extLst>
              <a:ext uri="{FF2B5EF4-FFF2-40B4-BE49-F238E27FC236}">
                <a16:creationId xmlns:a16="http://schemas.microsoft.com/office/drawing/2014/main" id="{9C3B7C9A-B4D2-54B6-A1BF-9559AFB755E9}"/>
              </a:ext>
            </a:extLst>
          </p:cNvPr>
          <p:cNvSpPr txBox="1"/>
          <p:nvPr/>
        </p:nvSpPr>
        <p:spPr>
          <a:xfrm>
            <a:off x="224590" y="3648432"/>
            <a:ext cx="11068250" cy="3416320"/>
          </a:xfrm>
          <a:prstGeom prst="rect">
            <a:avLst/>
          </a:prstGeom>
          <a:noFill/>
        </p:spPr>
        <p:txBody>
          <a:bodyPr wrap="square" rtlCol="0">
            <a:spAutoFit/>
          </a:bodyPr>
          <a:lstStyle/>
          <a:p>
            <a:pPr marL="342900" indent="-342900">
              <a:buFont typeface="Wingdings" pitchFamily="2" charset="2"/>
              <a:buChar char="§"/>
            </a:pPr>
            <a:r>
              <a:rPr lang="en-US" dirty="0">
                <a:latin typeface="Arial" panose="020B0604020202020204" pitchFamily="34" charset="0"/>
                <a:cs typeface="Arial" panose="020B0604020202020204" pitchFamily="34" charset="0"/>
              </a:rPr>
              <a:t>Medical School, Radiology residency &amp; PhD - </a:t>
            </a:r>
            <a:r>
              <a:rPr lang="en-US" dirty="0" err="1">
                <a:latin typeface="Arial" panose="020B0604020202020204" pitchFamily="34" charset="0"/>
                <a:cs typeface="Arial" panose="020B0604020202020204" pitchFamily="34" charset="0"/>
              </a:rPr>
              <a:t>Aristotel</a:t>
            </a:r>
            <a:r>
              <a:rPr lang="en-US" dirty="0">
                <a:latin typeface="Arial" panose="020B0604020202020204" pitchFamily="34" charset="0"/>
                <a:cs typeface="Arial" panose="020B0604020202020204" pitchFamily="34" charset="0"/>
              </a:rPr>
              <a:t> University of Thessaloniki, Greece</a:t>
            </a:r>
          </a:p>
          <a:p>
            <a:pPr marL="342900" indent="-342900">
              <a:buFont typeface="Wingdings" pitchFamily="2" charset="2"/>
              <a:buChar char="§"/>
            </a:pPr>
            <a:endParaRPr lang="en-US" dirty="0">
              <a:latin typeface="Arial" panose="020B0604020202020204" pitchFamily="34" charset="0"/>
              <a:cs typeface="Arial" panose="020B0604020202020204" pitchFamily="34" charset="0"/>
            </a:endParaRPr>
          </a:p>
          <a:p>
            <a:pPr marL="342900" indent="-342900">
              <a:buFont typeface="Wingdings" pitchFamily="2" charset="2"/>
              <a:buChar char="§"/>
            </a:pPr>
            <a:r>
              <a:rPr lang="en-US" dirty="0">
                <a:latin typeface="Arial" panose="020B0604020202020204" pitchFamily="34" charset="0"/>
                <a:cs typeface="Arial" panose="020B0604020202020204" pitchFamily="34" charset="0"/>
              </a:rPr>
              <a:t>Clinical &amp; Research fellowships </a:t>
            </a:r>
          </a:p>
          <a:p>
            <a:pPr marL="800100" lvl="1" indent="-342900">
              <a:buFont typeface="Wingdings" pitchFamily="2" charset="2"/>
              <a:buChar char="Ø"/>
            </a:pPr>
            <a:r>
              <a:rPr lang="en-US" dirty="0">
                <a:latin typeface="Arial" panose="020B0604020202020204" pitchFamily="34" charset="0"/>
                <a:cs typeface="Arial" panose="020B0604020202020204" pitchFamily="34" charset="0"/>
              </a:rPr>
              <a:t>Royal Brompton Hospital London, UK, University of Ottawa, CA and University of British Columbia, CA</a:t>
            </a:r>
          </a:p>
          <a:p>
            <a:pPr marL="800100" lvl="1" indent="-342900">
              <a:buFont typeface="Wingdings" pitchFamily="2" charset="2"/>
              <a:buChar char="Ø"/>
            </a:pPr>
            <a:endParaRPr lang="en-US" dirty="0">
              <a:latin typeface="Arial" panose="020B0604020202020204" pitchFamily="34" charset="0"/>
              <a:cs typeface="Arial" panose="020B0604020202020204" pitchFamily="34" charset="0"/>
            </a:endParaRPr>
          </a:p>
          <a:p>
            <a:pPr marL="342900" indent="-342900">
              <a:buFont typeface="Wingdings" pitchFamily="2" charset="2"/>
              <a:buChar char="§"/>
            </a:pPr>
            <a:r>
              <a:rPr lang="en-US" dirty="0">
                <a:latin typeface="Arial" panose="020B0604020202020204" pitchFamily="34" charset="0"/>
                <a:cs typeface="Arial" panose="020B0604020202020204" pitchFamily="34" charset="0"/>
              </a:rPr>
              <a:t>Research interests</a:t>
            </a:r>
          </a:p>
          <a:p>
            <a:pPr marL="800100" lvl="1" indent="-342900">
              <a:buFont typeface="Wingdings" pitchFamily="2" charset="2"/>
              <a:buChar char="Ø"/>
            </a:pPr>
            <a:r>
              <a:rPr lang="en-US" dirty="0">
                <a:latin typeface="Arial" panose="020B0604020202020204" pitchFamily="34" charset="0"/>
                <a:cs typeface="Arial" panose="020B0604020202020204" pitchFamily="34" charset="0"/>
              </a:rPr>
              <a:t>classification and prognostication of lung malignancies using artificial intelligence with CT, PETCT and lung MRI, interstitial lung diseases and lung infections</a:t>
            </a:r>
            <a:endParaRPr lang="en-CA"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endParaRPr lang="en-CA" dirty="0"/>
          </a:p>
        </p:txBody>
      </p:sp>
    </p:spTree>
    <p:extLst>
      <p:ext uri="{BB962C8B-B14F-4D97-AF65-F5344CB8AC3E}">
        <p14:creationId xmlns:p14="http://schemas.microsoft.com/office/powerpoint/2010/main" val="4079064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66885D-9C51-1792-938D-69F7D38443B0}"/>
              </a:ext>
            </a:extLst>
          </p:cNvPr>
          <p:cNvSpPr txBox="1"/>
          <p:nvPr/>
        </p:nvSpPr>
        <p:spPr>
          <a:xfrm>
            <a:off x="964707" y="2334827"/>
            <a:ext cx="8001739"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Let’s Move to the Coding Part!</a:t>
            </a:r>
            <a:endParaRPr lang="en-CA" sz="4000" b="1" dirty="0">
              <a:latin typeface="Arial" panose="020B0604020202020204" pitchFamily="34" charset="0"/>
              <a:cs typeface="Arial" panose="020B0604020202020204" pitchFamily="34" charset="0"/>
            </a:endParaRPr>
          </a:p>
        </p:txBody>
      </p:sp>
      <p:sp>
        <p:nvSpPr>
          <p:cNvPr id="3" name="Arrow: Right 2">
            <a:extLst>
              <a:ext uri="{FF2B5EF4-FFF2-40B4-BE49-F238E27FC236}">
                <a16:creationId xmlns:a16="http://schemas.microsoft.com/office/drawing/2014/main" id="{6AF91D9F-EDDF-3968-1894-ABB994DF77F4}"/>
              </a:ext>
            </a:extLst>
          </p:cNvPr>
          <p:cNvSpPr/>
          <p:nvPr/>
        </p:nvSpPr>
        <p:spPr>
          <a:xfrm>
            <a:off x="3326168" y="3815288"/>
            <a:ext cx="2681056" cy="1384916"/>
          </a:xfrm>
          <a:prstGeom prst="rightArrow">
            <a:avLst/>
          </a:prstGeom>
          <a:solidFill>
            <a:srgbClr val="00B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dirty="0"/>
          </a:p>
        </p:txBody>
      </p:sp>
      <p:pic>
        <p:nvPicPr>
          <p:cNvPr id="15368" name="Picture 8" descr="Coding ">
            <a:extLst>
              <a:ext uri="{FF2B5EF4-FFF2-40B4-BE49-F238E27FC236}">
                <a16:creationId xmlns:a16="http://schemas.microsoft.com/office/drawing/2014/main" id="{10C219BF-3E1A-1C6F-81E1-788FECBB6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4403" y="1738227"/>
            <a:ext cx="1996843" cy="199684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060E125-66E4-4F12-EF71-BEF8BFA44192}"/>
              </a:ext>
            </a:extLst>
          </p:cNvPr>
          <p:cNvSpPr>
            <a:spLocks noGrp="1"/>
          </p:cNvSpPr>
          <p:nvPr>
            <p:ph type="sldNum" sz="quarter" idx="12"/>
          </p:nvPr>
        </p:nvSpPr>
        <p:spPr/>
        <p:txBody>
          <a:bodyPr>
            <a:normAutofit lnSpcReduction="10000"/>
          </a:bodyPr>
          <a:lstStyle/>
          <a:p>
            <a:fld id="{7173A67E-7BE0-4063-9D6C-5FC41475A3ED}" type="slidenum">
              <a:rPr lang="en-CA" smtClean="0"/>
              <a:t>16</a:t>
            </a:fld>
            <a:endParaRPr lang="en-CA"/>
          </a:p>
        </p:txBody>
      </p:sp>
    </p:spTree>
    <p:extLst>
      <p:ext uri="{BB962C8B-B14F-4D97-AF65-F5344CB8AC3E}">
        <p14:creationId xmlns:p14="http://schemas.microsoft.com/office/powerpoint/2010/main" val="150193943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1438</TotalTime>
  <Words>2373</Words>
  <Application>Microsoft Macintosh PowerPoint</Application>
  <PresentationFormat>Widescreen</PresentationFormat>
  <Paragraphs>227</Paragraphs>
  <Slides>16</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Century Gothic</vt:lpstr>
      <vt:lpstr>Century Schoolbook</vt:lpstr>
      <vt:lpstr>Times New Roman</vt:lpstr>
      <vt:lpstr>Wingdings</vt:lpstr>
      <vt:lpstr>Wingdings 2</vt:lpstr>
      <vt:lpstr>View</vt:lpstr>
      <vt:lpstr>The New Stethoscope: LLMs, Multimodal Models, and the Future of Clinical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j</dc:creator>
  <cp:lastModifiedBy>Anastasia Oikonomou</cp:lastModifiedBy>
  <cp:revision>8</cp:revision>
  <dcterms:created xsi:type="dcterms:W3CDTF">2025-11-06T02:37:09Z</dcterms:created>
  <dcterms:modified xsi:type="dcterms:W3CDTF">2025-11-07T16:20:11Z</dcterms:modified>
</cp:coreProperties>
</file>